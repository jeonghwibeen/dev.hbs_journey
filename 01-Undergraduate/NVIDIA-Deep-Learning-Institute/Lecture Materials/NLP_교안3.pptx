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</p:sldIdLst>
  <p:sldSz cx="18288000" cy="10287000"/>
  <p:notesSz cx="7010400" cy="9296400"/>
  <p:embeddedFontLst>
    <p:embeddedFont>
      <p:font typeface="Malgun Gothic" panose="020B0503020000020004" pitchFamily="34" charset="-127"/>
      <p:regular r:id="rId116"/>
      <p:bold r:id="rId117"/>
    </p:embeddedFont>
    <p:embeddedFont>
      <p:font typeface="Calibri" panose="020F0502020204030204" pitchFamily="34" charset="0"/>
      <p:regular r:id="rId118"/>
      <p:bold r:id="rId119"/>
      <p:italic r:id="rId120"/>
      <p:boldItalic r:id="rId121"/>
    </p:embeddedFont>
    <p:embeddedFont>
      <p:font typeface="Helvetica Neue" panose="020B0604020202020204" charset="0"/>
      <p:regular r:id="rId122"/>
      <p:bold r:id="rId123"/>
      <p:italic r:id="rId124"/>
      <p:boldItalic r:id="rId125"/>
    </p:embeddedFont>
    <p:embeddedFont>
      <p:font typeface="Roboto" panose="02000000000000000000" pitchFamily="2" charset="0"/>
      <p:regular r:id="rId126"/>
      <p:bold r:id="rId127"/>
      <p:italic r:id="rId128"/>
      <p:boldItalic r:id="rId129"/>
    </p:embeddedFont>
    <p:embeddedFont>
      <p:font typeface="Trebuchet MS" panose="020B0603020202020204" pitchFamily="34" charset="0"/>
      <p:regular r:id="rId130"/>
      <p:bold r:id="rId131"/>
      <p:italic r:id="rId132"/>
      <p:boldItalic r:id="rId1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93">
          <p15:clr>
            <a:srgbClr val="A4A3A4"/>
          </p15:clr>
        </p15:guide>
        <p15:guide id="2" orient="horz" pos="5083">
          <p15:clr>
            <a:srgbClr val="A4A3A4"/>
          </p15:clr>
        </p15:guide>
        <p15:guide id="3" orient="horz" pos="5315">
          <p15:clr>
            <a:srgbClr val="A4A3A4"/>
          </p15:clr>
        </p15:guide>
        <p15:guide id="4" pos="9092">
          <p15:clr>
            <a:srgbClr val="A4A3A4"/>
          </p15:clr>
        </p15:guide>
        <p15:guide id="5" orient="horz" pos="1625">
          <p15:clr>
            <a:srgbClr val="A4A3A4"/>
          </p15:clr>
        </p15:guide>
        <p15:guide id="6" pos="576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4" roundtripDataSignature="AMtx7miQt0s5r3AMwqc+HyUrzPynYRze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23F515-CC6A-4A18-8405-56566E1998A5}">
  <a:tblStyle styleId="{0A23F515-CC6A-4A18-8405-56566E1998A5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DEA"/>
          </a:solidFill>
        </a:fill>
      </a:tcStyle>
    </a:wholeTbl>
    <a:band1H>
      <a:tcTxStyle/>
      <a:tcStyle>
        <a:tcBdr/>
        <a:fill>
          <a:solidFill>
            <a:srgbClr val="CAD8D2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8D2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90E7882-7590-479E-8E46-6FDCD1065B2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86" autoAdjust="0"/>
  </p:normalViewPr>
  <p:slideViewPr>
    <p:cSldViewPr snapToGrid="0">
      <p:cViewPr varScale="1">
        <p:scale>
          <a:sx n="37" d="100"/>
          <a:sy n="37" d="100"/>
        </p:scale>
        <p:origin x="174" y="66"/>
      </p:cViewPr>
      <p:guideLst>
        <p:guide orient="horz" pos="2193"/>
        <p:guide orient="horz" pos="5083"/>
        <p:guide orient="horz" pos="5315"/>
        <p:guide pos="9092"/>
        <p:guide orient="horz" pos="1625"/>
        <p:guide pos="576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2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font" Target="fonts/font18.fntdata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8.fntdata"/><Relationship Id="rId128" Type="http://schemas.openxmlformats.org/officeDocument/2006/relationships/font" Target="fonts/font13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font" Target="fonts/font3.fntdata"/><Relationship Id="rId134" Type="http://customschemas.google.com/relationships/presentationmetadata" Target="metadata"/><Relationship Id="rId13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font" Target="fonts/font1.fntdata"/><Relationship Id="rId124" Type="http://schemas.openxmlformats.org/officeDocument/2006/relationships/font" Target="fonts/font9.fntdata"/><Relationship Id="rId129" Type="http://schemas.openxmlformats.org/officeDocument/2006/relationships/font" Target="fonts/font14.fntdata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font" Target="fonts/font4.fntdata"/><Relationship Id="rId12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7.fntdata"/><Relationship Id="rId130" Type="http://schemas.openxmlformats.org/officeDocument/2006/relationships/font" Target="fonts/font15.fntdata"/><Relationship Id="rId13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5.fntdata"/><Relationship Id="rId125" Type="http://schemas.openxmlformats.org/officeDocument/2006/relationships/font" Target="fonts/font10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131" Type="http://schemas.openxmlformats.org/officeDocument/2006/relationships/font" Target="fonts/font16.fntdata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a Sheahen" userId="e07e8a2f-5d44-46a1-8660-50c065428d62" providerId="ADAL" clId="{0D0176D0-BB74-4C59-8DB5-73C6A2F2F25A}"/>
    <pc:docChg chg="custSel modSld">
      <pc:chgData name="Dana Sheahen" userId="e07e8a2f-5d44-46a1-8660-50c065428d62" providerId="ADAL" clId="{0D0176D0-BB74-4C59-8DB5-73C6A2F2F25A}" dt="2021-07-09T17:06:20.622" v="49" actId="207"/>
      <pc:docMkLst>
        <pc:docMk/>
      </pc:docMkLst>
      <pc:sldChg chg="modSp mod">
        <pc:chgData name="Dana Sheahen" userId="e07e8a2f-5d44-46a1-8660-50c065428d62" providerId="ADAL" clId="{0D0176D0-BB74-4C59-8DB5-73C6A2F2F25A}" dt="2021-07-09T16:32:29.628" v="0" actId="313"/>
        <pc:sldMkLst>
          <pc:docMk/>
          <pc:sldMk cId="0" sldId="360"/>
        </pc:sldMkLst>
        <pc:spChg chg="mod">
          <ac:chgData name="Dana Sheahen" userId="e07e8a2f-5d44-46a1-8660-50c065428d62" providerId="ADAL" clId="{0D0176D0-BB74-4C59-8DB5-73C6A2F2F25A}" dt="2021-07-09T16:32:29.628" v="0" actId="313"/>
          <ac:spMkLst>
            <pc:docMk/>
            <pc:sldMk cId="0" sldId="360"/>
            <ac:spMk id="1834" creationId="{00000000-0000-0000-0000-000000000000}"/>
          </ac:spMkLst>
        </pc:spChg>
      </pc:sldChg>
      <pc:sldChg chg="modSp mod modNotesTx">
        <pc:chgData name="Dana Sheahen" userId="e07e8a2f-5d44-46a1-8660-50c065428d62" providerId="ADAL" clId="{0D0176D0-BB74-4C59-8DB5-73C6A2F2F25A}" dt="2021-07-09T16:32:39.518" v="4" actId="313"/>
        <pc:sldMkLst>
          <pc:docMk/>
          <pc:sldMk cId="0" sldId="361"/>
        </pc:sldMkLst>
        <pc:spChg chg="mod">
          <ac:chgData name="Dana Sheahen" userId="e07e8a2f-5d44-46a1-8660-50c065428d62" providerId="ADAL" clId="{0D0176D0-BB74-4C59-8DB5-73C6A2F2F25A}" dt="2021-07-09T16:32:31.371" v="1" actId="313"/>
          <ac:spMkLst>
            <pc:docMk/>
            <pc:sldMk cId="0" sldId="361"/>
            <ac:spMk id="1840" creationId="{00000000-0000-0000-0000-000000000000}"/>
          </ac:spMkLst>
        </pc:spChg>
        <pc:spChg chg="mod">
          <ac:chgData name="Dana Sheahen" userId="e07e8a2f-5d44-46a1-8660-50c065428d62" providerId="ADAL" clId="{0D0176D0-BB74-4C59-8DB5-73C6A2F2F25A}" dt="2021-07-09T16:32:33.505" v="2" actId="313"/>
          <ac:spMkLst>
            <pc:docMk/>
            <pc:sldMk cId="0" sldId="361"/>
            <ac:spMk id="1899" creationId="{00000000-0000-0000-0000-000000000000}"/>
          </ac:spMkLst>
        </pc:spChg>
        <pc:spChg chg="mod">
          <ac:chgData name="Dana Sheahen" userId="e07e8a2f-5d44-46a1-8660-50c065428d62" providerId="ADAL" clId="{0D0176D0-BB74-4C59-8DB5-73C6A2F2F25A}" dt="2021-07-09T16:32:36.285" v="3" actId="313"/>
          <ac:spMkLst>
            <pc:docMk/>
            <pc:sldMk cId="0" sldId="361"/>
            <ac:spMk id="1900" creationId="{00000000-0000-0000-0000-000000000000}"/>
          </ac:spMkLst>
        </pc:spChg>
      </pc:sldChg>
      <pc:sldChg chg="addSp delSp modSp mod">
        <pc:chgData name="Dana Sheahen" userId="e07e8a2f-5d44-46a1-8660-50c065428d62" providerId="ADAL" clId="{0D0176D0-BB74-4C59-8DB5-73C6A2F2F25A}" dt="2021-07-09T17:06:20.622" v="49" actId="207"/>
        <pc:sldMkLst>
          <pc:docMk/>
          <pc:sldMk cId="0" sldId="362"/>
        </pc:sldMkLst>
        <pc:spChg chg="mod">
          <ac:chgData name="Dana Sheahen" userId="e07e8a2f-5d44-46a1-8660-50c065428d62" providerId="ADAL" clId="{0D0176D0-BB74-4C59-8DB5-73C6A2F2F25A}" dt="2021-07-09T17:06:20.622" v="49" actId="207"/>
          <ac:spMkLst>
            <pc:docMk/>
            <pc:sldMk cId="0" sldId="362"/>
            <ac:spMk id="9" creationId="{D7EE358C-199D-4117-8823-C92C2ECD3164}"/>
          </ac:spMkLst>
        </pc:spChg>
        <pc:grpChg chg="add mod">
          <ac:chgData name="Dana Sheahen" userId="e07e8a2f-5d44-46a1-8660-50c065428d62" providerId="ADAL" clId="{0D0176D0-BB74-4C59-8DB5-73C6A2F2F25A}" dt="2021-07-09T17:05:49.543" v="46"/>
          <ac:grpSpMkLst>
            <pc:docMk/>
            <pc:sldMk cId="0" sldId="362"/>
            <ac:grpSpMk id="7" creationId="{067ED75C-36F2-4CBC-A38A-54BF40A644ED}"/>
          </ac:grpSpMkLst>
        </pc:grpChg>
        <pc:picChg chg="mod">
          <ac:chgData name="Dana Sheahen" userId="e07e8a2f-5d44-46a1-8660-50c065428d62" providerId="ADAL" clId="{0D0176D0-BB74-4C59-8DB5-73C6A2F2F25A}" dt="2021-07-09T17:05:49.543" v="46"/>
          <ac:picMkLst>
            <pc:docMk/>
            <pc:sldMk cId="0" sldId="362"/>
            <ac:picMk id="8" creationId="{CC641A8C-F80F-48C0-AAC2-B17BE8ADC6D9}"/>
          </ac:picMkLst>
        </pc:picChg>
        <pc:picChg chg="del">
          <ac:chgData name="Dana Sheahen" userId="e07e8a2f-5d44-46a1-8660-50c065428d62" providerId="ADAL" clId="{0D0176D0-BB74-4C59-8DB5-73C6A2F2F25A}" dt="2021-07-09T17:05:49.061" v="45" actId="478"/>
          <ac:picMkLst>
            <pc:docMk/>
            <pc:sldMk cId="0" sldId="362"/>
            <ac:picMk id="1910" creationId="{00000000-0000-0000-0000-000000000000}"/>
          </ac:picMkLst>
        </pc:picChg>
      </pc:sldChg>
      <pc:sldChg chg="addSp delSp modSp mod">
        <pc:chgData name="Dana Sheahen" userId="e07e8a2f-5d44-46a1-8660-50c065428d62" providerId="ADAL" clId="{0D0176D0-BB74-4C59-8DB5-73C6A2F2F25A}" dt="2021-07-09T17:02:44.163" v="44" actId="14100"/>
        <pc:sldMkLst>
          <pc:docMk/>
          <pc:sldMk cId="0" sldId="363"/>
        </pc:sldMkLst>
        <pc:spChg chg="mod">
          <ac:chgData name="Dana Sheahen" userId="e07e8a2f-5d44-46a1-8660-50c065428d62" providerId="ADAL" clId="{0D0176D0-BB74-4C59-8DB5-73C6A2F2F25A}" dt="2021-07-09T17:02:44.163" v="44" actId="14100"/>
          <ac:spMkLst>
            <pc:docMk/>
            <pc:sldMk cId="0" sldId="363"/>
            <ac:spMk id="10" creationId="{DD02EA0F-A066-444D-AC48-020AE087C23B}"/>
          </ac:spMkLst>
        </pc:spChg>
        <pc:grpChg chg="add mod">
          <ac:chgData name="Dana Sheahen" userId="e07e8a2f-5d44-46a1-8660-50c065428d62" providerId="ADAL" clId="{0D0176D0-BB74-4C59-8DB5-73C6A2F2F25A}" dt="2021-07-09T17:02:37.301" v="43"/>
          <ac:grpSpMkLst>
            <pc:docMk/>
            <pc:sldMk cId="0" sldId="363"/>
            <ac:grpSpMk id="8" creationId="{A8208C55-E5EA-4686-9BBB-AB0D6C430EFA}"/>
          </ac:grpSpMkLst>
        </pc:grpChg>
        <pc:picChg chg="mod">
          <ac:chgData name="Dana Sheahen" userId="e07e8a2f-5d44-46a1-8660-50c065428d62" providerId="ADAL" clId="{0D0176D0-BB74-4C59-8DB5-73C6A2F2F25A}" dt="2021-07-09T17:02:37.301" v="43"/>
          <ac:picMkLst>
            <pc:docMk/>
            <pc:sldMk cId="0" sldId="363"/>
            <ac:picMk id="9" creationId="{D46CFE00-3E93-45AF-B405-BFA468CB4F5F}"/>
          </ac:picMkLst>
        </pc:picChg>
        <pc:picChg chg="del">
          <ac:chgData name="Dana Sheahen" userId="e07e8a2f-5d44-46a1-8660-50c065428d62" providerId="ADAL" clId="{0D0176D0-BB74-4C59-8DB5-73C6A2F2F25A}" dt="2021-07-09T17:02:36.297" v="42" actId="478"/>
          <ac:picMkLst>
            <pc:docMk/>
            <pc:sldMk cId="0" sldId="363"/>
            <ac:picMk id="1920" creationId="{00000000-0000-0000-0000-000000000000}"/>
          </ac:picMkLst>
        </pc:picChg>
      </pc:sldChg>
      <pc:sldChg chg="modSp mod modNotesTx">
        <pc:chgData name="Dana Sheahen" userId="e07e8a2f-5d44-46a1-8660-50c065428d62" providerId="ADAL" clId="{0D0176D0-BB74-4C59-8DB5-73C6A2F2F25A}" dt="2021-07-09T16:33:02.516" v="11" actId="313"/>
        <pc:sldMkLst>
          <pc:docMk/>
          <pc:sldMk cId="0" sldId="364"/>
        </pc:sldMkLst>
        <pc:spChg chg="mod">
          <ac:chgData name="Dana Sheahen" userId="e07e8a2f-5d44-46a1-8660-50c065428d62" providerId="ADAL" clId="{0D0176D0-BB74-4C59-8DB5-73C6A2F2F25A}" dt="2021-07-09T16:32:52.145" v="5" actId="313"/>
          <ac:spMkLst>
            <pc:docMk/>
            <pc:sldMk cId="0" sldId="364"/>
            <ac:spMk id="1934" creationId="{00000000-0000-0000-0000-000000000000}"/>
          </ac:spMkLst>
        </pc:spChg>
        <pc:spChg chg="mod">
          <ac:chgData name="Dana Sheahen" userId="e07e8a2f-5d44-46a1-8660-50c065428d62" providerId="ADAL" clId="{0D0176D0-BB74-4C59-8DB5-73C6A2F2F25A}" dt="2021-07-09T16:32:56.083" v="6" actId="313"/>
          <ac:spMkLst>
            <pc:docMk/>
            <pc:sldMk cId="0" sldId="364"/>
            <ac:spMk id="1944" creationId="{00000000-0000-0000-0000-000000000000}"/>
          </ac:spMkLst>
        </pc:spChg>
        <pc:spChg chg="mod">
          <ac:chgData name="Dana Sheahen" userId="e07e8a2f-5d44-46a1-8660-50c065428d62" providerId="ADAL" clId="{0D0176D0-BB74-4C59-8DB5-73C6A2F2F25A}" dt="2021-07-09T16:32:57.647" v="7" actId="313"/>
          <ac:spMkLst>
            <pc:docMk/>
            <pc:sldMk cId="0" sldId="364"/>
            <ac:spMk id="1947" creationId="{00000000-0000-0000-0000-000000000000}"/>
          </ac:spMkLst>
        </pc:spChg>
        <pc:spChg chg="mod">
          <ac:chgData name="Dana Sheahen" userId="e07e8a2f-5d44-46a1-8660-50c065428d62" providerId="ADAL" clId="{0D0176D0-BB74-4C59-8DB5-73C6A2F2F25A}" dt="2021-07-09T16:32:58.817" v="8" actId="313"/>
          <ac:spMkLst>
            <pc:docMk/>
            <pc:sldMk cId="0" sldId="364"/>
            <ac:spMk id="2000" creationId="{00000000-0000-0000-0000-000000000000}"/>
          </ac:spMkLst>
        </pc:spChg>
      </pc:sldChg>
      <pc:sldChg chg="modSp mod modNotesTx">
        <pc:chgData name="Dana Sheahen" userId="e07e8a2f-5d44-46a1-8660-50c065428d62" providerId="ADAL" clId="{0D0176D0-BB74-4C59-8DB5-73C6A2F2F25A}" dt="2021-07-09T16:34:02.238" v="30" actId="313"/>
        <pc:sldMkLst>
          <pc:docMk/>
          <pc:sldMk cId="0" sldId="365"/>
        </pc:sldMkLst>
        <pc:spChg chg="mod">
          <ac:chgData name="Dana Sheahen" userId="e07e8a2f-5d44-46a1-8660-50c065428d62" providerId="ADAL" clId="{0D0176D0-BB74-4C59-8DB5-73C6A2F2F25A}" dt="2021-07-09T16:33:07.674" v="13" actId="313"/>
          <ac:spMkLst>
            <pc:docMk/>
            <pc:sldMk cId="0" sldId="365"/>
            <ac:spMk id="2008" creationId="{00000000-0000-0000-0000-000000000000}"/>
          </ac:spMkLst>
        </pc:spChg>
        <pc:spChg chg="mod">
          <ac:chgData name="Dana Sheahen" userId="e07e8a2f-5d44-46a1-8660-50c065428d62" providerId="ADAL" clId="{0D0176D0-BB74-4C59-8DB5-73C6A2F2F25A}" dt="2021-07-09T16:33:10.465" v="14" actId="313"/>
          <ac:spMkLst>
            <pc:docMk/>
            <pc:sldMk cId="0" sldId="365"/>
            <ac:spMk id="2009" creationId="{00000000-0000-0000-0000-000000000000}"/>
          </ac:spMkLst>
        </pc:spChg>
        <pc:spChg chg="mod">
          <ac:chgData name="Dana Sheahen" userId="e07e8a2f-5d44-46a1-8660-50c065428d62" providerId="ADAL" clId="{0D0176D0-BB74-4C59-8DB5-73C6A2F2F25A}" dt="2021-07-09T16:33:13.627" v="15" actId="313"/>
          <ac:spMkLst>
            <pc:docMk/>
            <pc:sldMk cId="0" sldId="365"/>
            <ac:spMk id="2013" creationId="{00000000-0000-0000-0000-000000000000}"/>
          </ac:spMkLst>
        </pc:spChg>
        <pc:spChg chg="mod">
          <ac:chgData name="Dana Sheahen" userId="e07e8a2f-5d44-46a1-8660-50c065428d62" providerId="ADAL" clId="{0D0176D0-BB74-4C59-8DB5-73C6A2F2F25A}" dt="2021-07-09T16:33:14.956" v="16" actId="313"/>
          <ac:spMkLst>
            <pc:docMk/>
            <pc:sldMk cId="0" sldId="365"/>
            <ac:spMk id="2044" creationId="{00000000-0000-0000-0000-000000000000}"/>
          </ac:spMkLst>
        </pc:spChg>
      </pc:sldChg>
      <pc:sldChg chg="addSp delSp modSp mod modNotesTx">
        <pc:chgData name="Dana Sheahen" userId="e07e8a2f-5d44-46a1-8660-50c065428d62" providerId="ADAL" clId="{0D0176D0-BB74-4C59-8DB5-73C6A2F2F25A}" dt="2021-07-09T16:59:16.836" v="41" actId="1076"/>
        <pc:sldMkLst>
          <pc:docMk/>
          <pc:sldMk cId="0" sldId="366"/>
        </pc:sldMkLst>
        <pc:spChg chg="mod">
          <ac:chgData name="Dana Sheahen" userId="e07e8a2f-5d44-46a1-8660-50c065428d62" providerId="ADAL" clId="{0D0176D0-BB74-4C59-8DB5-73C6A2F2F25A}" dt="2021-07-09T16:59:04.372" v="38"/>
          <ac:spMkLst>
            <pc:docMk/>
            <pc:sldMk cId="0" sldId="366"/>
            <ac:spMk id="16" creationId="{0A0296D6-AA01-4D4A-A47F-E01F1E45551A}"/>
          </ac:spMkLst>
        </pc:spChg>
        <pc:spChg chg="mod">
          <ac:chgData name="Dana Sheahen" userId="e07e8a2f-5d44-46a1-8660-50c065428d62" providerId="ADAL" clId="{0D0176D0-BB74-4C59-8DB5-73C6A2F2F25A}" dt="2021-07-09T16:34:06.480" v="31" actId="313"/>
          <ac:spMkLst>
            <pc:docMk/>
            <pc:sldMk cId="0" sldId="366"/>
            <ac:spMk id="2056" creationId="{00000000-0000-0000-0000-000000000000}"/>
          </ac:spMkLst>
        </pc:spChg>
        <pc:grpChg chg="add mod">
          <ac:chgData name="Dana Sheahen" userId="e07e8a2f-5d44-46a1-8660-50c065428d62" providerId="ADAL" clId="{0D0176D0-BB74-4C59-8DB5-73C6A2F2F25A}" dt="2021-07-09T16:59:16.836" v="41" actId="1076"/>
          <ac:grpSpMkLst>
            <pc:docMk/>
            <pc:sldMk cId="0" sldId="366"/>
            <ac:grpSpMk id="14" creationId="{422DD3A0-E12F-4561-A05A-743ED8A9289D}"/>
          </ac:grpSpMkLst>
        </pc:grpChg>
        <pc:picChg chg="mod">
          <ac:chgData name="Dana Sheahen" userId="e07e8a2f-5d44-46a1-8660-50c065428d62" providerId="ADAL" clId="{0D0176D0-BB74-4C59-8DB5-73C6A2F2F25A}" dt="2021-07-09T16:59:04.372" v="38"/>
          <ac:picMkLst>
            <pc:docMk/>
            <pc:sldMk cId="0" sldId="366"/>
            <ac:picMk id="15" creationId="{F64AD201-43EF-4DD1-99E3-406658A4BF8A}"/>
          </ac:picMkLst>
        </pc:picChg>
        <pc:picChg chg="del">
          <ac:chgData name="Dana Sheahen" userId="e07e8a2f-5d44-46a1-8660-50c065428d62" providerId="ADAL" clId="{0D0176D0-BB74-4C59-8DB5-73C6A2F2F25A}" dt="2021-07-09T16:59:03.256" v="37" actId="478"/>
          <ac:picMkLst>
            <pc:docMk/>
            <pc:sldMk cId="0" sldId="366"/>
            <ac:picMk id="2052" creationId="{00000000-0000-0000-0000-000000000000}"/>
          </ac:picMkLst>
        </pc:picChg>
      </pc:sldChg>
    </pc:docChg>
  </pc:docChgLst>
  <pc:docChgLst>
    <pc:chgData name="Dana Sheahen" userId="e07e8a2f-5d44-46a1-8660-50c065428d62" providerId="ADAL" clId="{141AFAA8-B363-4099-9A5C-A8A794FF911D}"/>
    <pc:docChg chg="undo custSel modSld">
      <pc:chgData name="Dana Sheahen" userId="e07e8a2f-5d44-46a1-8660-50c065428d62" providerId="ADAL" clId="{141AFAA8-B363-4099-9A5C-A8A794FF911D}" dt="2021-08-19T18:37:06.080" v="13"/>
      <pc:docMkLst>
        <pc:docMk/>
      </pc:docMkLst>
      <pc:sldChg chg="modSp mod">
        <pc:chgData name="Dana Sheahen" userId="e07e8a2f-5d44-46a1-8660-50c065428d62" providerId="ADAL" clId="{141AFAA8-B363-4099-9A5C-A8A794FF911D}" dt="2021-08-19T18:37:06.080" v="13"/>
        <pc:sldMkLst>
          <pc:docMk/>
          <pc:sldMk cId="0" sldId="362"/>
        </pc:sldMkLst>
        <pc:spChg chg="mod">
          <ac:chgData name="Dana Sheahen" userId="e07e8a2f-5d44-46a1-8660-50c065428d62" providerId="ADAL" clId="{141AFAA8-B363-4099-9A5C-A8A794FF911D}" dt="2021-08-19T18:37:06.080" v="13"/>
          <ac:spMkLst>
            <pc:docMk/>
            <pc:sldMk cId="0" sldId="362"/>
            <ac:spMk id="190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MxNet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6B900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C48-4D56-8532-B27356D864AA}"/>
              </c:ext>
            </c:extLst>
          </c:dPt>
          <c:dPt>
            <c:idx val="1"/>
            <c:invertIfNegative val="0"/>
            <c:bubble3D val="0"/>
            <c:spPr>
              <a:solidFill>
                <a:srgbClr val="76B900">
                  <a:alpha val="50196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48B-4C38-9D1A-FC9EF0E46C15}"/>
              </c:ext>
            </c:extLst>
          </c:dPt>
          <c:dPt>
            <c:idx val="2"/>
            <c:invertIfNegative val="0"/>
            <c:bubble3D val="0"/>
            <c:spPr>
              <a:solidFill>
                <a:srgbClr val="76B900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48B-4C38-9D1A-FC9EF0E46C15}"/>
              </c:ext>
            </c:extLst>
          </c:dPt>
          <c:dPt>
            <c:idx val="3"/>
            <c:invertIfNegative val="0"/>
            <c:bubble3D val="0"/>
            <c:spPr>
              <a:solidFill>
                <a:srgbClr val="76B9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C48-4D56-8532-B27356D864AA}"/>
              </c:ext>
            </c:extLst>
          </c:dPt>
          <c:cat>
            <c:numRef>
              <c:f>Sheet1!$B$1:$E$1</c:f>
              <c:numCache>
                <c:formatCode>General</c:formatCode>
                <c:ptCount val="4"/>
                <c:pt idx="0">
                  <c:v>17.079999999999998</c:v>
                </c:pt>
                <c:pt idx="1">
                  <c:v>18.02</c:v>
                </c:pt>
                <c:pt idx="2">
                  <c:v>18.12</c:v>
                </c:pt>
                <c:pt idx="3">
                  <c:v>19.12</c:v>
                </c:pt>
              </c:numCache>
            </c:numRef>
          </c:cat>
          <c:val>
            <c:numRef>
              <c:f>Sheet1!$B$2:$E$2</c:f>
              <c:numCache>
                <c:formatCode>General</c:formatCode>
                <c:ptCount val="4"/>
                <c:pt idx="0">
                  <c:v>5243</c:v>
                </c:pt>
                <c:pt idx="1">
                  <c:v>6284</c:v>
                </c:pt>
                <c:pt idx="2">
                  <c:v>10185</c:v>
                </c:pt>
                <c:pt idx="3" formatCode="#,##0.00">
                  <c:v>10787.44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48B-4C38-9D1A-FC9EF0E46C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9433600"/>
        <c:axId val="809429664"/>
      </c:barChart>
      <c:catAx>
        <c:axId val="809433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429664"/>
        <c:crosses val="autoZero"/>
        <c:auto val="1"/>
        <c:lblAlgn val="ctr"/>
        <c:lblOffset val="100"/>
        <c:noMultiLvlLbl val="0"/>
      </c:catAx>
      <c:valAx>
        <c:axId val="809429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이미지/초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433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PyTorch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76B9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6B900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5C4-421D-AB81-404866D4578F}"/>
              </c:ext>
            </c:extLst>
          </c:dPt>
          <c:dPt>
            <c:idx val="1"/>
            <c:invertIfNegative val="0"/>
            <c:bubble3D val="0"/>
            <c:spPr>
              <a:solidFill>
                <a:srgbClr val="76B900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5C4-421D-AB81-404866D4578F}"/>
              </c:ext>
            </c:extLst>
          </c:dPt>
          <c:dPt>
            <c:idx val="2"/>
            <c:invertIfNegative val="0"/>
            <c:bubble3D val="0"/>
            <c:spPr>
              <a:solidFill>
                <a:srgbClr val="76B900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5C4-421D-AB81-404866D4578F}"/>
              </c:ext>
            </c:extLst>
          </c:dPt>
          <c:cat>
            <c:numRef>
              <c:f>Sheet1!$B$1:$E$1</c:f>
              <c:numCache>
                <c:formatCode>General</c:formatCode>
                <c:ptCount val="4"/>
                <c:pt idx="0">
                  <c:v>17.079999999999998</c:v>
                </c:pt>
                <c:pt idx="1">
                  <c:v>18.02</c:v>
                </c:pt>
                <c:pt idx="2">
                  <c:v>18.12</c:v>
                </c:pt>
                <c:pt idx="3">
                  <c:v>19.12</c:v>
                </c:pt>
              </c:numCache>
            </c:numRef>
          </c:cat>
          <c:val>
            <c:numRef>
              <c:f>Sheet1!$B$2:$E$2</c:f>
              <c:numCache>
                <c:formatCode>General</c:formatCode>
                <c:ptCount val="4"/>
                <c:pt idx="0">
                  <c:v>4240</c:v>
                </c:pt>
                <c:pt idx="1">
                  <c:v>6263</c:v>
                </c:pt>
                <c:pt idx="2">
                  <c:v>6675</c:v>
                </c:pt>
                <c:pt idx="3" formatCode="#,##0.00">
                  <c:v>6881.12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C4-421D-AB81-404866D457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9433600"/>
        <c:axId val="809429664"/>
      </c:barChart>
      <c:catAx>
        <c:axId val="809433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429664"/>
        <c:crosses val="autoZero"/>
        <c:auto val="1"/>
        <c:lblAlgn val="ctr"/>
        <c:lblOffset val="100"/>
        <c:noMultiLvlLbl val="0"/>
      </c:catAx>
      <c:valAx>
        <c:axId val="809429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토큰/초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433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TensorFlow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76B9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6B900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01E-43A6-A218-707F975A7C03}"/>
              </c:ext>
            </c:extLst>
          </c:dPt>
          <c:dPt>
            <c:idx val="1"/>
            <c:invertIfNegative val="0"/>
            <c:bubble3D val="0"/>
            <c:spPr>
              <a:solidFill>
                <a:srgbClr val="76B900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1E-43A6-A218-707F975A7C03}"/>
              </c:ext>
            </c:extLst>
          </c:dPt>
          <c:dPt>
            <c:idx val="2"/>
            <c:invertIfNegative val="0"/>
            <c:bubble3D val="0"/>
            <c:spPr>
              <a:solidFill>
                <a:srgbClr val="76B900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01E-43A6-A218-707F975A7C03}"/>
              </c:ext>
            </c:extLst>
          </c:dPt>
          <c:cat>
            <c:numRef>
              <c:f>Sheet1!$B$1:$E$1</c:f>
              <c:numCache>
                <c:formatCode>General</c:formatCode>
                <c:ptCount val="4"/>
                <c:pt idx="0">
                  <c:v>17.079999999999998</c:v>
                </c:pt>
                <c:pt idx="1">
                  <c:v>18.02</c:v>
                </c:pt>
                <c:pt idx="2">
                  <c:v>18.12</c:v>
                </c:pt>
                <c:pt idx="3">
                  <c:v>19.12</c:v>
                </c:pt>
              </c:numCache>
            </c:numRef>
          </c:cat>
          <c:val>
            <c:numRef>
              <c:f>Sheet1!$B$2:$E$2</c:f>
              <c:numCache>
                <c:formatCode>General</c:formatCode>
                <c:ptCount val="4"/>
                <c:pt idx="0">
                  <c:v>3304</c:v>
                </c:pt>
                <c:pt idx="1">
                  <c:v>5003</c:v>
                </c:pt>
                <c:pt idx="2">
                  <c:v>6720</c:v>
                </c:pt>
                <c:pt idx="3" formatCode="#,##0.00">
                  <c:v>8116.45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1E-43A6-A218-707F975A7C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9433600"/>
        <c:axId val="809429664"/>
      </c:barChart>
      <c:catAx>
        <c:axId val="809433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429664"/>
        <c:crosses val="autoZero"/>
        <c:auto val="1"/>
        <c:lblAlgn val="ctr"/>
        <c:lblOffset val="100"/>
        <c:noMultiLvlLbl val="0"/>
      </c:catAx>
      <c:valAx>
        <c:axId val="809429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토큰/초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433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dt" idx="10"/>
          </p:nvPr>
        </p:nvSpPr>
        <p:spPr>
          <a:xfrm>
            <a:off x="330565" y="883158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>
            <a:lvl1pPr marL="457200" marR="0" lvl="0" indent="-228600" algn="l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833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833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833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833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spcBef>
                <a:spcPts val="550"/>
              </a:spcBef>
              <a:spcAft>
                <a:spcPts val="0"/>
              </a:spcAft>
              <a:buSzPts val="1400"/>
              <a:buNone/>
              <a:defRPr sz="1833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" name="Google Shape;7;n"/>
          <p:cNvGrpSpPr/>
          <p:nvPr/>
        </p:nvGrpSpPr>
        <p:grpSpPr>
          <a:xfrm>
            <a:off x="5528649" y="308894"/>
            <a:ext cx="1083012" cy="200064"/>
            <a:chOff x="8775700" y="3552825"/>
            <a:chExt cx="5156200" cy="952500"/>
          </a:xfrm>
        </p:grpSpPr>
        <p:sp>
          <p:nvSpPr>
            <p:cNvPr id="8" name="Google Shape;8;n"/>
            <p:cNvSpPr/>
            <p:nvPr/>
          </p:nvSpPr>
          <p:spPr>
            <a:xfrm>
              <a:off x="13817600" y="4265613"/>
              <a:ext cx="114300" cy="111125"/>
            </a:xfrm>
            <a:custGeom>
              <a:avLst/>
              <a:gdLst/>
              <a:ahLst/>
              <a:cxnLst/>
              <a:rect l="l" t="t" r="r" b="b"/>
              <a:pathLst>
                <a:path w="144" h="139" extrusionOk="0">
                  <a:moveTo>
                    <a:pt x="59" y="45"/>
                  </a:moveTo>
                  <a:lnTo>
                    <a:pt x="59" y="63"/>
                  </a:lnTo>
                  <a:lnTo>
                    <a:pt x="75" y="63"/>
                  </a:lnTo>
                  <a:lnTo>
                    <a:pt x="79" y="63"/>
                  </a:lnTo>
                  <a:lnTo>
                    <a:pt x="83" y="63"/>
                  </a:lnTo>
                  <a:lnTo>
                    <a:pt x="85" y="61"/>
                  </a:lnTo>
                  <a:lnTo>
                    <a:pt x="87" y="57"/>
                  </a:lnTo>
                  <a:lnTo>
                    <a:pt x="87" y="53"/>
                  </a:lnTo>
                  <a:lnTo>
                    <a:pt x="85" y="49"/>
                  </a:lnTo>
                  <a:lnTo>
                    <a:pt x="83" y="47"/>
                  </a:lnTo>
                  <a:lnTo>
                    <a:pt x="79" y="45"/>
                  </a:lnTo>
                  <a:lnTo>
                    <a:pt x="75" y="45"/>
                  </a:lnTo>
                  <a:lnTo>
                    <a:pt x="71" y="45"/>
                  </a:lnTo>
                  <a:lnTo>
                    <a:pt x="59" y="45"/>
                  </a:lnTo>
                  <a:close/>
                  <a:moveTo>
                    <a:pt x="44" y="33"/>
                  </a:moveTo>
                  <a:lnTo>
                    <a:pt x="73" y="33"/>
                  </a:lnTo>
                  <a:lnTo>
                    <a:pt x="89" y="35"/>
                  </a:lnTo>
                  <a:lnTo>
                    <a:pt x="101" y="41"/>
                  </a:lnTo>
                  <a:lnTo>
                    <a:pt x="105" y="55"/>
                  </a:lnTo>
                  <a:lnTo>
                    <a:pt x="103" y="61"/>
                  </a:lnTo>
                  <a:lnTo>
                    <a:pt x="101" y="67"/>
                  </a:lnTo>
                  <a:lnTo>
                    <a:pt x="99" y="68"/>
                  </a:lnTo>
                  <a:lnTo>
                    <a:pt x="95" y="72"/>
                  </a:lnTo>
                  <a:lnTo>
                    <a:pt x="91" y="74"/>
                  </a:lnTo>
                  <a:lnTo>
                    <a:pt x="85" y="74"/>
                  </a:lnTo>
                  <a:lnTo>
                    <a:pt x="105" y="106"/>
                  </a:lnTo>
                  <a:lnTo>
                    <a:pt x="85" y="106"/>
                  </a:lnTo>
                  <a:lnTo>
                    <a:pt x="67" y="76"/>
                  </a:lnTo>
                  <a:lnTo>
                    <a:pt x="59" y="76"/>
                  </a:lnTo>
                  <a:lnTo>
                    <a:pt x="59" y="106"/>
                  </a:lnTo>
                  <a:lnTo>
                    <a:pt x="44" y="106"/>
                  </a:lnTo>
                  <a:lnTo>
                    <a:pt x="44" y="33"/>
                  </a:lnTo>
                  <a:close/>
                  <a:moveTo>
                    <a:pt x="71" y="17"/>
                  </a:moveTo>
                  <a:lnTo>
                    <a:pt x="51" y="21"/>
                  </a:lnTo>
                  <a:lnTo>
                    <a:pt x="36" y="31"/>
                  </a:lnTo>
                  <a:lnTo>
                    <a:pt x="24" y="49"/>
                  </a:lnTo>
                  <a:lnTo>
                    <a:pt x="20" y="70"/>
                  </a:lnTo>
                  <a:lnTo>
                    <a:pt x="24" y="92"/>
                  </a:lnTo>
                  <a:lnTo>
                    <a:pt x="36" y="108"/>
                  </a:lnTo>
                  <a:lnTo>
                    <a:pt x="51" y="120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91" y="120"/>
                  </a:lnTo>
                  <a:lnTo>
                    <a:pt x="109" y="108"/>
                  </a:lnTo>
                  <a:lnTo>
                    <a:pt x="118" y="92"/>
                  </a:lnTo>
                  <a:lnTo>
                    <a:pt x="122" y="70"/>
                  </a:lnTo>
                  <a:lnTo>
                    <a:pt x="118" y="49"/>
                  </a:lnTo>
                  <a:lnTo>
                    <a:pt x="109" y="31"/>
                  </a:lnTo>
                  <a:lnTo>
                    <a:pt x="91" y="21"/>
                  </a:lnTo>
                  <a:lnTo>
                    <a:pt x="71" y="17"/>
                  </a:lnTo>
                  <a:close/>
                  <a:moveTo>
                    <a:pt x="71" y="0"/>
                  </a:moveTo>
                  <a:lnTo>
                    <a:pt x="95" y="3"/>
                  </a:lnTo>
                  <a:lnTo>
                    <a:pt x="114" y="11"/>
                  </a:lnTo>
                  <a:lnTo>
                    <a:pt x="130" y="27"/>
                  </a:lnTo>
                  <a:lnTo>
                    <a:pt x="140" y="45"/>
                  </a:lnTo>
                  <a:lnTo>
                    <a:pt x="144" y="70"/>
                  </a:lnTo>
                  <a:lnTo>
                    <a:pt x="140" y="94"/>
                  </a:lnTo>
                  <a:lnTo>
                    <a:pt x="130" y="114"/>
                  </a:lnTo>
                  <a:lnTo>
                    <a:pt x="114" y="128"/>
                  </a:lnTo>
                  <a:lnTo>
                    <a:pt x="95" y="135"/>
                  </a:lnTo>
                  <a:lnTo>
                    <a:pt x="71" y="139"/>
                  </a:lnTo>
                  <a:lnTo>
                    <a:pt x="50" y="135"/>
                  </a:lnTo>
                  <a:lnTo>
                    <a:pt x="30" y="128"/>
                  </a:lnTo>
                  <a:lnTo>
                    <a:pt x="14" y="114"/>
                  </a:lnTo>
                  <a:lnTo>
                    <a:pt x="4" y="94"/>
                  </a:lnTo>
                  <a:lnTo>
                    <a:pt x="0" y="70"/>
                  </a:lnTo>
                  <a:lnTo>
                    <a:pt x="4" y="45"/>
                  </a:lnTo>
                  <a:lnTo>
                    <a:pt x="14" y="27"/>
                  </a:lnTo>
                  <a:lnTo>
                    <a:pt x="30" y="11"/>
                  </a:lnTo>
                  <a:lnTo>
                    <a:pt x="50" y="3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n"/>
            <p:cNvSpPr/>
            <p:nvPr/>
          </p:nvSpPr>
          <p:spPr>
            <a:xfrm>
              <a:off x="10447338" y="3732213"/>
              <a:ext cx="3333750" cy="625475"/>
            </a:xfrm>
            <a:custGeom>
              <a:avLst/>
              <a:gdLst/>
              <a:ahLst/>
              <a:cxnLst/>
              <a:rect l="l" t="t" r="r" b="b"/>
              <a:pathLst>
                <a:path w="4200" h="788" extrusionOk="0">
                  <a:moveTo>
                    <a:pt x="2325" y="171"/>
                  </a:moveTo>
                  <a:lnTo>
                    <a:pt x="2325" y="618"/>
                  </a:lnTo>
                  <a:lnTo>
                    <a:pt x="2420" y="618"/>
                  </a:lnTo>
                  <a:lnTo>
                    <a:pt x="2465" y="616"/>
                  </a:lnTo>
                  <a:lnTo>
                    <a:pt x="2505" y="608"/>
                  </a:lnTo>
                  <a:lnTo>
                    <a:pt x="2540" y="597"/>
                  </a:lnTo>
                  <a:lnTo>
                    <a:pt x="2572" y="579"/>
                  </a:lnTo>
                  <a:lnTo>
                    <a:pt x="2599" y="555"/>
                  </a:lnTo>
                  <a:lnTo>
                    <a:pt x="2619" y="526"/>
                  </a:lnTo>
                  <a:lnTo>
                    <a:pt x="2635" y="488"/>
                  </a:lnTo>
                  <a:lnTo>
                    <a:pt x="2644" y="445"/>
                  </a:lnTo>
                  <a:lnTo>
                    <a:pt x="2648" y="396"/>
                  </a:lnTo>
                  <a:lnTo>
                    <a:pt x="2644" y="344"/>
                  </a:lnTo>
                  <a:lnTo>
                    <a:pt x="2635" y="301"/>
                  </a:lnTo>
                  <a:lnTo>
                    <a:pt x="2619" y="266"/>
                  </a:lnTo>
                  <a:lnTo>
                    <a:pt x="2599" y="236"/>
                  </a:lnTo>
                  <a:lnTo>
                    <a:pt x="2572" y="212"/>
                  </a:lnTo>
                  <a:lnTo>
                    <a:pt x="2540" y="193"/>
                  </a:lnTo>
                  <a:lnTo>
                    <a:pt x="2505" y="181"/>
                  </a:lnTo>
                  <a:lnTo>
                    <a:pt x="2465" y="173"/>
                  </a:lnTo>
                  <a:lnTo>
                    <a:pt x="2420" y="171"/>
                  </a:lnTo>
                  <a:lnTo>
                    <a:pt x="2325" y="171"/>
                  </a:lnTo>
                  <a:close/>
                  <a:moveTo>
                    <a:pt x="3735" y="143"/>
                  </a:moveTo>
                  <a:lnTo>
                    <a:pt x="3597" y="512"/>
                  </a:lnTo>
                  <a:lnTo>
                    <a:pt x="3869" y="512"/>
                  </a:lnTo>
                  <a:lnTo>
                    <a:pt x="3735" y="143"/>
                  </a:lnTo>
                  <a:close/>
                  <a:moveTo>
                    <a:pt x="3887" y="0"/>
                  </a:moveTo>
                  <a:lnTo>
                    <a:pt x="4200" y="786"/>
                  </a:lnTo>
                  <a:lnTo>
                    <a:pt x="3962" y="786"/>
                  </a:lnTo>
                  <a:lnTo>
                    <a:pt x="3916" y="648"/>
                  </a:lnTo>
                  <a:lnTo>
                    <a:pt x="3548" y="648"/>
                  </a:lnTo>
                  <a:lnTo>
                    <a:pt x="3501" y="786"/>
                  </a:lnTo>
                  <a:lnTo>
                    <a:pt x="3280" y="786"/>
                  </a:lnTo>
                  <a:lnTo>
                    <a:pt x="3592" y="0"/>
                  </a:lnTo>
                  <a:lnTo>
                    <a:pt x="3887" y="0"/>
                  </a:lnTo>
                  <a:close/>
                  <a:moveTo>
                    <a:pt x="2969" y="0"/>
                  </a:moveTo>
                  <a:lnTo>
                    <a:pt x="3190" y="0"/>
                  </a:lnTo>
                  <a:lnTo>
                    <a:pt x="3190" y="788"/>
                  </a:lnTo>
                  <a:lnTo>
                    <a:pt x="2969" y="788"/>
                  </a:lnTo>
                  <a:lnTo>
                    <a:pt x="2969" y="0"/>
                  </a:lnTo>
                  <a:close/>
                  <a:moveTo>
                    <a:pt x="2105" y="0"/>
                  </a:moveTo>
                  <a:lnTo>
                    <a:pt x="2416" y="0"/>
                  </a:lnTo>
                  <a:lnTo>
                    <a:pt x="2489" y="2"/>
                  </a:lnTo>
                  <a:lnTo>
                    <a:pt x="2554" y="7"/>
                  </a:lnTo>
                  <a:lnTo>
                    <a:pt x="2613" y="17"/>
                  </a:lnTo>
                  <a:lnTo>
                    <a:pt x="2666" y="33"/>
                  </a:lnTo>
                  <a:lnTo>
                    <a:pt x="2713" y="57"/>
                  </a:lnTo>
                  <a:lnTo>
                    <a:pt x="2757" y="90"/>
                  </a:lnTo>
                  <a:lnTo>
                    <a:pt x="2794" y="132"/>
                  </a:lnTo>
                  <a:lnTo>
                    <a:pt x="2818" y="173"/>
                  </a:lnTo>
                  <a:lnTo>
                    <a:pt x="2839" y="222"/>
                  </a:lnTo>
                  <a:lnTo>
                    <a:pt x="2853" y="277"/>
                  </a:lnTo>
                  <a:lnTo>
                    <a:pt x="2863" y="337"/>
                  </a:lnTo>
                  <a:lnTo>
                    <a:pt x="2865" y="402"/>
                  </a:lnTo>
                  <a:lnTo>
                    <a:pt x="2863" y="461"/>
                  </a:lnTo>
                  <a:lnTo>
                    <a:pt x="2855" y="518"/>
                  </a:lnTo>
                  <a:lnTo>
                    <a:pt x="2843" y="569"/>
                  </a:lnTo>
                  <a:lnTo>
                    <a:pt x="2828" y="614"/>
                  </a:lnTo>
                  <a:lnTo>
                    <a:pt x="2810" y="654"/>
                  </a:lnTo>
                  <a:lnTo>
                    <a:pt x="2786" y="683"/>
                  </a:lnTo>
                  <a:lnTo>
                    <a:pt x="2761" y="709"/>
                  </a:lnTo>
                  <a:lnTo>
                    <a:pt x="2735" y="731"/>
                  </a:lnTo>
                  <a:lnTo>
                    <a:pt x="2705" y="748"/>
                  </a:lnTo>
                  <a:lnTo>
                    <a:pt x="2672" y="762"/>
                  </a:lnTo>
                  <a:lnTo>
                    <a:pt x="2633" y="772"/>
                  </a:lnTo>
                  <a:lnTo>
                    <a:pt x="2585" y="780"/>
                  </a:lnTo>
                  <a:lnTo>
                    <a:pt x="2530" y="786"/>
                  </a:lnTo>
                  <a:lnTo>
                    <a:pt x="2465" y="788"/>
                  </a:lnTo>
                  <a:lnTo>
                    <a:pt x="2105" y="788"/>
                  </a:lnTo>
                  <a:lnTo>
                    <a:pt x="2105" y="0"/>
                  </a:lnTo>
                  <a:close/>
                  <a:moveTo>
                    <a:pt x="825" y="0"/>
                  </a:moveTo>
                  <a:lnTo>
                    <a:pt x="1063" y="0"/>
                  </a:lnTo>
                  <a:lnTo>
                    <a:pt x="1240" y="624"/>
                  </a:lnTo>
                  <a:lnTo>
                    <a:pt x="1428" y="0"/>
                  </a:lnTo>
                  <a:lnTo>
                    <a:pt x="1654" y="0"/>
                  </a:lnTo>
                  <a:lnTo>
                    <a:pt x="1398" y="788"/>
                  </a:lnTo>
                  <a:lnTo>
                    <a:pt x="1077" y="788"/>
                  </a:lnTo>
                  <a:lnTo>
                    <a:pt x="825" y="0"/>
                  </a:lnTo>
                  <a:close/>
                  <a:moveTo>
                    <a:pt x="1747" y="0"/>
                  </a:moveTo>
                  <a:lnTo>
                    <a:pt x="1969" y="0"/>
                  </a:lnTo>
                  <a:lnTo>
                    <a:pt x="1969" y="788"/>
                  </a:lnTo>
                  <a:lnTo>
                    <a:pt x="1747" y="788"/>
                  </a:lnTo>
                  <a:lnTo>
                    <a:pt x="1747" y="0"/>
                  </a:lnTo>
                  <a:close/>
                  <a:moveTo>
                    <a:pt x="0" y="0"/>
                  </a:moveTo>
                  <a:lnTo>
                    <a:pt x="400" y="0"/>
                  </a:lnTo>
                  <a:lnTo>
                    <a:pt x="441" y="0"/>
                  </a:lnTo>
                  <a:lnTo>
                    <a:pt x="482" y="2"/>
                  </a:lnTo>
                  <a:lnTo>
                    <a:pt x="522" y="7"/>
                  </a:lnTo>
                  <a:lnTo>
                    <a:pt x="561" y="15"/>
                  </a:lnTo>
                  <a:lnTo>
                    <a:pt x="599" y="25"/>
                  </a:lnTo>
                  <a:lnTo>
                    <a:pt x="634" y="41"/>
                  </a:lnTo>
                  <a:lnTo>
                    <a:pt x="667" y="59"/>
                  </a:lnTo>
                  <a:lnTo>
                    <a:pt x="697" y="82"/>
                  </a:lnTo>
                  <a:lnTo>
                    <a:pt x="725" y="112"/>
                  </a:lnTo>
                  <a:lnTo>
                    <a:pt x="746" y="145"/>
                  </a:lnTo>
                  <a:lnTo>
                    <a:pt x="766" y="187"/>
                  </a:lnTo>
                  <a:lnTo>
                    <a:pt x="780" y="234"/>
                  </a:lnTo>
                  <a:lnTo>
                    <a:pt x="788" y="289"/>
                  </a:lnTo>
                  <a:lnTo>
                    <a:pt x="790" y="352"/>
                  </a:lnTo>
                  <a:lnTo>
                    <a:pt x="790" y="788"/>
                  </a:lnTo>
                  <a:lnTo>
                    <a:pt x="573" y="788"/>
                  </a:lnTo>
                  <a:lnTo>
                    <a:pt x="573" y="427"/>
                  </a:lnTo>
                  <a:lnTo>
                    <a:pt x="571" y="368"/>
                  </a:lnTo>
                  <a:lnTo>
                    <a:pt x="567" y="317"/>
                  </a:lnTo>
                  <a:lnTo>
                    <a:pt x="557" y="277"/>
                  </a:lnTo>
                  <a:lnTo>
                    <a:pt x="543" y="244"/>
                  </a:lnTo>
                  <a:lnTo>
                    <a:pt x="524" y="220"/>
                  </a:lnTo>
                  <a:lnTo>
                    <a:pt x="500" y="201"/>
                  </a:lnTo>
                  <a:lnTo>
                    <a:pt x="473" y="187"/>
                  </a:lnTo>
                  <a:lnTo>
                    <a:pt x="439" y="179"/>
                  </a:lnTo>
                  <a:lnTo>
                    <a:pt x="400" y="175"/>
                  </a:lnTo>
                  <a:lnTo>
                    <a:pt x="224" y="175"/>
                  </a:lnTo>
                  <a:lnTo>
                    <a:pt x="224" y="788"/>
                  </a:lnTo>
                  <a:lnTo>
                    <a:pt x="0" y="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n"/>
            <p:cNvSpPr/>
            <p:nvPr/>
          </p:nvSpPr>
          <p:spPr>
            <a:xfrm>
              <a:off x="8775700" y="3552825"/>
              <a:ext cx="1436688" cy="952500"/>
            </a:xfrm>
            <a:custGeom>
              <a:avLst/>
              <a:gdLst/>
              <a:ahLst/>
              <a:cxnLst/>
              <a:rect l="l" t="t" r="r" b="b"/>
              <a:pathLst>
                <a:path w="1810" h="1200" extrusionOk="0">
                  <a:moveTo>
                    <a:pt x="675" y="359"/>
                  </a:moveTo>
                  <a:lnTo>
                    <a:pt x="675" y="451"/>
                  </a:lnTo>
                  <a:lnTo>
                    <a:pt x="675" y="451"/>
                  </a:lnTo>
                  <a:lnTo>
                    <a:pt x="638" y="451"/>
                  </a:lnTo>
                  <a:lnTo>
                    <a:pt x="603" y="459"/>
                  </a:lnTo>
                  <a:lnTo>
                    <a:pt x="571" y="471"/>
                  </a:lnTo>
                  <a:lnTo>
                    <a:pt x="542" y="485"/>
                  </a:lnTo>
                  <a:lnTo>
                    <a:pt x="516" y="502"/>
                  </a:lnTo>
                  <a:lnTo>
                    <a:pt x="496" y="518"/>
                  </a:lnTo>
                  <a:lnTo>
                    <a:pt x="482" y="532"/>
                  </a:lnTo>
                  <a:lnTo>
                    <a:pt x="473" y="542"/>
                  </a:lnTo>
                  <a:lnTo>
                    <a:pt x="469" y="546"/>
                  </a:lnTo>
                  <a:lnTo>
                    <a:pt x="471" y="552"/>
                  </a:lnTo>
                  <a:lnTo>
                    <a:pt x="477" y="566"/>
                  </a:lnTo>
                  <a:lnTo>
                    <a:pt x="484" y="587"/>
                  </a:lnTo>
                  <a:lnTo>
                    <a:pt x="496" y="613"/>
                  </a:lnTo>
                  <a:lnTo>
                    <a:pt x="514" y="644"/>
                  </a:lnTo>
                  <a:lnTo>
                    <a:pt x="536" y="676"/>
                  </a:lnTo>
                  <a:lnTo>
                    <a:pt x="561" y="707"/>
                  </a:lnTo>
                  <a:lnTo>
                    <a:pt x="595" y="735"/>
                  </a:lnTo>
                  <a:lnTo>
                    <a:pt x="632" y="761"/>
                  </a:lnTo>
                  <a:lnTo>
                    <a:pt x="675" y="780"/>
                  </a:lnTo>
                  <a:lnTo>
                    <a:pt x="675" y="865"/>
                  </a:lnTo>
                  <a:lnTo>
                    <a:pt x="614" y="851"/>
                  </a:lnTo>
                  <a:lnTo>
                    <a:pt x="561" y="828"/>
                  </a:lnTo>
                  <a:lnTo>
                    <a:pt x="514" y="800"/>
                  </a:lnTo>
                  <a:lnTo>
                    <a:pt x="473" y="768"/>
                  </a:lnTo>
                  <a:lnTo>
                    <a:pt x="439" y="733"/>
                  </a:lnTo>
                  <a:lnTo>
                    <a:pt x="408" y="698"/>
                  </a:lnTo>
                  <a:lnTo>
                    <a:pt x="384" y="660"/>
                  </a:lnTo>
                  <a:lnTo>
                    <a:pt x="364" y="627"/>
                  </a:lnTo>
                  <a:lnTo>
                    <a:pt x="349" y="595"/>
                  </a:lnTo>
                  <a:lnTo>
                    <a:pt x="337" y="569"/>
                  </a:lnTo>
                  <a:lnTo>
                    <a:pt x="329" y="548"/>
                  </a:lnTo>
                  <a:lnTo>
                    <a:pt x="325" y="534"/>
                  </a:lnTo>
                  <a:lnTo>
                    <a:pt x="323" y="530"/>
                  </a:lnTo>
                  <a:lnTo>
                    <a:pt x="325" y="526"/>
                  </a:lnTo>
                  <a:lnTo>
                    <a:pt x="335" y="516"/>
                  </a:lnTo>
                  <a:lnTo>
                    <a:pt x="350" y="502"/>
                  </a:lnTo>
                  <a:lnTo>
                    <a:pt x="372" y="485"/>
                  </a:lnTo>
                  <a:lnTo>
                    <a:pt x="400" y="463"/>
                  </a:lnTo>
                  <a:lnTo>
                    <a:pt x="433" y="441"/>
                  </a:lnTo>
                  <a:lnTo>
                    <a:pt x="473" y="420"/>
                  </a:lnTo>
                  <a:lnTo>
                    <a:pt x="516" y="400"/>
                  </a:lnTo>
                  <a:lnTo>
                    <a:pt x="565" y="382"/>
                  </a:lnTo>
                  <a:lnTo>
                    <a:pt x="618" y="368"/>
                  </a:lnTo>
                  <a:lnTo>
                    <a:pt x="675" y="359"/>
                  </a:lnTo>
                  <a:close/>
                  <a:moveTo>
                    <a:pt x="707" y="248"/>
                  </a:moveTo>
                  <a:lnTo>
                    <a:pt x="770" y="250"/>
                  </a:lnTo>
                  <a:lnTo>
                    <a:pt x="827" y="260"/>
                  </a:lnTo>
                  <a:lnTo>
                    <a:pt x="882" y="274"/>
                  </a:lnTo>
                  <a:lnTo>
                    <a:pt x="933" y="296"/>
                  </a:lnTo>
                  <a:lnTo>
                    <a:pt x="981" y="319"/>
                  </a:lnTo>
                  <a:lnTo>
                    <a:pt x="1024" y="345"/>
                  </a:lnTo>
                  <a:lnTo>
                    <a:pt x="1063" y="372"/>
                  </a:lnTo>
                  <a:lnTo>
                    <a:pt x="1097" y="400"/>
                  </a:lnTo>
                  <a:lnTo>
                    <a:pt x="1126" y="426"/>
                  </a:lnTo>
                  <a:lnTo>
                    <a:pt x="1152" y="451"/>
                  </a:lnTo>
                  <a:lnTo>
                    <a:pt x="1172" y="471"/>
                  </a:lnTo>
                  <a:lnTo>
                    <a:pt x="1185" y="489"/>
                  </a:lnTo>
                  <a:lnTo>
                    <a:pt x="1195" y="499"/>
                  </a:lnTo>
                  <a:lnTo>
                    <a:pt x="1197" y="502"/>
                  </a:lnTo>
                  <a:lnTo>
                    <a:pt x="1193" y="506"/>
                  </a:lnTo>
                  <a:lnTo>
                    <a:pt x="1185" y="518"/>
                  </a:lnTo>
                  <a:lnTo>
                    <a:pt x="1170" y="538"/>
                  </a:lnTo>
                  <a:lnTo>
                    <a:pt x="1150" y="562"/>
                  </a:lnTo>
                  <a:lnTo>
                    <a:pt x="1126" y="587"/>
                  </a:lnTo>
                  <a:lnTo>
                    <a:pt x="1097" y="617"/>
                  </a:lnTo>
                  <a:lnTo>
                    <a:pt x="1065" y="648"/>
                  </a:lnTo>
                  <a:lnTo>
                    <a:pt x="1028" y="680"/>
                  </a:lnTo>
                  <a:lnTo>
                    <a:pt x="988" y="709"/>
                  </a:lnTo>
                  <a:lnTo>
                    <a:pt x="947" y="737"/>
                  </a:lnTo>
                  <a:lnTo>
                    <a:pt x="904" y="761"/>
                  </a:lnTo>
                  <a:lnTo>
                    <a:pt x="859" y="778"/>
                  </a:lnTo>
                  <a:lnTo>
                    <a:pt x="811" y="790"/>
                  </a:lnTo>
                  <a:lnTo>
                    <a:pt x="762" y="794"/>
                  </a:lnTo>
                  <a:lnTo>
                    <a:pt x="717" y="790"/>
                  </a:lnTo>
                  <a:lnTo>
                    <a:pt x="675" y="780"/>
                  </a:lnTo>
                  <a:lnTo>
                    <a:pt x="675" y="451"/>
                  </a:lnTo>
                  <a:lnTo>
                    <a:pt x="715" y="459"/>
                  </a:lnTo>
                  <a:lnTo>
                    <a:pt x="746" y="469"/>
                  </a:lnTo>
                  <a:lnTo>
                    <a:pt x="774" y="485"/>
                  </a:lnTo>
                  <a:lnTo>
                    <a:pt x="796" y="504"/>
                  </a:lnTo>
                  <a:lnTo>
                    <a:pt x="817" y="528"/>
                  </a:lnTo>
                  <a:lnTo>
                    <a:pt x="837" y="558"/>
                  </a:lnTo>
                  <a:lnTo>
                    <a:pt x="859" y="591"/>
                  </a:lnTo>
                  <a:lnTo>
                    <a:pt x="882" y="633"/>
                  </a:lnTo>
                  <a:lnTo>
                    <a:pt x="1038" y="502"/>
                  </a:lnTo>
                  <a:lnTo>
                    <a:pt x="1034" y="499"/>
                  </a:lnTo>
                  <a:lnTo>
                    <a:pt x="1024" y="487"/>
                  </a:lnTo>
                  <a:lnTo>
                    <a:pt x="1008" y="471"/>
                  </a:lnTo>
                  <a:lnTo>
                    <a:pt x="985" y="451"/>
                  </a:lnTo>
                  <a:lnTo>
                    <a:pt x="957" y="430"/>
                  </a:lnTo>
                  <a:lnTo>
                    <a:pt x="924" y="406"/>
                  </a:lnTo>
                  <a:lnTo>
                    <a:pt x="884" y="386"/>
                  </a:lnTo>
                  <a:lnTo>
                    <a:pt x="839" y="370"/>
                  </a:lnTo>
                  <a:lnTo>
                    <a:pt x="790" y="359"/>
                  </a:lnTo>
                  <a:lnTo>
                    <a:pt x="734" y="355"/>
                  </a:lnTo>
                  <a:lnTo>
                    <a:pt x="675" y="359"/>
                  </a:lnTo>
                  <a:lnTo>
                    <a:pt x="675" y="250"/>
                  </a:lnTo>
                  <a:lnTo>
                    <a:pt x="707" y="248"/>
                  </a:lnTo>
                  <a:close/>
                  <a:moveTo>
                    <a:pt x="675" y="162"/>
                  </a:moveTo>
                  <a:lnTo>
                    <a:pt x="675" y="250"/>
                  </a:lnTo>
                  <a:lnTo>
                    <a:pt x="603" y="260"/>
                  </a:lnTo>
                  <a:lnTo>
                    <a:pt x="536" y="276"/>
                  </a:lnTo>
                  <a:lnTo>
                    <a:pt x="475" y="296"/>
                  </a:lnTo>
                  <a:lnTo>
                    <a:pt x="419" y="321"/>
                  </a:lnTo>
                  <a:lnTo>
                    <a:pt x="370" y="349"/>
                  </a:lnTo>
                  <a:lnTo>
                    <a:pt x="327" y="378"/>
                  </a:lnTo>
                  <a:lnTo>
                    <a:pt x="289" y="408"/>
                  </a:lnTo>
                  <a:lnTo>
                    <a:pt x="258" y="435"/>
                  </a:lnTo>
                  <a:lnTo>
                    <a:pt x="232" y="461"/>
                  </a:lnTo>
                  <a:lnTo>
                    <a:pt x="211" y="483"/>
                  </a:lnTo>
                  <a:lnTo>
                    <a:pt x="197" y="500"/>
                  </a:lnTo>
                  <a:lnTo>
                    <a:pt x="187" y="512"/>
                  </a:lnTo>
                  <a:lnTo>
                    <a:pt x="185" y="516"/>
                  </a:lnTo>
                  <a:lnTo>
                    <a:pt x="187" y="522"/>
                  </a:lnTo>
                  <a:lnTo>
                    <a:pt x="191" y="534"/>
                  </a:lnTo>
                  <a:lnTo>
                    <a:pt x="199" y="554"/>
                  </a:lnTo>
                  <a:lnTo>
                    <a:pt x="211" y="581"/>
                  </a:lnTo>
                  <a:lnTo>
                    <a:pt x="224" y="611"/>
                  </a:lnTo>
                  <a:lnTo>
                    <a:pt x="244" y="646"/>
                  </a:lnTo>
                  <a:lnTo>
                    <a:pt x="266" y="684"/>
                  </a:lnTo>
                  <a:lnTo>
                    <a:pt x="293" y="723"/>
                  </a:lnTo>
                  <a:lnTo>
                    <a:pt x="325" y="765"/>
                  </a:lnTo>
                  <a:lnTo>
                    <a:pt x="360" y="804"/>
                  </a:lnTo>
                  <a:lnTo>
                    <a:pt x="400" y="841"/>
                  </a:lnTo>
                  <a:lnTo>
                    <a:pt x="445" y="877"/>
                  </a:lnTo>
                  <a:lnTo>
                    <a:pt x="494" y="906"/>
                  </a:lnTo>
                  <a:lnTo>
                    <a:pt x="549" y="934"/>
                  </a:lnTo>
                  <a:lnTo>
                    <a:pt x="610" y="954"/>
                  </a:lnTo>
                  <a:lnTo>
                    <a:pt x="675" y="966"/>
                  </a:lnTo>
                  <a:lnTo>
                    <a:pt x="675" y="1058"/>
                  </a:lnTo>
                  <a:lnTo>
                    <a:pt x="595" y="1046"/>
                  </a:lnTo>
                  <a:lnTo>
                    <a:pt x="522" y="1027"/>
                  </a:lnTo>
                  <a:lnTo>
                    <a:pt x="453" y="1001"/>
                  </a:lnTo>
                  <a:lnTo>
                    <a:pt x="390" y="969"/>
                  </a:lnTo>
                  <a:lnTo>
                    <a:pt x="331" y="932"/>
                  </a:lnTo>
                  <a:lnTo>
                    <a:pt x="280" y="893"/>
                  </a:lnTo>
                  <a:lnTo>
                    <a:pt x="232" y="849"/>
                  </a:lnTo>
                  <a:lnTo>
                    <a:pt x="189" y="806"/>
                  </a:lnTo>
                  <a:lnTo>
                    <a:pt x="152" y="761"/>
                  </a:lnTo>
                  <a:lnTo>
                    <a:pt x="118" y="717"/>
                  </a:lnTo>
                  <a:lnTo>
                    <a:pt x="89" y="674"/>
                  </a:lnTo>
                  <a:lnTo>
                    <a:pt x="65" y="633"/>
                  </a:lnTo>
                  <a:lnTo>
                    <a:pt x="43" y="597"/>
                  </a:lnTo>
                  <a:lnTo>
                    <a:pt x="28" y="564"/>
                  </a:lnTo>
                  <a:lnTo>
                    <a:pt x="16" y="536"/>
                  </a:lnTo>
                  <a:lnTo>
                    <a:pt x="6" y="516"/>
                  </a:lnTo>
                  <a:lnTo>
                    <a:pt x="2" y="502"/>
                  </a:lnTo>
                  <a:lnTo>
                    <a:pt x="0" y="499"/>
                  </a:lnTo>
                  <a:lnTo>
                    <a:pt x="4" y="495"/>
                  </a:lnTo>
                  <a:lnTo>
                    <a:pt x="14" y="485"/>
                  </a:lnTo>
                  <a:lnTo>
                    <a:pt x="32" y="469"/>
                  </a:lnTo>
                  <a:lnTo>
                    <a:pt x="55" y="449"/>
                  </a:lnTo>
                  <a:lnTo>
                    <a:pt x="85" y="426"/>
                  </a:lnTo>
                  <a:lnTo>
                    <a:pt x="118" y="400"/>
                  </a:lnTo>
                  <a:lnTo>
                    <a:pt x="158" y="370"/>
                  </a:lnTo>
                  <a:lnTo>
                    <a:pt x="203" y="341"/>
                  </a:lnTo>
                  <a:lnTo>
                    <a:pt x="250" y="311"/>
                  </a:lnTo>
                  <a:lnTo>
                    <a:pt x="303" y="282"/>
                  </a:lnTo>
                  <a:lnTo>
                    <a:pt x="358" y="252"/>
                  </a:lnTo>
                  <a:lnTo>
                    <a:pt x="417" y="227"/>
                  </a:lnTo>
                  <a:lnTo>
                    <a:pt x="478" y="205"/>
                  </a:lnTo>
                  <a:lnTo>
                    <a:pt x="542" y="185"/>
                  </a:lnTo>
                  <a:lnTo>
                    <a:pt x="608" y="171"/>
                  </a:lnTo>
                  <a:lnTo>
                    <a:pt x="675" y="162"/>
                  </a:lnTo>
                  <a:close/>
                  <a:moveTo>
                    <a:pt x="675" y="0"/>
                  </a:moveTo>
                  <a:lnTo>
                    <a:pt x="1810" y="0"/>
                  </a:lnTo>
                  <a:lnTo>
                    <a:pt x="1810" y="1200"/>
                  </a:lnTo>
                  <a:lnTo>
                    <a:pt x="675" y="1200"/>
                  </a:lnTo>
                  <a:lnTo>
                    <a:pt x="675" y="1058"/>
                  </a:lnTo>
                  <a:lnTo>
                    <a:pt x="748" y="1062"/>
                  </a:lnTo>
                  <a:lnTo>
                    <a:pt x="819" y="1060"/>
                  </a:lnTo>
                  <a:lnTo>
                    <a:pt x="894" y="1052"/>
                  </a:lnTo>
                  <a:lnTo>
                    <a:pt x="977" y="1038"/>
                  </a:lnTo>
                  <a:lnTo>
                    <a:pt x="1061" y="1021"/>
                  </a:lnTo>
                  <a:lnTo>
                    <a:pt x="1148" y="1001"/>
                  </a:lnTo>
                  <a:lnTo>
                    <a:pt x="1235" y="975"/>
                  </a:lnTo>
                  <a:lnTo>
                    <a:pt x="1321" y="946"/>
                  </a:lnTo>
                  <a:lnTo>
                    <a:pt x="1404" y="914"/>
                  </a:lnTo>
                  <a:lnTo>
                    <a:pt x="1483" y="879"/>
                  </a:lnTo>
                  <a:lnTo>
                    <a:pt x="1554" y="841"/>
                  </a:lnTo>
                  <a:lnTo>
                    <a:pt x="1619" y="802"/>
                  </a:lnTo>
                  <a:lnTo>
                    <a:pt x="1674" y="763"/>
                  </a:lnTo>
                  <a:lnTo>
                    <a:pt x="1658" y="749"/>
                  </a:lnTo>
                  <a:lnTo>
                    <a:pt x="1634" y="733"/>
                  </a:lnTo>
                  <a:lnTo>
                    <a:pt x="1605" y="717"/>
                  </a:lnTo>
                  <a:lnTo>
                    <a:pt x="1573" y="700"/>
                  </a:lnTo>
                  <a:lnTo>
                    <a:pt x="1540" y="682"/>
                  </a:lnTo>
                  <a:lnTo>
                    <a:pt x="1510" y="664"/>
                  </a:lnTo>
                  <a:lnTo>
                    <a:pt x="1485" y="648"/>
                  </a:lnTo>
                  <a:lnTo>
                    <a:pt x="1467" y="636"/>
                  </a:lnTo>
                  <a:lnTo>
                    <a:pt x="1404" y="690"/>
                  </a:lnTo>
                  <a:lnTo>
                    <a:pt x="1341" y="741"/>
                  </a:lnTo>
                  <a:lnTo>
                    <a:pt x="1276" y="788"/>
                  </a:lnTo>
                  <a:lnTo>
                    <a:pt x="1209" y="832"/>
                  </a:lnTo>
                  <a:lnTo>
                    <a:pt x="1140" y="871"/>
                  </a:lnTo>
                  <a:lnTo>
                    <a:pt x="1067" y="904"/>
                  </a:lnTo>
                  <a:lnTo>
                    <a:pt x="992" y="932"/>
                  </a:lnTo>
                  <a:lnTo>
                    <a:pt x="914" y="954"/>
                  </a:lnTo>
                  <a:lnTo>
                    <a:pt x="831" y="966"/>
                  </a:lnTo>
                  <a:lnTo>
                    <a:pt x="744" y="969"/>
                  </a:lnTo>
                  <a:lnTo>
                    <a:pt x="709" y="969"/>
                  </a:lnTo>
                  <a:lnTo>
                    <a:pt x="675" y="966"/>
                  </a:lnTo>
                  <a:lnTo>
                    <a:pt x="675" y="865"/>
                  </a:lnTo>
                  <a:lnTo>
                    <a:pt x="715" y="871"/>
                  </a:lnTo>
                  <a:lnTo>
                    <a:pt x="758" y="873"/>
                  </a:lnTo>
                  <a:lnTo>
                    <a:pt x="815" y="869"/>
                  </a:lnTo>
                  <a:lnTo>
                    <a:pt x="870" y="859"/>
                  </a:lnTo>
                  <a:lnTo>
                    <a:pt x="925" y="841"/>
                  </a:lnTo>
                  <a:lnTo>
                    <a:pt x="979" y="820"/>
                  </a:lnTo>
                  <a:lnTo>
                    <a:pt x="1030" y="794"/>
                  </a:lnTo>
                  <a:lnTo>
                    <a:pt x="1079" y="767"/>
                  </a:lnTo>
                  <a:lnTo>
                    <a:pt x="1126" y="735"/>
                  </a:lnTo>
                  <a:lnTo>
                    <a:pt x="1172" y="701"/>
                  </a:lnTo>
                  <a:lnTo>
                    <a:pt x="1213" y="670"/>
                  </a:lnTo>
                  <a:lnTo>
                    <a:pt x="1250" y="636"/>
                  </a:lnTo>
                  <a:lnTo>
                    <a:pt x="1284" y="605"/>
                  </a:lnTo>
                  <a:lnTo>
                    <a:pt x="1315" y="577"/>
                  </a:lnTo>
                  <a:lnTo>
                    <a:pt x="1339" y="550"/>
                  </a:lnTo>
                  <a:lnTo>
                    <a:pt x="1361" y="530"/>
                  </a:lnTo>
                  <a:lnTo>
                    <a:pt x="1374" y="512"/>
                  </a:lnTo>
                  <a:lnTo>
                    <a:pt x="1384" y="502"/>
                  </a:lnTo>
                  <a:lnTo>
                    <a:pt x="1386" y="499"/>
                  </a:lnTo>
                  <a:lnTo>
                    <a:pt x="1384" y="495"/>
                  </a:lnTo>
                  <a:lnTo>
                    <a:pt x="1374" y="483"/>
                  </a:lnTo>
                  <a:lnTo>
                    <a:pt x="1359" y="465"/>
                  </a:lnTo>
                  <a:lnTo>
                    <a:pt x="1339" y="443"/>
                  </a:lnTo>
                  <a:lnTo>
                    <a:pt x="1311" y="418"/>
                  </a:lnTo>
                  <a:lnTo>
                    <a:pt x="1280" y="388"/>
                  </a:lnTo>
                  <a:lnTo>
                    <a:pt x="1242" y="357"/>
                  </a:lnTo>
                  <a:lnTo>
                    <a:pt x="1201" y="325"/>
                  </a:lnTo>
                  <a:lnTo>
                    <a:pt x="1154" y="292"/>
                  </a:lnTo>
                  <a:lnTo>
                    <a:pt x="1103" y="262"/>
                  </a:lnTo>
                  <a:lnTo>
                    <a:pt x="1048" y="233"/>
                  </a:lnTo>
                  <a:lnTo>
                    <a:pt x="987" y="207"/>
                  </a:lnTo>
                  <a:lnTo>
                    <a:pt x="924" y="187"/>
                  </a:lnTo>
                  <a:lnTo>
                    <a:pt x="855" y="171"/>
                  </a:lnTo>
                  <a:lnTo>
                    <a:pt x="782" y="162"/>
                  </a:lnTo>
                  <a:lnTo>
                    <a:pt x="707" y="160"/>
                  </a:lnTo>
                  <a:lnTo>
                    <a:pt x="675" y="162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76B9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이 과정은 세 부분으로 이루어져 있습니다.  이 부분은 1부 "NLP의 머신 러닝"입니다.  </a:t>
            </a:r>
            <a:endParaRPr/>
          </a:p>
        </p:txBody>
      </p:sp>
      <p:sp>
        <p:nvSpPr>
          <p:cNvPr id="388" name="Google Shape;388;p2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p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이해하기 쉽게 설명하기</a:t>
            </a:r>
            <a:endParaRPr/>
          </a:p>
        </p:txBody>
      </p:sp>
      <p:sp>
        <p:nvSpPr>
          <p:cNvPr id="430" name="Google Shape;430;p4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fld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5" name="Google Shape;435;p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슬라이드 세트에서는 다음 내용을 설명합니다.</a:t>
            </a:r>
            <a:endParaRPr/>
          </a:p>
          <a:p>
            <a:pPr marL="171450" lvl="0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Trebuchet MS"/>
              <a:buChar char="-"/>
            </a:pPr>
            <a:r>
              <a:rPr lang="en-US"/>
              <a:t>과거에는 작동하지 않았던 뉴럴 네트워크가 지금은 작동하는 이유</a:t>
            </a:r>
            <a:endParaRPr/>
          </a:p>
          <a:p>
            <a:pPr marL="171450" lvl="0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Trebuchet MS"/>
              <a:buChar char="-"/>
            </a:pPr>
            <a:r>
              <a:rPr lang="en-US"/>
              <a:t>대다수의 흥미로운 문제를 해결하기 위해서 확장이 필요한 이유</a:t>
            </a:r>
            <a:endParaRPr/>
          </a:p>
          <a:p>
            <a:pPr marL="171450" lvl="0" indent="-81280" algn="l" rtl="0">
              <a:spcBef>
                <a:spcPts val="42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endParaRPr/>
          </a:p>
          <a:p>
            <a:pPr marL="0" lvl="0" indent="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Trebuchet MS"/>
              <a:buNone/>
            </a:pPr>
            <a:r>
              <a:rPr lang="en-US"/>
              <a:t>흐름:</a:t>
            </a:r>
            <a:endParaRPr/>
          </a:p>
          <a:p>
            <a:pPr marL="171450" lvl="0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Arial"/>
              <a:buChar char="•"/>
            </a:pPr>
            <a:r>
              <a:rPr lang="en-US"/>
              <a:t>뉴럴 네트워크는 새로운 것이 아니며, 1940년대에 처음 이론화되어 1950년대에 처음 구현되었습니다.</a:t>
            </a:r>
            <a:endParaRPr/>
          </a:p>
          <a:p>
            <a:pPr marL="171450" lvl="0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Arial"/>
              <a:buChar char="•"/>
            </a:pPr>
            <a:r>
              <a:rPr lang="en-US"/>
              <a:t>현대의 대규모 모델을 트레이닝하는 데 사용된 역전파 알고리즘은 1980년대에 존재했습니다.</a:t>
            </a:r>
            <a:endParaRPr/>
          </a:p>
          <a:p>
            <a:pPr marL="171450" lvl="0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Arial"/>
              <a:buChar char="•"/>
            </a:pPr>
            <a:r>
              <a:rPr lang="en-US"/>
              <a:t>이 알고리즘은 여러 대체 머신 러닝 알고리즘에 비해 비교적 간단합니다. </a:t>
            </a:r>
            <a:endParaRPr/>
          </a:p>
          <a:p>
            <a:pPr marL="628650" lvl="1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Arial"/>
              <a:buChar char="•"/>
            </a:pPr>
            <a:r>
              <a:rPr lang="en-US"/>
              <a:t>입력 데이터에 가중치/숫자 세트를 곱하고 숫자/바이어스 세트를 더한 후, 결과에 단순한 비선형 함수를 적용하면서 데이터가 뉴런을 통과합니다. </a:t>
            </a:r>
            <a:endParaRPr/>
          </a:p>
          <a:p>
            <a:pPr marL="628650" lvl="1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Arial"/>
              <a:buChar char="•"/>
            </a:pPr>
            <a:r>
              <a:rPr lang="en-US"/>
              <a:t>결과 로직이 쌓입니다.</a:t>
            </a:r>
            <a:endParaRPr/>
          </a:p>
          <a:p>
            <a:pPr marL="171450" lvl="0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Arial"/>
              <a:buChar char="•"/>
            </a:pPr>
            <a:r>
              <a:rPr lang="en-US"/>
              <a:t>그렇다면 이제서야 번역, 자율주행 자동차, 자연어 처리 등의 여러 분야에서 진전을 보게 된 이유는 무엇일까요?</a:t>
            </a:r>
            <a:endParaRPr/>
          </a:p>
          <a:p>
            <a:pPr marL="171450" lvl="0" indent="-81280" algn="l" rtl="0">
              <a:spcBef>
                <a:spcPts val="42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/>
          </a:p>
          <a:p>
            <a:pPr marL="0" lvl="0" indent="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Arial"/>
              <a:buNone/>
            </a:pPr>
            <a:r>
              <a:rPr lang="en-US"/>
              <a:t>다음 슬라이드</a:t>
            </a:r>
            <a:endParaRPr/>
          </a:p>
        </p:txBody>
      </p:sp>
      <p:sp>
        <p:nvSpPr>
          <p:cNvPr id="436" name="Google Shape;436;p5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fld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p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이해하기 쉽게 설명하기</a:t>
            </a:r>
            <a:endParaRPr/>
          </a:p>
        </p:txBody>
      </p:sp>
      <p:sp>
        <p:nvSpPr>
          <p:cNvPr id="445" name="Google Shape;445;p6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fld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슬라이드 세트에서는 다음 내용을 설명합니다.</a:t>
            </a:r>
            <a:endParaRPr/>
          </a:p>
          <a:p>
            <a:pPr marL="171450" lvl="0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Trebuchet MS"/>
              <a:buChar char="-"/>
            </a:pPr>
            <a:r>
              <a:rPr lang="en-US"/>
              <a:t>과거에는 작동하지 않았던 뉴럴 네트워크가 지금은 작동하는 이유</a:t>
            </a:r>
            <a:endParaRPr/>
          </a:p>
          <a:p>
            <a:pPr marL="171450" lvl="0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Trebuchet MS"/>
              <a:buChar char="-"/>
            </a:pPr>
            <a:r>
              <a:rPr lang="en-US"/>
              <a:t>대다수의 흥미로운 문제를 해결하기 위해서 확장이 필요한 이유</a:t>
            </a:r>
            <a:endParaRPr/>
          </a:p>
          <a:p>
            <a:pPr marL="171450" lvl="0" indent="-81280" algn="l" rtl="0">
              <a:spcBef>
                <a:spcPts val="42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endParaRPr/>
          </a:p>
          <a:p>
            <a:pPr marL="0" lvl="0" indent="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Trebuchet MS"/>
              <a:buNone/>
            </a:pPr>
            <a:r>
              <a:rPr lang="en-US"/>
              <a:t>흐름:</a:t>
            </a:r>
            <a:endParaRPr/>
          </a:p>
          <a:p>
            <a:pPr marL="171450" lvl="0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Arial"/>
              <a:buChar char="•"/>
            </a:pPr>
            <a:r>
              <a:rPr lang="en-US"/>
              <a:t>뉴럴 네트워크는 새로운 것이 아니며, 1940년대에 처음 이론화되어 1950년대에 처음 구현되었습니다.</a:t>
            </a:r>
            <a:endParaRPr/>
          </a:p>
          <a:p>
            <a:pPr marL="171450" lvl="0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Arial"/>
              <a:buChar char="•"/>
            </a:pPr>
            <a:r>
              <a:rPr lang="en-US"/>
              <a:t>현대의 대규모 모델을 트레이닝하는 데 사용된 역전파 알고리즘은 1980년대에 존재했습니다.</a:t>
            </a:r>
            <a:endParaRPr/>
          </a:p>
          <a:p>
            <a:pPr marL="171450" lvl="0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Arial"/>
              <a:buChar char="•"/>
            </a:pPr>
            <a:r>
              <a:rPr lang="en-US"/>
              <a:t>이 알고리즘은 여러 대체 머신 러닝 알고리즘에 비해 비교적 간단합니다. </a:t>
            </a:r>
            <a:endParaRPr/>
          </a:p>
          <a:p>
            <a:pPr marL="628650" lvl="1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Arial"/>
              <a:buChar char="•"/>
            </a:pPr>
            <a:r>
              <a:rPr lang="en-US"/>
              <a:t>입력 데이터에 가중치/숫자 세트를 곱하고 숫자/바이어스 세트를 더한 후, 결과에 단순한 비선형 함수를 적용하면서 데이터가 뉴런을 통과합니다. </a:t>
            </a:r>
            <a:endParaRPr/>
          </a:p>
          <a:p>
            <a:pPr marL="628650" lvl="1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Arial"/>
              <a:buChar char="•"/>
            </a:pPr>
            <a:r>
              <a:rPr lang="en-US"/>
              <a:t>결과 로직이 쌓입니다.</a:t>
            </a:r>
            <a:endParaRPr/>
          </a:p>
          <a:p>
            <a:pPr marL="171450" lvl="0" indent="-17145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Arial"/>
              <a:buChar char="•"/>
            </a:pPr>
            <a:r>
              <a:rPr lang="en-US"/>
              <a:t>그렇다면 이제서야 번역, 자율주행 자동차, 자연어 처리 등의 여러 분야에서 진전을 보게 된 이유는 무엇일까요?</a:t>
            </a:r>
            <a:endParaRPr/>
          </a:p>
          <a:p>
            <a:pPr marL="171450" lvl="0" indent="-81280" algn="l" rtl="0">
              <a:spcBef>
                <a:spcPts val="42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/>
          </a:p>
          <a:p>
            <a:pPr marL="0" lvl="0" indent="0" algn="l" rtl="0">
              <a:spcBef>
                <a:spcPts val="419"/>
              </a:spcBef>
              <a:spcAft>
                <a:spcPts val="0"/>
              </a:spcAft>
              <a:buClr>
                <a:schemeClr val="dk1"/>
              </a:buClr>
              <a:buSzPct val="98199"/>
              <a:buFont typeface="Arial"/>
              <a:buNone/>
            </a:pPr>
            <a:r>
              <a:rPr lang="en-US"/>
              <a:t>다음 슬라이드</a:t>
            </a:r>
            <a:endParaRPr/>
          </a:p>
        </p:txBody>
      </p:sp>
      <p:sp>
        <p:nvSpPr>
          <p:cNvPr id="451" name="Google Shape;451;p7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fld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4" name="Google Shape;554;p1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이해하기 쉽게 설명하기</a:t>
            </a:r>
            <a:endParaRPr/>
          </a:p>
        </p:txBody>
      </p:sp>
      <p:sp>
        <p:nvSpPr>
          <p:cNvPr id="555" name="Google Shape;555;p19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19</a:t>
            </a:fld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2" name="Google Shape;702;p3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이해하기 쉽게 설명하기</a:t>
            </a:r>
            <a:endParaRPr/>
          </a:p>
        </p:txBody>
      </p:sp>
      <p:sp>
        <p:nvSpPr>
          <p:cNvPr id="703" name="Google Shape;703;p33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33</a:t>
            </a:fld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76488" y="534988"/>
            <a:ext cx="4749800" cy="26717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8" name="Google Shape;708;p34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양자화된 INT8</a:t>
            </a:r>
            <a:r>
              <a:rPr lang="en-US" sz="1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(정밀도 최적화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모델을 INT8로 양자화하고 정확도 손실을 최소화하여 FP32 전체 정밀도로 트레이닝된 모델의 추론 성능을 크게 개선합니다(실제로 최대 3배까지).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레이어 융합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(그래프 최적화)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단일 커널 실행을 위해 연속된 노드를 단일 노드로 결합하여 GPU 활용률을 개선하고 메모리 저장 및 대역폭을 최적화합니다.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커널 자동튜닝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(자동튜닝) 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대상 Jetson, Tesla 또는 DrivePX GPU 플랫폼에 가장 적합한 데이터 레이어와 병렬 알고리즘을 선택해 실행 시간을 최적화합니다.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동적 Tensor 메모리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(메모리 최적화)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사용 기간 동안만 각 Tensor에 대한 메모리를 할당하여 메모리 사용량을 줄이고 메모리 재사용을 개선합니다.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멀티스트림 실행</a:t>
            </a: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동일한 모델과 가중치를 사용해 입력 스트림을 병렬로 처리하여 여러 입력 스트림으로 확장합니다.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endParaRPr sz="1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9" name="Google Shape;709;p34:notes"/>
          <p:cNvSpPr txBox="1">
            <a:spLocks noGrp="1"/>
          </p:cNvSpPr>
          <p:nvPr>
            <p:ph type="sldNum" idx="12"/>
          </p:nvPr>
        </p:nvSpPr>
        <p:spPr>
          <a:xfrm>
            <a:off x="4965631" y="6769642"/>
            <a:ext cx="41178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7" name="Google Shape;797;p4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47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5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5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5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6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6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6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5" name="Google Shape;995;p64:notes"/>
          <p:cNvSpPr txBox="1">
            <a:spLocks noGrp="1"/>
          </p:cNvSpPr>
          <p:nvPr>
            <p:ph type="body" idx="1"/>
          </p:nvPr>
        </p:nvSpPr>
        <p:spPr>
          <a:xfrm>
            <a:off x="701040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6" name="Google Shape;996;p64:notes"/>
          <p:cNvSpPr txBox="1">
            <a:spLocks noGrp="1"/>
          </p:cNvSpPr>
          <p:nvPr>
            <p:ph type="sldNum" idx="12"/>
          </p:nvPr>
        </p:nvSpPr>
        <p:spPr>
          <a:xfrm>
            <a:off x="3663169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64</a:t>
            </a:fld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6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6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6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6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76488" y="534988"/>
            <a:ext cx="4749800" cy="26717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4" name="Google Shape;1114;p69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양자화된 INT8</a:t>
            </a:r>
            <a:r>
              <a:rPr lang="en-US" sz="1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(정밀도 최적화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모델을 INT8로 양자화하고 정확도 손실을 최소화하여 FP32 전체 정밀도로 트레이닝된 모델의 추론 성능을 크게 개선합니다(실제로 최대 3배까지).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레이어 융합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(그래프 최적화)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단일 커널 실행을 위해 연속된 노드를 단일 노드로 결합하여 GPU 활용률을 개선하고 메모리 저장 및 대역폭을 최적화합니다.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커널 자동튜닝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(자동튜닝) 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대상 Jetson, Tesla 또는 DrivePX GPU 플랫폼에 가장 적합한 데이터 레이어와 병렬 알고리즘을 선택해 실행 시간을 최적화합니다.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동적 Tensor 메모리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(메모리 최적화)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사용 기간 동안만 각 Tensor에 대한 메모리를 할당하여 메모리 사용량을 줄이고 메모리 재사용을 개선합니다.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멀티스트림 실행</a:t>
            </a: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동일한 모델과 가중치를 사용해 입력 스트림을 병렬로 처리하여 여러 입력 스트림으로 확장합니다.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endParaRPr sz="1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5" name="Google Shape;1115;p69:notes"/>
          <p:cNvSpPr txBox="1">
            <a:spLocks noGrp="1"/>
          </p:cNvSpPr>
          <p:nvPr>
            <p:ph type="sldNum" idx="12"/>
          </p:nvPr>
        </p:nvSpPr>
        <p:spPr>
          <a:xfrm>
            <a:off x="4965631" y="6769642"/>
            <a:ext cx="41178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69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2" name="Google Shape;1122;p7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70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70</a:t>
            </a:fld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1" name="Google Shape;1131;p7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TRT 4에 ONNX 구문 분석기를 위한 Python 및 C++ 바인딩이 포함됩니다. C++ API보다 훨씬 더 쉽습니다. ONNX 구문 분석기 데모를 수행 완료할 수도 있습니다. Leon Goldgeisser가 엔지니어입니다. 프레임워크 팀의 사람들도 익숙할 수 있습니다(Ben Barstell).</a:t>
            </a:r>
            <a:endParaRPr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10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어떤 샘플인지 알아내야 합니다. ONNX 사용 Resnet50 구문 분석기. ONNX Model Zoo의 모든 모델에 TRT를 실행할 것입니다.</a:t>
            </a:r>
            <a:endParaRPr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 sz="1100" u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2" name="Google Shape;1132;p71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71</a:t>
            </a:fld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7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1" name="Google Shape;1161;p7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73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7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7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7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3" name="Google Shape;1203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7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7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7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8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8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8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8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" name="Google Shape;1260;p8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61" name="Google Shape;1261;p84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84</a:t>
            </a:fld>
            <a:endParaRPr sz="11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8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/>
          </a:p>
        </p:txBody>
      </p:sp>
      <p:sp>
        <p:nvSpPr>
          <p:cNvPr id="1339" name="Google Shape;1339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8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71" name="Google Shape;1371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4" name="Google Shape;1384;p8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rebuchet MS"/>
              <a:buNone/>
            </a:pPr>
            <a:endParaRPr/>
          </a:p>
        </p:txBody>
      </p:sp>
      <p:sp>
        <p:nvSpPr>
          <p:cNvPr id="1385" name="Google Shape;1385;p87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fld id="{00000000-1234-1234-1234-123412341234}" type="slidenum">
              <a:rPr lang="en-US"/>
              <a:t>87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5" name="Google Shape;1415;p8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rebuchet MS"/>
              <a:buNone/>
            </a:pPr>
            <a:endParaRPr/>
          </a:p>
        </p:txBody>
      </p:sp>
      <p:sp>
        <p:nvSpPr>
          <p:cNvPr id="1416" name="Google Shape;1416;p88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fld id="{00000000-1234-1234-1234-123412341234}" type="slidenum">
              <a:rPr lang="en-US"/>
              <a:t>88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6" name="Google Shape;1446;p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4" name="Google Shape;1454;p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457200" lvl="0" indent="-22860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rebuchet MS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6" name="Google Shape;1506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457200" lvl="0" indent="-22860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rebuchet MS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4" name="Google Shape;1514;p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0" name="Google Shape;1570;p9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V100의 ResNet50 TRT FP 16 16GB 배치 크기 8 모델 동시 실행 4 1,909추론/초, 지연 시간 33,456µs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V100의 Deep Recommender TRT FP16 16GB 배치 크기 8 모델 동시 실행 4 5,000추론/초, 지연 시간 19,211µs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/>
              <a:t>각 인스턴스 쓰기는 2GB입니다. </a:t>
            </a:r>
            <a:endParaRPr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/>
              <a:t>10개 요청, 동일한 시간에 8개 발생, 2개는 이후에 발생</a:t>
            </a:r>
            <a:endParaRPr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/>
              <a:t>12개 요청이 동시에 이행되는 데 걸리는 시간을 추론하면 0.001초입니다.</a:t>
            </a:r>
            <a:endParaRPr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/>
              <a:t>각 인스턴스에서 BS 8</a:t>
            </a:r>
            <a:endParaRPr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rebuchet MS"/>
              <a:buNone/>
            </a:pPr>
            <a:r>
              <a:rPr lang="en-US" sz="800">
                <a:solidFill>
                  <a:schemeClr val="dk1"/>
                </a:solidFill>
              </a:rPr>
              <a:t>TRT FP16 Resnet50의 인스턴스 4개와 TRT FP16 Deep Recommender의 인스턴스 4개가 하나의 GPU에서 동시에 실행 중입니다. 10개의 요청이 동시에 두 모델에 들어오고(각 모델당 5개) 추론을 위해 해당 모델에 피드됩니다. 요청이 동시에 이행되고 사용자에게 반환됩니다. 각 모델에 대해 하나씩 요청이 대기열에 있습니다. 이 구성을 사용하면 각 추론 서버 인스턴스에서 배치 크기 8, 53ms로 초당 6,909개의 추론을 실행할 수 있습니다.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8" name="Google Shape;1578;p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1" name="Google Shape;1591;p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3" name="Google Shape;1603;p9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rebuchet MS"/>
              <a:buNone/>
            </a:pPr>
            <a:endParaRPr/>
          </a:p>
        </p:txBody>
      </p:sp>
      <p:sp>
        <p:nvSpPr>
          <p:cNvPr id="1604" name="Google Shape;1604;p96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fld id="{00000000-1234-1234-1234-123412341234}" type="slidenum">
              <a:rPr lang="en-US"/>
              <a:t>96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0" name="Google Shape;1710;p9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100" b="0" i="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앙상블 모델에 대한 추론 요청이 수신되면 앙상블 스케줄러가 다음을 수행합니다.</a:t>
            </a:r>
            <a:endParaRPr b="0"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100" b="0" i="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1) 요청의 “IMAGE” 텐서가 사전 처리 모델의 입력 \“RAW_IMAGE”에 매핑되는 것을 인식합니다.</a:t>
            </a:r>
            <a:endParaRPr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100" b="0" i="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2) 앙상블 내에서 모델을 확인하고 필요한 모든 입력 텐서가 준비되었으므로 내부 요청을 사전 처리 모델에 보냅니다.</a:t>
            </a:r>
            <a:endParaRPr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100" b="0" i="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3) 내부 요청 완료를 인식하고 출력 텐서를 수집한 다음 앙상블 내에서 알려진 고유한 이름인 “preprocessed_image”에 내용을 매핑합니다.</a:t>
            </a:r>
            <a:endParaRPr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100" b="0" i="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4) 새로 수집한 텐서를 앙상블 내 모델의 입력에 매핑합니다. 이 경우에는 “classification_model” 및 “segmentation_model”의 입력이 매핑되고 준비됨 상태로 표시됩니다.</a:t>
            </a:r>
            <a:endParaRPr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100" b="0" i="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5) 새로 수집한 텐서가 필요한 모델을 확인하고 내부 요청을 입력이 준비된 모델(이 경우에는 분류 모델과 분할 모델)에 보냅니다. 응답은 개별 모델의 로드 및 연산 시간에 따라 임의의 순서로 이루어집니다.</a:t>
            </a:r>
            <a:endParaRPr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100" b="0" i="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6) 더 이상 내부 요청을 보내지 않아도 될 때까지 3~5단계를 반복한 다음 앙상블 출력 이름에 텐서가 매핑된 추론 요청에 응답합니다.</a:t>
            </a:r>
            <a:endParaRPr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en-US" b="0"/>
            </a:br>
            <a:endParaRPr/>
          </a:p>
        </p:txBody>
      </p:sp>
      <p:sp>
        <p:nvSpPr>
          <p:cNvPr id="1711" name="Google Shape;1711;p97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fld id="{00000000-1234-1234-1234-123412341234}" type="slidenum">
              <a:rPr lang="en-US"/>
              <a:t>97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9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rebuchet MS"/>
              <a:buNone/>
            </a:pPr>
            <a:endParaRPr/>
          </a:p>
        </p:txBody>
      </p:sp>
      <p:sp>
        <p:nvSpPr>
          <p:cNvPr id="1718" name="Google Shape;1718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6" name="Google Shape;1726;p9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100" b="0" i="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모델 동시 실행: 방금 동시 실행에 사용할 모델의 인스턴스 수를 지정했습니다. CPU의 경우 동시 모델 인스턴스가 여러 CPU에서 실행됩니다. </a:t>
            </a:r>
            <a:endParaRPr b="0"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100" b="0" i="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(프레임워크에 따라 각 인스턴스 자체에서 여러 CPU를 사용할 수 있음)</a:t>
            </a:r>
            <a:endParaRPr b="0"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100" b="0" i="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CPU가 스레드를 사용하고 하나의 모델에 여러 스레드가 필요할 수 있으며, TF 실행자가 각 인스턴스에 필요한 수에 따라 필요한 스레드를 제공합니다.</a:t>
            </a:r>
            <a:endParaRPr b="0"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100" b="0" i="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배치를 사용하여 GPU에서와 매우 비슷하게 작동합니다. CPU에서 배치가 클수록 모델에 대한 연산 작업이 많아지므로 시간이 더 오래 걸립니다. 배치를 구현하기 전에 모든 CPU가 사용 중인지(스레드/모델이 CPU를 채우기에 충분한지) 확인하는 것이 중요합니다.</a:t>
            </a:r>
            <a:endParaRPr b="0"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en-US" b="0"/>
            </a:br>
            <a:r>
              <a:rPr lang="en-US" sz="1100" b="0" i="0" u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TF(가장 인기 있는 프레임워크)에서 끌어오기</a:t>
            </a:r>
            <a:endParaRPr b="0"/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en-US"/>
            </a:br>
            <a:endParaRPr/>
          </a:p>
        </p:txBody>
      </p:sp>
      <p:sp>
        <p:nvSpPr>
          <p:cNvPr id="1727" name="Google Shape;1727;p99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fld id="{00000000-1234-1234-1234-123412341234}" type="slidenum">
              <a:rPr lang="en-US"/>
              <a:t>99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7" name="Google Shape;1737;p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7" name="Google Shape;1747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10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5" name="Google Shape;1755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1" name="Google Shape;1761;p10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이해하기 쉽게 설명하기</a:t>
            </a:r>
            <a:endParaRPr/>
          </a:p>
        </p:txBody>
      </p:sp>
      <p:sp>
        <p:nvSpPr>
          <p:cNvPr id="1762" name="Google Shape;1762;p103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103</a:t>
            </a:fld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7" name="Google Shape;1767;p10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그러나 다음과 같은 이유로 인해 그러한 대화형 AI 모델을 구축하는 것은 어렵습니다.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1. 대화형 AI 모델을 구축하기 위해 여러 모듈을 결합해야 합니다</a:t>
            </a:r>
            <a:r>
              <a:rPr lang="en-US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2. 최고의 성능을 얻기 위한 믹스 앤 매치, 조작 및 실험이 어렵습니다.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None/>
            </a:pPr>
            <a:r>
              <a:rPr lang="en-US"/>
              <a:t>그렇다면 NVIDIA 작업이 이 문제를 해결하는 데 어떤 도움이 될까요? NeMo를 통해 알아보겠습니다.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68" name="Google Shape;1768;p104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104</a:t>
            </a:fld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1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2" name="Google Shape;1832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11400" y="525463"/>
            <a:ext cx="46736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7" name="Google Shape;1837;p10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GPU </a:t>
            </a:r>
            <a:r>
              <a:rPr lang="en-US" sz="32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가속화</a:t>
            </a:r>
            <a:r>
              <a:rPr lang="en-US" sz="32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AI </a:t>
            </a:r>
            <a:r>
              <a:rPr lang="en-US" sz="32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시스템을</a:t>
            </a:r>
            <a:r>
              <a:rPr lang="en-US" sz="32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2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구축</a:t>
            </a:r>
            <a:r>
              <a:rPr lang="en-US" sz="32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32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트레이닝</a:t>
            </a:r>
            <a:r>
              <a:rPr lang="en-US" sz="32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및 </a:t>
            </a:r>
            <a:r>
              <a:rPr lang="en-US" sz="32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배포합니다</a:t>
            </a:r>
            <a:r>
              <a:rPr lang="en-US" sz="32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맥락에서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음성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인식과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함께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제스처와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시선과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같은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멀티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모달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융합을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활성화합니다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AI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에이전트와의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동시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다중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사용자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다중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맥락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대화를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활성화합니다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모델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트레이닝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및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파인튜닝을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위한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NeMo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통합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높은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처리량과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낮은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지연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시간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딥러닝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추론을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위한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TensorRT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통합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Helm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차트를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사용해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Riva AI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서비스를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만드는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원클릭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배포</a:t>
            </a:r>
            <a:r>
              <a:rPr lang="en-US" sz="2800" dirty="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38100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38" name="Google Shape;1838;p106:notes"/>
          <p:cNvSpPr txBox="1">
            <a:spLocks noGrp="1"/>
          </p:cNvSpPr>
          <p:nvPr>
            <p:ph type="sldNum" idx="12"/>
          </p:nvPr>
        </p:nvSpPr>
        <p:spPr>
          <a:xfrm>
            <a:off x="4857682" y="6658664"/>
            <a:ext cx="4028440" cy="35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106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3" name="Google Shape;1903;p107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NeMo 스택에는 대화형 AI 애플리케이션을 빠르게 구축할 수 있는 여러 구성 요소가 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 코어 모듈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– NeMo 모듈은 입력 유형을 사용해 출력 유형을 생성하는 python 코드의 블록입니다. Nemo에는 빠르게 믹스 앤 매치해 대화형 AI 모델을 만들 수 있는 80개 이상의 코어 모듈이 있습니다.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뉴럴 유형: </a:t>
            </a:r>
            <a:r>
              <a:rPr lang="en-US" sz="1833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뉴럴 유형은 입력 텐서를 확인해 2개의 뉴럴 모듈이 호환되는지 확인하고 의미 및 차원 오류를 잡아내는 데 사용됩니다.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833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데이터 레이어: </a:t>
            </a:r>
            <a:r>
              <a:rPr lang="en-US" sz="1833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언제든지 데이터 레이어 API를 사용하여 트레이닝을 위해 데이터세트를 로드할 수 있습니다.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833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NeMo 컬렉션: </a:t>
            </a:r>
            <a:r>
              <a:rPr lang="en-US" sz="1833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 가능한 사전 트레이닝된 모델을 사용해 ASR, NLP 및 TTS를 위한 대화형 AI 애플리케이션을 빠르게 구축할 수 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833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사전 트레이닝된 모델: </a:t>
            </a:r>
            <a:r>
              <a:rPr lang="en-US" sz="1833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NGC에서 여러 개의 대규모 언어 자료로 사전 트레이닝된 수많은 모델을 사용할 수 있습니다. </a:t>
            </a:r>
            <a:endParaRPr sz="1833" b="1" i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 sz="2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107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107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3" name="Google Shape;1913;p108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NeMo 스택에는 대화형 AI 애플리케이션을 빠르게 구축할 수 있는 여러 구성 요소가 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 코어 모듈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– NeMo 모듈은 입력 유형을 사용해 출력 유형을 생성하는 python 코드의 블록입니다. Nemo에는 빠르게 믹스 앤 매치해 대화형 AI 모델을 만들 수 있는 80개 이상의 코어 모듈이 있습니다.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뉴럴 유형: </a:t>
            </a:r>
            <a:r>
              <a:rPr lang="en-US" sz="1833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뉴럴 유형은 입력 텐서를 확인해 2개의 뉴럴 모듈이 호환되는지 확인하고 의미 및 차원 오류를 잡아내는 데 사용됩니다.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833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데이터 레이어: </a:t>
            </a:r>
            <a:r>
              <a:rPr lang="en-US" sz="1833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언제든지 데이터 레이어 API를 사용하여 트레이닝을 위해 데이터세트를 로드할 수 있습니다.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833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NeMo 컬렉션: </a:t>
            </a:r>
            <a:r>
              <a:rPr lang="en-US" sz="1833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 가능한 사전 트레이닝된 모델을 사용해 ASR, NLP 및 TTS를 위한 대화형 AI 애플리케이션을 빠르게 구축할 수 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en-US" sz="1833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사전 트레이닝된 모델: </a:t>
            </a:r>
            <a:r>
              <a:rPr lang="en-US" sz="1833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NGC에서 여러 개의 대규모 언어 자료로 사전 트레이닝된 수많은 모델을 사용할 수 있습니다. </a:t>
            </a:r>
            <a:endParaRPr sz="1833" b="1" i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 sz="2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108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108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4" name="Google Shape;1924;p109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서버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측에서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Helm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차트를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사용하지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않는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Riva ASR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서비스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단계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NGC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컨테이너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모델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다운로드</a:t>
            </a:r>
            <a:endParaRPr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맞춤형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데이터세트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사전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처리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모델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트레이닝</a:t>
            </a:r>
            <a:endParaRPr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Pytorch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TorchScript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/ONNX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파일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내보내기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생성</a:t>
            </a:r>
            <a:endParaRPr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TRTIS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리포지토리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생성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(TRT6는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내부에서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생성됨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) </a:t>
            </a:r>
            <a:endParaRPr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TRTIS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컨테이너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시작</a:t>
            </a:r>
            <a:endParaRPr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Asr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true로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Riva API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서버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시작</a:t>
            </a:r>
            <a:endParaRPr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클라이언트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애플리케이션에서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API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호출</a:t>
            </a:r>
            <a:endParaRPr dirty="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dirty="0" err="1">
                <a:latin typeface="Arial"/>
                <a:ea typeface="Arial"/>
                <a:cs typeface="Arial"/>
                <a:sym typeface="Arial"/>
              </a:rPr>
              <a:t>Riva에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latin typeface="Arial"/>
                <a:ea typeface="Arial"/>
                <a:cs typeface="Arial"/>
                <a:sym typeface="Arial"/>
              </a:rPr>
              <a:t>사용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latin typeface="Arial"/>
                <a:ea typeface="Arial"/>
                <a:cs typeface="Arial"/>
                <a:sym typeface="Arial"/>
              </a:rPr>
              <a:t>가능한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latin typeface="Arial"/>
                <a:ea typeface="Arial"/>
                <a:cs typeface="Arial"/>
                <a:sym typeface="Arial"/>
              </a:rPr>
              <a:t>사전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latin typeface="Arial"/>
                <a:ea typeface="Arial"/>
                <a:cs typeface="Arial"/>
                <a:sym typeface="Arial"/>
              </a:rPr>
              <a:t>트레이닝된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latin typeface="Arial"/>
                <a:ea typeface="Arial"/>
                <a:cs typeface="Arial"/>
                <a:sym typeface="Arial"/>
              </a:rPr>
              <a:t>모델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:    </a:t>
            </a:r>
            <a:br>
              <a:rPr lang="en-US" sz="2000" b="1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1.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표준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스트리밍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인식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모델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2.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음성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활동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검출을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사용하는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스트리밍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인식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- 긴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스트림에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3.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음성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활동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검출을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사용하는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오프라인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인식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4.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음성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활동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검출을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사용하지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않는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오프라인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인식</a:t>
            </a:r>
            <a:r>
              <a:rPr lang="en-US" sz="20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109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109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3" name="Google Shape;2003;p110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실시간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대화형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애플리케이션에서는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31개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이상의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모델이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파이프라인에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포함되어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있습니다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. Helm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차트가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모든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배포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프로세스를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자동화합니다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Helm </a:t>
            </a:r>
            <a:r>
              <a:rPr lang="en-US" sz="2000" b="1" dirty="0" err="1">
                <a:latin typeface="Arial"/>
                <a:ea typeface="Arial"/>
                <a:cs typeface="Arial"/>
                <a:sym typeface="Arial"/>
              </a:rPr>
              <a:t>차트를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latin typeface="Arial"/>
                <a:ea typeface="Arial"/>
                <a:cs typeface="Arial"/>
                <a:sym typeface="Arial"/>
              </a:rPr>
              <a:t>사용해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 Riva </a:t>
            </a:r>
            <a:r>
              <a:rPr lang="en-US" sz="2000" b="1" dirty="0" err="1">
                <a:latin typeface="Arial"/>
                <a:ea typeface="Arial"/>
                <a:cs typeface="Arial"/>
                <a:sym typeface="Arial"/>
              </a:rPr>
              <a:t>서비스를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latin typeface="Arial"/>
                <a:ea typeface="Arial"/>
                <a:cs typeface="Arial"/>
                <a:sym typeface="Arial"/>
              </a:rPr>
              <a:t>배포하는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latin typeface="Arial"/>
                <a:ea typeface="Arial"/>
                <a:cs typeface="Arial"/>
                <a:sym typeface="Arial"/>
              </a:rPr>
              <a:t>단계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다음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명령을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사용해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NGC에서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Helm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차트를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dirty="0" err="1">
                <a:latin typeface="Arial"/>
                <a:ea typeface="Arial"/>
                <a:cs typeface="Arial"/>
                <a:sym typeface="Arial"/>
              </a:rPr>
              <a:t>다운로드합니다</a:t>
            </a:r>
            <a:r>
              <a:rPr lang="en-US" sz="2000" b="0" dirty="0"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export NGC_API_KEY=&lt;your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ngc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key&gt;</a:t>
            </a:r>
            <a:endParaRPr dirty="0"/>
          </a:p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helm fetch &lt;api.tgz&gt; --username=\$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oauthtoken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--password=$NGC_API_KEY –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untar</a:t>
            </a:r>
            <a:endParaRPr dirty="0"/>
          </a:p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2. 위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명령을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실행하면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현재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디렉토리에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Riva-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api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폴더가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생성됩니다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dirty="0"/>
          </a:p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3.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대화형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AI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서비스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비활성화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시스템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오류를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처리하기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위한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복제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수,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사전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구축된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모델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제거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등과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같은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맞춤형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모델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요구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사항에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따라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디렉토리의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values.yaml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파일을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수정합니다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dirty="0"/>
          </a:p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4.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Helm을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사용해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차트를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배포하고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Riva-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api를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설치합니다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dirty="0"/>
          </a:p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 sz="1833" b="0" i="0" u="none" strike="noStrik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33" b="1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배포를</a:t>
            </a:r>
            <a:r>
              <a:rPr lang="en-US" sz="1833" b="1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1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위해</a:t>
            </a:r>
            <a:r>
              <a:rPr lang="en-US" sz="1833" b="1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1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필요한</a:t>
            </a:r>
            <a:r>
              <a:rPr lang="en-US" sz="1833" b="1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1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전제</a:t>
            </a:r>
            <a:r>
              <a:rPr lang="en-US" sz="1833" b="1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1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단계</a:t>
            </a:r>
            <a:r>
              <a:rPr lang="en-US" sz="1833" b="1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endParaRPr dirty="0"/>
          </a:p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Helm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배포에서는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NGC에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대한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액세스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권한을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얻기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위해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두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개의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Kubernetes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암호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 Docker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이미지용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암호와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모델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아티팩트용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암호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)를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사용합니다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기본적으로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이러한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암호의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이름은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각각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1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Riva-</a:t>
            </a:r>
            <a:r>
              <a:rPr lang="en-US" sz="1833" b="1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</a:t>
            </a:r>
            <a:r>
              <a:rPr lang="en-US" sz="1833" b="1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dirty="0"/>
          </a:p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33" b="1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regcred</a:t>
            </a:r>
            <a:r>
              <a:rPr lang="en-US" sz="1833" b="1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및 </a:t>
            </a:r>
            <a:r>
              <a:rPr lang="en-US" sz="1833" b="1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Riva-</a:t>
            </a:r>
            <a:r>
              <a:rPr lang="en-US" sz="1833" b="1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ngc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read입니다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암호의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이름은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values.yaml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파일에서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수정할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수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있습니다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dirty="0"/>
          </a:p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 sz="1833" b="0" i="0" u="none" strike="noStrik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다음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명령을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각각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사용하여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Riva-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regcred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암호와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Riva-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ngc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암호를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구성합니다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dirty="0"/>
          </a:p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kubectl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create secret generic Riva-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regcred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--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fromfile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=.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dockerconfigjson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=$HOME/.docker/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config.json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--type=kubernetes.io/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dockerconfigjson</a:t>
            </a:r>
            <a:endParaRPr dirty="0"/>
          </a:p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kubectl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create secret generic Riva-</a:t>
            </a:r>
            <a:r>
              <a:rPr lang="en-US" sz="1833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ngc</a:t>
            </a:r>
            <a:r>
              <a:rPr lang="en-US" sz="1833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-read --from-literal=key=$NGC_API_KEY</a:t>
            </a:r>
            <a:endParaRPr dirty="0"/>
          </a:p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 sz="1833" b="1" i="0" u="none" strike="noStrik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1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110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8" name="Google Shape;2048;p11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 fontScale="4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시각적</a:t>
            </a:r>
            <a:r>
              <a:rPr lang="en-US" b="1" dirty="0"/>
              <a:t> </a:t>
            </a:r>
            <a:r>
              <a:rPr lang="en-US" b="1" dirty="0" err="1"/>
              <a:t>화자</a:t>
            </a:r>
            <a:r>
              <a:rPr lang="en-US" b="1" dirty="0"/>
              <a:t> </a:t>
            </a:r>
            <a:r>
              <a:rPr lang="en-US" b="1" dirty="0" err="1"/>
              <a:t>구분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37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lt1"/>
                </a:solidFill>
              </a:rPr>
              <a:t>얼굴</a:t>
            </a:r>
            <a:r>
              <a:rPr lang="en-US" sz="1400" dirty="0">
                <a:solidFill>
                  <a:schemeClr val="lt1"/>
                </a:solidFill>
              </a:rPr>
              <a:t> </a:t>
            </a:r>
            <a:r>
              <a:rPr lang="en-US" sz="1400" dirty="0" err="1">
                <a:solidFill>
                  <a:schemeClr val="lt1"/>
                </a:solidFill>
              </a:rPr>
              <a:t>검출</a:t>
            </a:r>
            <a:r>
              <a:rPr lang="en-US" sz="1400" dirty="0">
                <a:solidFill>
                  <a:schemeClr val="lt1"/>
                </a:solidFill>
              </a:rPr>
              <a:t> 및 </a:t>
            </a:r>
            <a:r>
              <a:rPr lang="en-US" sz="1400" dirty="0" err="1">
                <a:solidFill>
                  <a:schemeClr val="lt1"/>
                </a:solidFill>
              </a:rPr>
              <a:t>입술</a:t>
            </a:r>
            <a:r>
              <a:rPr lang="en-US" sz="1400" dirty="0">
                <a:solidFill>
                  <a:schemeClr val="lt1"/>
                </a:solidFill>
              </a:rPr>
              <a:t> </a:t>
            </a:r>
            <a:r>
              <a:rPr lang="en-US" sz="1400" dirty="0" err="1">
                <a:solidFill>
                  <a:schemeClr val="lt1"/>
                </a:solidFill>
              </a:rPr>
              <a:t>활동으로</a:t>
            </a:r>
            <a:r>
              <a:rPr lang="en-US" sz="1400" dirty="0">
                <a:solidFill>
                  <a:schemeClr val="lt1"/>
                </a:solidFill>
              </a:rPr>
              <a:t> </a:t>
            </a:r>
            <a:r>
              <a:rPr lang="en-US" sz="1400" dirty="0" err="1">
                <a:solidFill>
                  <a:schemeClr val="lt1"/>
                </a:solidFill>
              </a:rPr>
              <a:t>다중</a:t>
            </a:r>
            <a:r>
              <a:rPr lang="en-US" sz="1400" dirty="0">
                <a:solidFill>
                  <a:schemeClr val="lt1"/>
                </a:solidFill>
              </a:rPr>
              <a:t> </a:t>
            </a:r>
            <a:r>
              <a:rPr lang="en-US" sz="1400" dirty="0" err="1">
                <a:solidFill>
                  <a:schemeClr val="lt1"/>
                </a:solidFill>
              </a:rPr>
              <a:t>맥락</a:t>
            </a:r>
            <a:r>
              <a:rPr lang="en-US" sz="1400" dirty="0">
                <a:solidFill>
                  <a:schemeClr val="lt1"/>
                </a:solidFill>
              </a:rPr>
              <a:t> </a:t>
            </a:r>
            <a:r>
              <a:rPr lang="en-US" sz="1400" dirty="0" err="1">
                <a:solidFill>
                  <a:schemeClr val="lt1"/>
                </a:solidFill>
              </a:rPr>
              <a:t>대화를</a:t>
            </a:r>
            <a:r>
              <a:rPr lang="en-US" sz="1400" dirty="0">
                <a:solidFill>
                  <a:schemeClr val="lt1"/>
                </a:solidFill>
              </a:rPr>
              <a:t> </a:t>
            </a:r>
            <a:r>
              <a:rPr lang="en-US" sz="1400" dirty="0" err="1">
                <a:solidFill>
                  <a:schemeClr val="lt1"/>
                </a:solidFill>
              </a:rPr>
              <a:t>처리합니다</a:t>
            </a:r>
            <a:r>
              <a:rPr lang="en-US" sz="1400" dirty="0">
                <a:solidFill>
                  <a:schemeClr val="lt1"/>
                </a:solidFill>
              </a:rPr>
              <a:t>.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lt1"/>
                </a:solidFill>
              </a:rPr>
              <a:t>다중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사용자</a:t>
            </a:r>
            <a:r>
              <a:rPr lang="en-US" sz="1200" dirty="0">
                <a:solidFill>
                  <a:schemeClr val="lt1"/>
                </a:solidFill>
              </a:rPr>
              <a:t> 및 </a:t>
            </a:r>
            <a:r>
              <a:rPr lang="en-US" sz="1200" dirty="0" err="1">
                <a:solidFill>
                  <a:schemeClr val="lt1"/>
                </a:solidFill>
              </a:rPr>
              <a:t>다중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맥락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대화를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지원할</a:t>
            </a:r>
            <a:r>
              <a:rPr lang="en-US" sz="1200" dirty="0">
                <a:solidFill>
                  <a:schemeClr val="lt1"/>
                </a:solidFill>
              </a:rPr>
              <a:t> 수 </a:t>
            </a:r>
            <a:r>
              <a:rPr lang="en-US" sz="1200" dirty="0" err="1">
                <a:solidFill>
                  <a:schemeClr val="lt1"/>
                </a:solidFill>
              </a:rPr>
              <a:t>있는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센서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융합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기술</a:t>
            </a:r>
            <a:r>
              <a:rPr lang="en-US" sz="1200" dirty="0">
                <a:solidFill>
                  <a:schemeClr val="lt1"/>
                </a:solidFill>
              </a:rPr>
              <a:t>. 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37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</a:rPr>
              <a:t>	</a:t>
            </a:r>
            <a:r>
              <a:rPr lang="en-US" sz="1200" dirty="0" err="1">
                <a:solidFill>
                  <a:schemeClr val="lt1"/>
                </a:solidFill>
              </a:rPr>
              <a:t>맥락을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이해할</a:t>
            </a:r>
            <a:r>
              <a:rPr lang="en-US" sz="1200" dirty="0">
                <a:solidFill>
                  <a:schemeClr val="lt1"/>
                </a:solidFill>
              </a:rPr>
              <a:t> 수 </a:t>
            </a:r>
            <a:r>
              <a:rPr lang="en-US" sz="1200" dirty="0" err="1">
                <a:solidFill>
                  <a:schemeClr val="lt1"/>
                </a:solidFill>
              </a:rPr>
              <a:t>있는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얼굴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검출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</a:rPr>
              <a:t>	</a:t>
            </a:r>
            <a:r>
              <a:rPr lang="en-US" sz="1200" dirty="0" err="1">
                <a:solidFill>
                  <a:schemeClr val="lt1"/>
                </a:solidFill>
              </a:rPr>
              <a:t>말하고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있는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화자를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판별할</a:t>
            </a:r>
            <a:r>
              <a:rPr lang="en-US" sz="1200" dirty="0">
                <a:solidFill>
                  <a:schemeClr val="lt1"/>
                </a:solidFill>
              </a:rPr>
              <a:t> 수 </a:t>
            </a:r>
            <a:r>
              <a:rPr lang="en-US" sz="1200" dirty="0" err="1">
                <a:solidFill>
                  <a:schemeClr val="lt1"/>
                </a:solidFill>
              </a:rPr>
              <a:t>있는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입술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활동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</a:rPr>
              <a:t>	</a:t>
            </a:r>
            <a:r>
              <a:rPr lang="en-US" sz="1200" dirty="0" err="1">
                <a:solidFill>
                  <a:schemeClr val="lt1"/>
                </a:solidFill>
              </a:rPr>
              <a:t>오디오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전사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</a:rPr>
              <a:t>	</a:t>
            </a:r>
            <a:r>
              <a:rPr lang="en-US" sz="1200" dirty="0" err="1">
                <a:solidFill>
                  <a:schemeClr val="lt1"/>
                </a:solidFill>
              </a:rPr>
              <a:t>개별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화자당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레이블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전사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lt1"/>
                </a:solidFill>
              </a:rPr>
              <a:t>추론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모델과의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직접적인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상호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작용을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위한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gRPC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엔드포인트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</a:rPr>
              <a:t>Look To Talk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endParaRPr sz="1200" b="1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37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</a:rPr>
              <a:t>AI </a:t>
            </a:r>
            <a:r>
              <a:rPr lang="en-US" sz="1400" dirty="0" err="1">
                <a:solidFill>
                  <a:schemeClr val="lt1"/>
                </a:solidFill>
              </a:rPr>
              <a:t>어시스턴트를</a:t>
            </a:r>
            <a:r>
              <a:rPr lang="en-US" sz="1400" dirty="0">
                <a:solidFill>
                  <a:schemeClr val="lt1"/>
                </a:solidFill>
              </a:rPr>
              <a:t> </a:t>
            </a:r>
            <a:r>
              <a:rPr lang="en-US" sz="1400" dirty="0" err="1">
                <a:solidFill>
                  <a:schemeClr val="lt1"/>
                </a:solidFill>
              </a:rPr>
              <a:t>트리거하기</a:t>
            </a:r>
            <a:r>
              <a:rPr lang="en-US" sz="1400" dirty="0">
                <a:solidFill>
                  <a:schemeClr val="lt1"/>
                </a:solidFill>
              </a:rPr>
              <a:t> </a:t>
            </a:r>
            <a:r>
              <a:rPr lang="en-US" sz="1400" dirty="0" err="1">
                <a:solidFill>
                  <a:schemeClr val="lt1"/>
                </a:solidFill>
              </a:rPr>
              <a:t>위해</a:t>
            </a:r>
            <a:r>
              <a:rPr lang="en-US" sz="1400" dirty="0">
                <a:solidFill>
                  <a:schemeClr val="lt1"/>
                </a:solidFill>
              </a:rPr>
              <a:t> </a:t>
            </a:r>
            <a:r>
              <a:rPr lang="en-US" sz="1400" dirty="0" err="1">
                <a:solidFill>
                  <a:schemeClr val="lt1"/>
                </a:solidFill>
              </a:rPr>
              <a:t>호출어가</a:t>
            </a:r>
            <a:r>
              <a:rPr lang="en-US" sz="1400" dirty="0">
                <a:solidFill>
                  <a:schemeClr val="lt1"/>
                </a:solidFill>
              </a:rPr>
              <a:t> </a:t>
            </a:r>
            <a:r>
              <a:rPr lang="en-US" sz="1400" dirty="0" err="1">
                <a:solidFill>
                  <a:schemeClr val="lt1"/>
                </a:solidFill>
              </a:rPr>
              <a:t>필요하지</a:t>
            </a:r>
            <a:r>
              <a:rPr lang="en-US" sz="1400" dirty="0">
                <a:solidFill>
                  <a:schemeClr val="lt1"/>
                </a:solidFill>
              </a:rPr>
              <a:t> </a:t>
            </a:r>
            <a:r>
              <a:rPr lang="en-US" sz="1400" dirty="0" err="1">
                <a:solidFill>
                  <a:schemeClr val="lt1"/>
                </a:solidFill>
              </a:rPr>
              <a:t>않음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</a:rPr>
              <a:t>AI </a:t>
            </a:r>
            <a:r>
              <a:rPr lang="en-US" sz="1200" dirty="0" err="1">
                <a:solidFill>
                  <a:schemeClr val="lt1"/>
                </a:solidFill>
              </a:rPr>
              <a:t>어시스턴트를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자동으로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트리거할</a:t>
            </a:r>
            <a:r>
              <a:rPr lang="en-US" sz="1200" dirty="0">
                <a:solidFill>
                  <a:schemeClr val="lt1"/>
                </a:solidFill>
              </a:rPr>
              <a:t> 수 </a:t>
            </a:r>
            <a:r>
              <a:rPr lang="en-US" sz="1200" dirty="0" err="1">
                <a:solidFill>
                  <a:schemeClr val="lt1"/>
                </a:solidFill>
              </a:rPr>
              <a:t>있는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센서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융합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기술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37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</a:rPr>
              <a:t>	</a:t>
            </a:r>
            <a:r>
              <a:rPr lang="en-US" sz="1200" dirty="0" err="1">
                <a:solidFill>
                  <a:schemeClr val="lt1"/>
                </a:solidFill>
              </a:rPr>
              <a:t>사용자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참여를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파악할</a:t>
            </a:r>
            <a:r>
              <a:rPr lang="en-US" sz="1200" dirty="0">
                <a:solidFill>
                  <a:schemeClr val="lt1"/>
                </a:solidFill>
              </a:rPr>
              <a:t> 수 </a:t>
            </a:r>
            <a:r>
              <a:rPr lang="en-US" sz="1200" dirty="0" err="1">
                <a:solidFill>
                  <a:schemeClr val="lt1"/>
                </a:solidFill>
              </a:rPr>
              <a:t>있는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시선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추적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</a:rPr>
              <a:t>	</a:t>
            </a:r>
            <a:r>
              <a:rPr lang="en-US" sz="1200" dirty="0" err="1">
                <a:solidFill>
                  <a:schemeClr val="lt1"/>
                </a:solidFill>
              </a:rPr>
              <a:t>오디오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전사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</a:rPr>
              <a:t>	</a:t>
            </a:r>
            <a:r>
              <a:rPr lang="en-US" sz="1200" dirty="0" err="1">
                <a:solidFill>
                  <a:schemeClr val="lt1"/>
                </a:solidFill>
              </a:rPr>
              <a:t>개별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화자당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레이블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전사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lt1"/>
                </a:solidFill>
              </a:rPr>
              <a:t>추론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모델과의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직접적인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상호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작용을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위한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gRPC</a:t>
            </a:r>
            <a:r>
              <a:rPr lang="en-US" sz="1200" dirty="0">
                <a:solidFill>
                  <a:schemeClr val="lt1"/>
                </a:solidFill>
              </a:rPr>
              <a:t> </a:t>
            </a:r>
            <a:r>
              <a:rPr lang="en-US" sz="1200" dirty="0" err="1">
                <a:solidFill>
                  <a:schemeClr val="lt1"/>
                </a:solidFill>
              </a:rPr>
              <a:t>엔드포인트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endParaRPr sz="1200" b="1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</a:rPr>
              <a:t>________________________________________________________________________________________________________________________________________________________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endParaRPr sz="1200"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Look To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Talk은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시선을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사용해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사용자가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어디를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바라보고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있는지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파악할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수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있습니다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. Riva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구성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설정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후에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사용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사례가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시작되면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다음과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같이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진행됩니다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200" b="0" i="0" u="none" strike="noStrik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1.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상단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구석에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1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대화</a:t>
            </a:r>
            <a:r>
              <a:rPr lang="en-US" sz="1200" b="1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-US" sz="1200" b="1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비활성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이라고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표시된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텍스트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렌더가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보입니다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dirty="0"/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2.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사용자가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카메라를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바라본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다음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Look to Talk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사례를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"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활성화"하면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텍스트와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색상이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1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대화</a:t>
            </a:r>
            <a:r>
              <a:rPr lang="en-US" sz="1200" b="1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-US" sz="1200" b="1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활성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으로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변경됩니다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dirty="0"/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3.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이제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사용자가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어시스턴트에게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말하면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대화가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진행되는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동안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상자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모양의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프레임이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화자의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얼굴과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화면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하단의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ASR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전사를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둘러쌉니다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dirty="0"/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4. Riva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어시스턴트에서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유효한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응답이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있으면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스피커에서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텍스트가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음성으로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변환되어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출력됩니다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dirty="0"/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None/>
            </a:pPr>
            <a:endParaRPr sz="1200" b="0" i="0" u="none" strike="noStrik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2051"/>
              <a:buFont typeface="Arial"/>
              <a:buChar char="-"/>
            </a:pP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NeMo를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이용한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파인튜닝을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통해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모델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정확도를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개선할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수도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있습니다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2051"/>
              <a:buFont typeface="Arial"/>
              <a:buChar char="-"/>
            </a:pP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NGC의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Docker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컨테이너를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통해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Kubernetes(EGX)로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배포할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수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있습니다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2051"/>
              <a:buFont typeface="Trebuchet MS"/>
              <a:buNone/>
            </a:pP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17"/>
              </a:spcBef>
              <a:spcAft>
                <a:spcPts val="0"/>
              </a:spcAft>
              <a:buNone/>
            </a:pPr>
            <a:endParaRPr sz="1200"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76"/>
              </a:spcBef>
              <a:spcAft>
                <a:spcPts val="0"/>
              </a:spcAft>
              <a:buNone/>
            </a:pPr>
            <a:r>
              <a:rPr lang="en-US" b="1" dirty="0" err="1"/>
              <a:t>가상</a:t>
            </a:r>
            <a:r>
              <a:rPr lang="en-US" b="1" dirty="0"/>
              <a:t> </a:t>
            </a:r>
            <a:r>
              <a:rPr lang="en-US" b="1" dirty="0" err="1"/>
              <a:t>어시스턴트</a:t>
            </a:r>
            <a:endParaRPr dirty="0"/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b="0" dirty="0" err="1">
                <a:latin typeface="Arial"/>
                <a:ea typeface="Arial"/>
                <a:cs typeface="Arial"/>
                <a:sym typeface="Arial"/>
              </a:rPr>
              <a:t>가상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dirty="0" err="1">
                <a:latin typeface="Arial"/>
                <a:ea typeface="Arial"/>
                <a:cs typeface="Arial"/>
                <a:sym typeface="Arial"/>
              </a:rPr>
              <a:t>어시스턴트의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 각 </a:t>
            </a:r>
            <a:r>
              <a:rPr lang="en-US" sz="1200" b="0" dirty="0" err="1">
                <a:latin typeface="Arial"/>
                <a:ea typeface="Arial"/>
                <a:cs typeface="Arial"/>
                <a:sym typeface="Arial"/>
              </a:rPr>
              <a:t>단계에서는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dirty="0" err="1">
                <a:latin typeface="Arial"/>
                <a:ea typeface="Arial"/>
                <a:cs typeface="Arial"/>
                <a:sym typeface="Arial"/>
              </a:rPr>
              <a:t>어떤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dirty="0" err="1">
                <a:latin typeface="Arial"/>
                <a:ea typeface="Arial"/>
                <a:cs typeface="Arial"/>
                <a:sym typeface="Arial"/>
              </a:rPr>
              <a:t>일이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dirty="0" err="1">
                <a:latin typeface="Arial"/>
                <a:ea typeface="Arial"/>
                <a:cs typeface="Arial"/>
                <a:sym typeface="Arial"/>
              </a:rPr>
              <a:t>발생합니까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?</a:t>
            </a:r>
            <a:endParaRPr dirty="0"/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b="1" dirty="0">
                <a:latin typeface="Arial"/>
                <a:ea typeface="Arial"/>
                <a:cs typeface="Arial"/>
                <a:sym typeface="Arial"/>
              </a:rPr>
              <a:t>ASR </a:t>
            </a:r>
            <a:r>
              <a:rPr lang="en-US" sz="1200" b="1" dirty="0" err="1">
                <a:latin typeface="Arial"/>
                <a:ea typeface="Arial"/>
                <a:cs typeface="Arial"/>
                <a:sym typeface="Arial"/>
              </a:rPr>
              <a:t>서비스</a:t>
            </a:r>
            <a:r>
              <a:rPr lang="en-US" sz="1200" b="1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 b="0" dirty="0" err="1">
                <a:latin typeface="Arial"/>
                <a:ea typeface="Arial"/>
                <a:cs typeface="Arial"/>
                <a:sym typeface="Arial"/>
              </a:rPr>
              <a:t>음성을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dirty="0" err="1">
                <a:latin typeface="Arial"/>
                <a:ea typeface="Arial"/>
                <a:cs typeface="Arial"/>
                <a:sym typeface="Arial"/>
              </a:rPr>
              <a:t>텍스트로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dirty="0" err="1">
                <a:latin typeface="Arial"/>
                <a:ea typeface="Arial"/>
                <a:cs typeface="Arial"/>
                <a:sym typeface="Arial"/>
              </a:rPr>
              <a:t>변환해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dirty="0" err="1">
                <a:latin typeface="Arial"/>
                <a:ea typeface="Arial"/>
                <a:cs typeface="Arial"/>
                <a:sym typeface="Arial"/>
              </a:rPr>
              <a:t>챗봇에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dirty="0" err="1">
                <a:latin typeface="Arial"/>
                <a:ea typeface="Arial"/>
                <a:cs typeface="Arial"/>
                <a:sym typeface="Arial"/>
              </a:rPr>
              <a:t>제출합니다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. </a:t>
            </a:r>
            <a:endParaRPr dirty="0"/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b="1" dirty="0">
                <a:latin typeface="Arial"/>
                <a:ea typeface="Arial"/>
                <a:cs typeface="Arial"/>
                <a:sym typeface="Arial"/>
              </a:rPr>
              <a:t>NLP </a:t>
            </a:r>
            <a:r>
              <a:rPr lang="en-US" sz="1200" b="1" dirty="0" err="1">
                <a:latin typeface="Arial"/>
                <a:ea typeface="Arial"/>
                <a:cs typeface="Arial"/>
                <a:sym typeface="Arial"/>
              </a:rPr>
              <a:t>서비스</a:t>
            </a:r>
            <a:r>
              <a:rPr lang="en-US" sz="1200" b="1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의도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인식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및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슬롯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채우기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접근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방식을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통해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쿼리를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해석하고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응답을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계산합니다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dirty="0"/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b="1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TTS </a:t>
            </a:r>
            <a:r>
              <a:rPr lang="en-US" sz="1200" b="1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서비스</a:t>
            </a:r>
            <a:r>
              <a:rPr lang="en-US" sz="1200" b="1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계산된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응답이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사용자에게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다시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음성으로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출력됩니다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sz="12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b="1" dirty="0" err="1">
                <a:latin typeface="Arial"/>
                <a:ea typeface="Arial"/>
                <a:cs typeface="Arial"/>
                <a:sym typeface="Arial"/>
              </a:rPr>
              <a:t>상태</a:t>
            </a:r>
            <a:r>
              <a:rPr lang="en-US" sz="12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dirty="0" err="1">
                <a:latin typeface="Arial"/>
                <a:ea typeface="Arial"/>
                <a:cs typeface="Arial"/>
                <a:sym typeface="Arial"/>
              </a:rPr>
              <a:t>머신</a:t>
            </a:r>
            <a:r>
              <a:rPr lang="en-US" sz="1200" b="1" dirty="0"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상태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머신의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다음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상태로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이동하기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위해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상태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머신의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각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노드에서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Riva ASR, Riva NLP,</a:t>
            </a:r>
            <a:endParaRPr dirty="0"/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또는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Riva TTS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서비스와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관련된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작업이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실행됩니다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dirty="0"/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None/>
            </a:pP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경로가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완료되면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상태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머신이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초기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상태로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되돌아갑니다</a:t>
            </a:r>
            <a:r>
              <a:rPr lang="en-US" sz="1200" b="0" i="0" u="none" strike="noStrik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2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79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2049" name="Google Shape;2049;p111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111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11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5" name="Google Shape;2065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1" name="Google Shape;2071;p11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u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72" name="Google Shape;2072;p113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15" descr="A picture containing text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49" y="3160775"/>
            <a:ext cx="2669325" cy="216438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15"/>
          <p:cNvSpPr txBox="1">
            <a:spLocks noGrp="1"/>
          </p:cNvSpPr>
          <p:nvPr>
            <p:ph type="subTitle" idx="1"/>
          </p:nvPr>
        </p:nvSpPr>
        <p:spPr>
          <a:xfrm>
            <a:off x="1143000" y="8290560"/>
            <a:ext cx="9692640" cy="47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0" name="Google Shape;20;p115"/>
          <p:cNvSpPr txBox="1">
            <a:spLocks noGrp="1"/>
          </p:cNvSpPr>
          <p:nvPr>
            <p:ph type="title"/>
          </p:nvPr>
        </p:nvSpPr>
        <p:spPr>
          <a:xfrm>
            <a:off x="1143000" y="6705601"/>
            <a:ext cx="9692640" cy="163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1" name="Google Shape;21;p115"/>
          <p:cNvPicPr preferRelativeResize="0"/>
          <p:nvPr/>
        </p:nvPicPr>
        <p:blipFill rotWithShape="1">
          <a:blip r:embed="rId4">
            <a:alphaModFix/>
          </a:blip>
          <a:srcRect l="40401" r="-3502"/>
          <a:stretch/>
        </p:blipFill>
        <p:spPr>
          <a:xfrm>
            <a:off x="3293717" y="3370707"/>
            <a:ext cx="3306588" cy="1815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/ Segue">
  <p:cSld name="Transition / Segu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17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8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ICON_Title, Subtitle, and Content">
  <p:cSld name="BULLET_ICON_Title, Subtitle,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8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8"/>
          <p:cNvSpPr txBox="1">
            <a:spLocks noGrp="1"/>
          </p:cNvSpPr>
          <p:nvPr>
            <p:ph type="body" idx="1"/>
          </p:nvPr>
        </p:nvSpPr>
        <p:spPr>
          <a:xfrm>
            <a:off x="861250" y="3505059"/>
            <a:ext cx="16581120" cy="6198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  <a:defRPr sz="2400">
                <a:solidFill>
                  <a:schemeClr val="accent4"/>
                </a:solidFill>
              </a:defRPr>
            </a:lvl1pPr>
            <a:lvl2pPr marL="914400" lvl="1" indent="-3238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Char char="•"/>
              <a:defRPr sz="2000">
                <a:solidFill>
                  <a:schemeClr val="accent4"/>
                </a:solidFill>
              </a:defRPr>
            </a:lvl2pPr>
            <a:lvl3pPr marL="1371600" lvl="2" indent="-314325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Trebuchet MS"/>
              <a:buChar char="•"/>
              <a:defRPr sz="1800">
                <a:solidFill>
                  <a:schemeClr val="accent4"/>
                </a:solidFill>
              </a:defRPr>
            </a:lvl3pPr>
            <a:lvl4pPr marL="1828800" lvl="3" indent="-30480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Char char="•"/>
              <a:defRPr sz="16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440245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333"/>
              <a:buFont typeface="Trebuchet M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" name="Google Shape;30;p118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3000"/>
              <a:buFont typeface="Trebuchet MS"/>
              <a:buNone/>
              <a:defRPr sz="3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933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Title, Subtitle, and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9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9"/>
          <p:cNvSpPr txBox="1">
            <a:spLocks noGrp="1"/>
          </p:cNvSpPr>
          <p:nvPr>
            <p:ph type="body" idx="1"/>
          </p:nvPr>
        </p:nvSpPr>
        <p:spPr>
          <a:xfrm>
            <a:off x="861250" y="3505059"/>
            <a:ext cx="16581120" cy="6198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  <a:defRPr sz="24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rebuchet MS"/>
              <a:buNone/>
              <a:defRPr sz="1833">
                <a:solidFill>
                  <a:schemeClr val="accent4"/>
                </a:solidFill>
              </a:defRPr>
            </a:lvl3pPr>
            <a:lvl4pPr marL="1828800" lvl="3" indent="-41910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rebuchet MS"/>
              <a:buChar char="▪"/>
              <a:defRPr sz="3000">
                <a:solidFill>
                  <a:schemeClr val="lt1"/>
                </a:solidFill>
              </a:defRPr>
            </a:lvl4pPr>
            <a:lvl5pPr marL="2286000" lvl="4" indent="-440245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333"/>
              <a:buFont typeface="Trebuchet M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4" name="Google Shape;34;p119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3000"/>
              <a:buFont typeface="Trebuchet MS"/>
              <a:buNone/>
              <a:defRPr sz="3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933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0"/>
          <p:cNvSpPr txBox="1">
            <a:spLocks noGrp="1"/>
          </p:cNvSpPr>
          <p:nvPr>
            <p:ph type="title"/>
          </p:nvPr>
        </p:nvSpPr>
        <p:spPr>
          <a:xfrm>
            <a:off x="830580" y="54463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0"/>
          <p:cNvSpPr txBox="1">
            <a:spLocks noGrp="1"/>
          </p:cNvSpPr>
          <p:nvPr>
            <p:ph type="body" idx="1"/>
          </p:nvPr>
        </p:nvSpPr>
        <p:spPr>
          <a:xfrm>
            <a:off x="861250" y="2531165"/>
            <a:ext cx="16581120" cy="717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chemeClr val="accent4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accent4"/>
                </a:solidFill>
              </a:defRPr>
            </a:lvl2pPr>
            <a:lvl3pPr marL="1371600" lvl="2" indent="-3619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accent4"/>
                </a:solidFill>
              </a:defRPr>
            </a:lvl3pPr>
            <a:lvl4pPr marL="1828800" lvl="3" indent="-41910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rebuchet MS"/>
              <a:buChar char="▪"/>
              <a:defRPr sz="3000">
                <a:solidFill>
                  <a:schemeClr val="lt1"/>
                </a:solidFill>
              </a:defRPr>
            </a:lvl4pPr>
            <a:lvl5pPr marL="2286000" lvl="4" indent="-440245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333"/>
              <a:buFont typeface="Trebuchet M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21" descr="A close up of an objec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9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- NO LOGO &amp; PAGE NUMBER">
  <p:cSld name="Title, Subtitle, and Content - NO LOGO &amp; PAGE NUMB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2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22"/>
          <p:cNvSpPr txBox="1">
            <a:spLocks noGrp="1"/>
          </p:cNvSpPr>
          <p:nvPr>
            <p:ph type="title"/>
          </p:nvPr>
        </p:nvSpPr>
        <p:spPr>
          <a:xfrm>
            <a:off x="830580" y="1102044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2"/>
          <p:cNvSpPr txBox="1">
            <a:spLocks noGrp="1"/>
          </p:cNvSpPr>
          <p:nvPr>
            <p:ph type="body" idx="1"/>
          </p:nvPr>
        </p:nvSpPr>
        <p:spPr>
          <a:xfrm>
            <a:off x="853440" y="3505059"/>
            <a:ext cx="16581120" cy="615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333"/>
              <a:buFont typeface="Trebuchet MS"/>
              <a:buNone/>
              <a:defRPr sz="3333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rebuchet MS"/>
              <a:buNone/>
              <a:defRPr sz="30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rebuchet MS"/>
              <a:buNone/>
              <a:defRPr sz="3000">
                <a:solidFill>
                  <a:schemeClr val="dk2"/>
                </a:solidFill>
              </a:defRPr>
            </a:lvl3pPr>
            <a:lvl4pPr marL="1828800" lvl="3" indent="-41910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rebuchet MS"/>
              <a:buChar char="▪"/>
              <a:defRPr sz="3000">
                <a:solidFill>
                  <a:schemeClr val="lt1"/>
                </a:solidFill>
              </a:defRPr>
            </a:lvl4pPr>
            <a:lvl5pPr marL="2286000" lvl="4" indent="-440245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333"/>
              <a:buFont typeface="Trebuchet M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4" name="Google Shape;44;p122"/>
          <p:cNvSpPr txBox="1">
            <a:spLocks noGrp="1"/>
          </p:cNvSpPr>
          <p:nvPr>
            <p:ph type="body" idx="2"/>
          </p:nvPr>
        </p:nvSpPr>
        <p:spPr>
          <a:xfrm>
            <a:off x="830580" y="1972222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000"/>
              <a:buFont typeface="Trebuchet MS"/>
              <a:buNone/>
              <a:defRPr sz="4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933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Two Content">
  <p:cSld name="Title, Subtitle, and Two Cont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3"/>
          <p:cNvSpPr txBox="1">
            <a:spLocks noGrp="1"/>
          </p:cNvSpPr>
          <p:nvPr>
            <p:ph type="title"/>
          </p:nvPr>
        </p:nvSpPr>
        <p:spPr>
          <a:xfrm>
            <a:off x="830580" y="1090588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3"/>
          <p:cNvSpPr txBox="1">
            <a:spLocks noGrp="1"/>
          </p:cNvSpPr>
          <p:nvPr>
            <p:ph type="body" idx="1"/>
          </p:nvPr>
        </p:nvSpPr>
        <p:spPr>
          <a:xfrm>
            <a:off x="830581" y="3519436"/>
            <a:ext cx="8241772" cy="615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000"/>
              <a:buFont typeface="Trebuchet MS"/>
              <a:buChar char="•"/>
              <a:defRPr sz="4000" b="0">
                <a:solidFill>
                  <a:schemeClr val="dk2"/>
                </a:solidFill>
              </a:defRPr>
            </a:lvl1pPr>
            <a:lvl2pPr marL="914400" lvl="1" indent="-440245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3333"/>
              <a:buFont typeface="Trebuchet MS"/>
              <a:buChar char="•"/>
              <a:defRPr sz="3333" b="0">
                <a:solidFill>
                  <a:schemeClr val="dk2"/>
                </a:solidFill>
              </a:defRPr>
            </a:lvl2pPr>
            <a:lvl3pPr marL="1371600" lvl="2" indent="-4191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3000"/>
              <a:buFont typeface="Trebuchet MS"/>
              <a:buChar char="•"/>
              <a:defRPr sz="3000" b="0">
                <a:solidFill>
                  <a:schemeClr val="dk2"/>
                </a:solidFill>
              </a:defRPr>
            </a:lvl3pPr>
            <a:lvl4pPr marL="1828800" lvl="3" indent="-419100" algn="l"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rebuchet MS"/>
              <a:buChar char="▪"/>
              <a:defRPr sz="3000" b="0">
                <a:solidFill>
                  <a:schemeClr val="lt1"/>
                </a:solidFill>
              </a:defRPr>
            </a:lvl4pPr>
            <a:lvl5pPr marL="2286000" lvl="4" indent="-4191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rebuchet MS"/>
              <a:buChar char="▪"/>
              <a:defRPr sz="3000" b="0">
                <a:solidFill>
                  <a:schemeClr val="lt1"/>
                </a:solidFill>
              </a:defRPr>
            </a:lvl5pPr>
            <a:lvl6pPr marL="2743200" lvl="5" indent="-4191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Char char="»"/>
              <a:defRPr sz="3000"/>
            </a:lvl6pPr>
            <a:lvl7pPr marL="3200400" lvl="6" indent="-4191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Char char="»"/>
              <a:defRPr sz="3000"/>
            </a:lvl7pPr>
            <a:lvl8pPr marL="3657600" lvl="7" indent="-4191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Char char="»"/>
              <a:defRPr sz="3000"/>
            </a:lvl8pPr>
            <a:lvl9pPr marL="4114800" lvl="8" indent="-4191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Char char="»"/>
              <a:defRPr sz="3000"/>
            </a:lvl9pPr>
          </a:lstStyle>
          <a:p>
            <a:endParaRPr/>
          </a:p>
        </p:txBody>
      </p:sp>
      <p:sp>
        <p:nvSpPr>
          <p:cNvPr id="48" name="Google Shape;48;p123"/>
          <p:cNvSpPr txBox="1">
            <a:spLocks noGrp="1"/>
          </p:cNvSpPr>
          <p:nvPr>
            <p:ph type="body" idx="2"/>
          </p:nvPr>
        </p:nvSpPr>
        <p:spPr>
          <a:xfrm>
            <a:off x="9215650" y="3519436"/>
            <a:ext cx="8241770" cy="615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000"/>
              <a:buFont typeface="Trebuchet MS"/>
              <a:buChar char="•"/>
              <a:defRPr sz="4000" b="0">
                <a:solidFill>
                  <a:schemeClr val="dk2"/>
                </a:solidFill>
              </a:defRPr>
            </a:lvl1pPr>
            <a:lvl2pPr marL="914400" lvl="1" indent="-440245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3333"/>
              <a:buFont typeface="Trebuchet MS"/>
              <a:buChar char="•"/>
              <a:defRPr sz="3333" b="0">
                <a:solidFill>
                  <a:schemeClr val="dk2"/>
                </a:solidFill>
              </a:defRPr>
            </a:lvl2pPr>
            <a:lvl3pPr marL="1371600" lvl="2" indent="-4191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3000"/>
              <a:buFont typeface="Trebuchet MS"/>
              <a:buChar char="•"/>
              <a:defRPr sz="3000" b="0">
                <a:solidFill>
                  <a:schemeClr val="dk2"/>
                </a:solidFill>
              </a:defRPr>
            </a:lvl3pPr>
            <a:lvl4pPr marL="1828800" lvl="3" indent="-419100" algn="l"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rebuchet MS"/>
              <a:buChar char="▪"/>
              <a:defRPr sz="3000" b="0">
                <a:solidFill>
                  <a:schemeClr val="lt1"/>
                </a:solidFill>
              </a:defRPr>
            </a:lvl4pPr>
            <a:lvl5pPr marL="2286000" lvl="4" indent="-4191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rebuchet MS"/>
              <a:buChar char="▪"/>
              <a:defRPr sz="3000" b="0">
                <a:solidFill>
                  <a:schemeClr val="lt1"/>
                </a:solidFill>
              </a:defRPr>
            </a:lvl5pPr>
            <a:lvl6pPr marL="2743200" lvl="5" indent="-4191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Char char="»"/>
              <a:defRPr sz="3000"/>
            </a:lvl6pPr>
            <a:lvl7pPr marL="3200400" lvl="6" indent="-4191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Char char="»"/>
              <a:defRPr sz="3000"/>
            </a:lvl7pPr>
            <a:lvl8pPr marL="3657600" lvl="7" indent="-4191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Char char="»"/>
              <a:defRPr sz="3000"/>
            </a:lvl8pPr>
            <a:lvl9pPr marL="4114800" lvl="8" indent="-4191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Char char="»"/>
              <a:defRPr sz="3000"/>
            </a:lvl9pPr>
          </a:lstStyle>
          <a:p>
            <a:endParaRPr/>
          </a:p>
        </p:txBody>
      </p:sp>
      <p:sp>
        <p:nvSpPr>
          <p:cNvPr id="49" name="Google Shape;49;p123"/>
          <p:cNvSpPr txBox="1">
            <a:spLocks noGrp="1"/>
          </p:cNvSpPr>
          <p:nvPr>
            <p:ph type="body" idx="3"/>
          </p:nvPr>
        </p:nvSpPr>
        <p:spPr>
          <a:xfrm>
            <a:off x="830580" y="1967614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000"/>
              <a:buFont typeface="Trebuchet MS"/>
              <a:buNone/>
              <a:defRPr sz="4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933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graph">
  <p:cSld name="Content with Photograph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4"/>
          <p:cNvSpPr txBox="1">
            <a:spLocks noGrp="1"/>
          </p:cNvSpPr>
          <p:nvPr>
            <p:ph type="title"/>
          </p:nvPr>
        </p:nvSpPr>
        <p:spPr>
          <a:xfrm>
            <a:off x="865387" y="2997651"/>
            <a:ext cx="7007337" cy="1031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4"/>
          <p:cNvSpPr txBox="1">
            <a:spLocks noGrp="1"/>
          </p:cNvSpPr>
          <p:nvPr>
            <p:ph type="body" idx="1"/>
          </p:nvPr>
        </p:nvSpPr>
        <p:spPr>
          <a:xfrm>
            <a:off x="865386" y="5119299"/>
            <a:ext cx="6988068" cy="419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8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8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accent4"/>
                </a:solidFill>
              </a:defRPr>
            </a:lvl3pPr>
            <a:lvl4pPr marL="1828800" lvl="3" indent="-419100" algn="l">
              <a:spcBef>
                <a:spcPts val="833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rebuchet MS"/>
              <a:buChar char="▪"/>
              <a:defRPr sz="3000">
                <a:solidFill>
                  <a:schemeClr val="lt1"/>
                </a:solidFill>
              </a:defRPr>
            </a:lvl4pPr>
            <a:lvl5pPr marL="2286000" lvl="4" indent="-440245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333"/>
              <a:buFont typeface="Trebuchet M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3" name="Google Shape;53;p124"/>
          <p:cNvSpPr txBox="1">
            <a:spLocks noGrp="1"/>
          </p:cNvSpPr>
          <p:nvPr>
            <p:ph type="body" idx="2"/>
          </p:nvPr>
        </p:nvSpPr>
        <p:spPr>
          <a:xfrm>
            <a:off x="865387" y="3913996"/>
            <a:ext cx="7007337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3000"/>
              <a:buFont typeface="Trebuchet MS"/>
              <a:buNone/>
              <a:defRPr sz="3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933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4" name="Google Shape;54;p124"/>
          <p:cNvSpPr/>
          <p:nvPr/>
        </p:nvSpPr>
        <p:spPr>
          <a:xfrm>
            <a:off x="16060020" y="9499859"/>
            <a:ext cx="2227980" cy="78714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24"/>
          <p:cNvSpPr txBox="1"/>
          <p:nvPr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200" cap="non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6" name="Google Shape;56;p1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820891" y="9722868"/>
            <a:ext cx="1084725" cy="385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2_Title, Subtitle, and Conte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5"/>
          <p:cNvSpPr txBox="1">
            <a:spLocks noGrp="1"/>
          </p:cNvSpPr>
          <p:nvPr>
            <p:ph type="title"/>
          </p:nvPr>
        </p:nvSpPr>
        <p:spPr>
          <a:xfrm>
            <a:off x="830580" y="1229044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5"/>
          <p:cNvSpPr txBox="1">
            <a:spLocks noGrp="1"/>
          </p:cNvSpPr>
          <p:nvPr>
            <p:ph type="body" idx="1"/>
          </p:nvPr>
        </p:nvSpPr>
        <p:spPr>
          <a:xfrm>
            <a:off x="861250" y="3505059"/>
            <a:ext cx="16581120" cy="6198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3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2667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333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30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/>
            </a:lvl8pPr>
            <a:lvl9pPr marL="4114800" lvl="8" indent="-3429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/>
            </a:lvl9pPr>
          </a:lstStyle>
          <a:p>
            <a:endParaRPr/>
          </a:p>
        </p:txBody>
      </p:sp>
      <p:sp>
        <p:nvSpPr>
          <p:cNvPr id="60" name="Google Shape;60;p125"/>
          <p:cNvSpPr txBox="1">
            <a:spLocks noGrp="1"/>
          </p:cNvSpPr>
          <p:nvPr>
            <p:ph type="body" idx="2"/>
          </p:nvPr>
        </p:nvSpPr>
        <p:spPr>
          <a:xfrm>
            <a:off x="830580" y="2099222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400"/>
              <a:buFont typeface="Trebuchet MS"/>
              <a:buNone/>
              <a:defRPr sz="4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800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800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933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/>
            </a:lvl8pPr>
            <a:lvl9pPr marL="4114800" lvl="8" indent="-34290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6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0999" cy="1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6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0999" cy="68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>
            <a:lvl1pPr marL="457200" lvl="0" indent="-368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rebuchet MS"/>
              <a:buChar char="●"/>
              <a:defRPr/>
            </a:lvl1pPr>
            <a:lvl2pPr marL="914400" lvl="1" indent="-336550" algn="l">
              <a:lnSpc>
                <a:spcPct val="90000"/>
              </a:lnSpc>
              <a:spcBef>
                <a:spcPts val="3167"/>
              </a:spcBef>
              <a:spcAft>
                <a:spcPts val="0"/>
              </a:spcAft>
              <a:buSzPts val="1700"/>
              <a:buFont typeface="Trebuchet MS"/>
              <a:buChar char="○"/>
              <a:defRPr/>
            </a:lvl2pPr>
            <a:lvl3pPr marL="1371600" lvl="2" indent="-336550" algn="l">
              <a:lnSpc>
                <a:spcPct val="90000"/>
              </a:lnSpc>
              <a:spcBef>
                <a:spcPts val="3167"/>
              </a:spcBef>
              <a:spcAft>
                <a:spcPts val="0"/>
              </a:spcAft>
              <a:buSzPts val="1700"/>
              <a:buFont typeface="Trebuchet MS"/>
              <a:buChar char="■"/>
              <a:defRPr/>
            </a:lvl3pPr>
            <a:lvl4pPr marL="1828800" lvl="3" indent="-336550" algn="l">
              <a:spcBef>
                <a:spcPts val="3167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rebuchet MS"/>
              <a:buChar char="●"/>
              <a:defRPr/>
            </a:lvl4pPr>
            <a:lvl5pPr marL="2286000" lvl="4" indent="-336550" algn="l">
              <a:spcBef>
                <a:spcPts val="3167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rebuchet MS"/>
              <a:buChar char="○"/>
              <a:defRPr/>
            </a:lvl5pPr>
            <a:lvl6pPr marL="2743200" lvl="5" indent="-336550" algn="l">
              <a:spcBef>
                <a:spcPts val="3167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rebuchet MS"/>
              <a:buChar char="■"/>
              <a:defRPr/>
            </a:lvl6pPr>
            <a:lvl7pPr marL="3200400" lvl="6" indent="-336550" algn="l">
              <a:spcBef>
                <a:spcPts val="3167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rebuchet MS"/>
              <a:buChar char="●"/>
              <a:defRPr/>
            </a:lvl7pPr>
            <a:lvl8pPr marL="3657600" lvl="7" indent="-336550" algn="l">
              <a:spcBef>
                <a:spcPts val="3167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rebuchet MS"/>
              <a:buChar char="○"/>
              <a:defRPr/>
            </a:lvl8pPr>
            <a:lvl9pPr marL="4114800" lvl="8" indent="-336550" algn="l">
              <a:spcBef>
                <a:spcPts val="3167"/>
              </a:spcBef>
              <a:spcAft>
                <a:spcPts val="3167"/>
              </a:spcAft>
              <a:buClr>
                <a:schemeClr val="dk2"/>
              </a:buClr>
              <a:buSzPts val="1700"/>
              <a:buFont typeface="Trebuchet MS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26"/>
          <p:cNvSpPr txBox="1">
            <a:spLocks noGrp="1"/>
          </p:cNvSpPr>
          <p:nvPr>
            <p:ph type="sldNum" idx="12"/>
          </p:nvPr>
        </p:nvSpPr>
        <p:spPr>
          <a:xfrm>
            <a:off x="16944916" y="9326433"/>
            <a:ext cx="1097500" cy="7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">
  <p:cSld name="1_CONFIDENTIAL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7"/>
          <p:cNvSpPr txBox="1">
            <a:spLocks noGrp="1"/>
          </p:cNvSpPr>
          <p:nvPr>
            <p:ph type="title"/>
          </p:nvPr>
        </p:nvSpPr>
        <p:spPr>
          <a:xfrm>
            <a:off x="830580" y="1229043"/>
            <a:ext cx="16626999" cy="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  <a:defRPr sz="60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27"/>
          <p:cNvSpPr txBox="1">
            <a:spLocks noGrp="1"/>
          </p:cNvSpPr>
          <p:nvPr>
            <p:ph type="body" idx="1"/>
          </p:nvPr>
        </p:nvSpPr>
        <p:spPr>
          <a:xfrm>
            <a:off x="861250" y="3505058"/>
            <a:ext cx="16581000" cy="61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3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2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3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3333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3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3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3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3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8" name="Google Shape;68;p127"/>
          <p:cNvSpPr txBox="1">
            <a:spLocks noGrp="1"/>
          </p:cNvSpPr>
          <p:nvPr>
            <p:ph type="body" idx="2"/>
          </p:nvPr>
        </p:nvSpPr>
        <p:spPr>
          <a:xfrm>
            <a:off x="830580" y="2099222"/>
            <a:ext cx="16626999" cy="8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  <a:defRPr sz="40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4667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4667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>
              <a:spcBef>
                <a:spcPts val="1667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4667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4667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3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3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3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3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8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28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8"/>
          <p:cNvSpPr txBox="1"/>
          <p:nvPr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200" cap="non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3" name="Google Shape;73;p1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820891" y="9722868"/>
            <a:ext cx="1084725" cy="385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title, and Content">
  <p:cSld name="1_Title, Subtitle, and Conte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9"/>
          <p:cNvSpPr txBox="1">
            <a:spLocks noGrp="1"/>
          </p:cNvSpPr>
          <p:nvPr>
            <p:ph type="title"/>
          </p:nvPr>
        </p:nvSpPr>
        <p:spPr>
          <a:xfrm>
            <a:off x="830580" y="868683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9"/>
          <p:cNvSpPr txBox="1">
            <a:spLocks noGrp="1"/>
          </p:cNvSpPr>
          <p:nvPr>
            <p:ph type="body" idx="1"/>
          </p:nvPr>
        </p:nvSpPr>
        <p:spPr>
          <a:xfrm>
            <a:off x="861250" y="3505061"/>
            <a:ext cx="16581120" cy="6198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  <a:defRPr sz="24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rebuchet MS"/>
              <a:buNone/>
              <a:defRPr sz="1833">
                <a:solidFill>
                  <a:schemeClr val="accent4"/>
                </a:solidFill>
              </a:defRPr>
            </a:lvl3pPr>
            <a:lvl4pPr marL="1828800" lvl="3" indent="-41910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rebuchet MS"/>
              <a:buChar char="▪"/>
              <a:defRPr sz="3000">
                <a:solidFill>
                  <a:schemeClr val="lt1"/>
                </a:solidFill>
              </a:defRPr>
            </a:lvl4pPr>
            <a:lvl5pPr marL="2286000" lvl="4" indent="-440245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333"/>
              <a:buFont typeface="Trebuchet M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7" name="Google Shape;77;p129"/>
          <p:cNvSpPr txBox="1">
            <a:spLocks noGrp="1"/>
          </p:cNvSpPr>
          <p:nvPr>
            <p:ph type="body" idx="2"/>
          </p:nvPr>
        </p:nvSpPr>
        <p:spPr>
          <a:xfrm>
            <a:off x="830580" y="1813562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3000"/>
              <a:buFont typeface="Trebuchet MS"/>
              <a:buNone/>
              <a:defRPr sz="3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933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">
  <p:cSld name="Closing Slide"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30" descr="A close up of a spider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0" descr="A picture containing text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00687" y="7982157"/>
            <a:ext cx="2669325" cy="2164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0"/>
          <p:cNvPicPr preferRelativeResize="0"/>
          <p:nvPr/>
        </p:nvPicPr>
        <p:blipFill rotWithShape="1">
          <a:blip r:embed="rId4">
            <a:alphaModFix/>
          </a:blip>
          <a:srcRect l="40401" r="-3502"/>
          <a:stretch/>
        </p:blipFill>
        <p:spPr>
          <a:xfrm>
            <a:off x="14748655" y="8192089"/>
            <a:ext cx="3306588" cy="1815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_BULLET_ICON_Title, Subtitle, and Content">
  <p:cSld name="CODE_BULLET_ICON_Title, Subtitle, and Conte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1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1"/>
          <p:cNvSpPr txBox="1">
            <a:spLocks noGrp="1"/>
          </p:cNvSpPr>
          <p:nvPr>
            <p:ph type="body" idx="1"/>
          </p:nvPr>
        </p:nvSpPr>
        <p:spPr>
          <a:xfrm>
            <a:off x="861250" y="3505059"/>
            <a:ext cx="16581120" cy="6198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  <a:defRPr sz="2400">
                <a:solidFill>
                  <a:schemeClr val="accent4"/>
                </a:solidFill>
              </a:defRPr>
            </a:lvl1pPr>
            <a:lvl2pPr marL="914400" lvl="1" indent="-3238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Char char="•"/>
              <a:defRPr sz="2000">
                <a:solidFill>
                  <a:schemeClr val="accent4"/>
                </a:solidFill>
              </a:defRPr>
            </a:lvl2pPr>
            <a:lvl3pPr marL="1371600" lvl="2" indent="-314325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Trebuchet MS"/>
              <a:buChar char="•"/>
              <a:defRPr sz="1800">
                <a:solidFill>
                  <a:schemeClr val="accent4"/>
                </a:solidFill>
              </a:defRPr>
            </a:lvl3pPr>
            <a:lvl4pPr marL="1828800" lvl="3" indent="-30480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Char char="•"/>
              <a:defRPr sz="16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440245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333"/>
              <a:buFont typeface="Trebuchet M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31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3000"/>
              <a:buFont typeface="Courier New"/>
              <a:buNone/>
              <a:defRPr sz="3000" b="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933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">
  <p:cSld name="CONFIDENTIAL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2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2"/>
          <p:cNvSpPr txBox="1">
            <a:spLocks noGrp="1"/>
          </p:cNvSpPr>
          <p:nvPr>
            <p:ph type="body" idx="1"/>
          </p:nvPr>
        </p:nvSpPr>
        <p:spPr>
          <a:xfrm>
            <a:off x="861250" y="3505059"/>
            <a:ext cx="16581120" cy="6198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  <a:defRPr sz="24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accent4"/>
                </a:solidFill>
              </a:defRPr>
            </a:lvl3pPr>
            <a:lvl4pPr marL="1828800" lvl="3" indent="-41910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rebuchet MS"/>
              <a:buChar char="▪"/>
              <a:defRPr sz="3000">
                <a:solidFill>
                  <a:schemeClr val="lt1"/>
                </a:solidFill>
              </a:defRPr>
            </a:lvl4pPr>
            <a:lvl5pPr marL="2286000" lvl="4" indent="-440245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333"/>
              <a:buFont typeface="Trebuchet M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9" name="Google Shape;89;p132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3000"/>
              <a:buFont typeface="Trebuchet MS"/>
              <a:buNone/>
              <a:defRPr sz="3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933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90" name="Google Shape;90;p132"/>
          <p:cNvSpPr/>
          <p:nvPr/>
        </p:nvSpPr>
        <p:spPr>
          <a:xfrm>
            <a:off x="280472" y="9613267"/>
            <a:ext cx="4604777" cy="41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rebuchet MS"/>
              <a:buNone/>
            </a:pPr>
            <a:r>
              <a:rPr lang="en-US" sz="1200" b="1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Content - NO LOGO &amp; PAGE NUMBER">
  <p:cSld name="Title, Subtitle, Content - NO LOGO &amp; PAGE 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3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3"/>
          <p:cNvSpPr txBox="1">
            <a:spLocks noGrp="1"/>
          </p:cNvSpPr>
          <p:nvPr>
            <p:ph type="body" idx="1"/>
          </p:nvPr>
        </p:nvSpPr>
        <p:spPr>
          <a:xfrm>
            <a:off x="853440" y="3505059"/>
            <a:ext cx="16581120" cy="615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  <a:defRPr sz="24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accent4"/>
                </a:solidFill>
              </a:defRPr>
            </a:lvl3pPr>
            <a:lvl4pPr marL="1828800" lvl="3" indent="-41910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rebuchet MS"/>
              <a:buChar char="▪"/>
              <a:defRPr sz="3000">
                <a:solidFill>
                  <a:schemeClr val="lt1"/>
                </a:solidFill>
              </a:defRPr>
            </a:lvl4pPr>
            <a:lvl5pPr marL="2286000" lvl="4" indent="-440245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333"/>
              <a:buFont typeface="Trebuchet M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94" name="Google Shape;94;p133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3000"/>
              <a:buFont typeface="Trebuchet MS"/>
              <a:buNone/>
              <a:defRPr sz="3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933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95" name="Google Shape;95;p133"/>
          <p:cNvSpPr/>
          <p:nvPr/>
        </p:nvSpPr>
        <p:spPr>
          <a:xfrm>
            <a:off x="16446823" y="9716467"/>
            <a:ext cx="1841178" cy="5705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3"/>
          <p:cNvSpPr txBox="1"/>
          <p:nvPr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200" cap="non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7" name="Google Shape;97;p1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820891" y="9722868"/>
            <a:ext cx="1084725" cy="385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_Content with Photograph">
  <p:cSld name="CODE_Content with Photograph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4"/>
          <p:cNvSpPr txBox="1">
            <a:spLocks noGrp="1"/>
          </p:cNvSpPr>
          <p:nvPr>
            <p:ph type="title"/>
          </p:nvPr>
        </p:nvSpPr>
        <p:spPr>
          <a:xfrm>
            <a:off x="865387" y="2997651"/>
            <a:ext cx="7007337" cy="1031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4"/>
          <p:cNvSpPr txBox="1">
            <a:spLocks noGrp="1"/>
          </p:cNvSpPr>
          <p:nvPr>
            <p:ph type="body" idx="1"/>
          </p:nvPr>
        </p:nvSpPr>
        <p:spPr>
          <a:xfrm>
            <a:off x="865386" y="5119299"/>
            <a:ext cx="6988068" cy="419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8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8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accent4"/>
                </a:solidFill>
              </a:defRPr>
            </a:lvl3pPr>
            <a:lvl4pPr marL="1828800" lvl="3" indent="-419100" algn="l">
              <a:spcBef>
                <a:spcPts val="833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rebuchet MS"/>
              <a:buChar char="▪"/>
              <a:defRPr sz="3000">
                <a:solidFill>
                  <a:schemeClr val="lt1"/>
                </a:solidFill>
              </a:defRPr>
            </a:lvl4pPr>
            <a:lvl5pPr marL="2286000" lvl="4" indent="-440245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333"/>
              <a:buFont typeface="Trebuchet M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34"/>
          <p:cNvSpPr txBox="1">
            <a:spLocks noGrp="1"/>
          </p:cNvSpPr>
          <p:nvPr>
            <p:ph type="body" idx="2"/>
          </p:nvPr>
        </p:nvSpPr>
        <p:spPr>
          <a:xfrm>
            <a:off x="865387" y="3913996"/>
            <a:ext cx="7007337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3000"/>
              <a:buFont typeface="Courier New"/>
              <a:buNone/>
              <a:defRPr sz="3000" b="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933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34"/>
          <p:cNvSpPr/>
          <p:nvPr/>
        </p:nvSpPr>
        <p:spPr>
          <a:xfrm>
            <a:off x="16060020" y="9499859"/>
            <a:ext cx="2227980" cy="78714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34"/>
          <p:cNvSpPr txBox="1"/>
          <p:nvPr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200" cap="non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4" name="Google Shape;104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820891" y="9722868"/>
            <a:ext cx="1084725" cy="385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ternate Layout">
  <p:cSld name="Alternate Layou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5"/>
          <p:cNvSpPr txBox="1">
            <a:spLocks noGrp="1"/>
          </p:cNvSpPr>
          <p:nvPr>
            <p:ph type="title"/>
          </p:nvPr>
        </p:nvSpPr>
        <p:spPr>
          <a:xfrm>
            <a:off x="8305800" y="2997651"/>
            <a:ext cx="9067800" cy="1031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5"/>
          <p:cNvSpPr txBox="1">
            <a:spLocks noGrp="1"/>
          </p:cNvSpPr>
          <p:nvPr>
            <p:ph type="body" idx="1"/>
          </p:nvPr>
        </p:nvSpPr>
        <p:spPr>
          <a:xfrm>
            <a:off x="8305800" y="4861561"/>
            <a:ext cx="9052560" cy="419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8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8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accent4"/>
                </a:solidFill>
              </a:defRPr>
            </a:lvl3pPr>
            <a:lvl4pPr marL="1828800" lvl="3" indent="-419100" algn="l">
              <a:spcBef>
                <a:spcPts val="833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rebuchet MS"/>
              <a:buChar char="▪"/>
              <a:defRPr sz="3000">
                <a:solidFill>
                  <a:schemeClr val="lt1"/>
                </a:solidFill>
              </a:defRPr>
            </a:lvl4pPr>
            <a:lvl5pPr marL="2286000" lvl="4" indent="-440245" algn="l"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333"/>
              <a:buFont typeface="Trebuchet M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8" name="Google Shape;108;p135"/>
          <p:cNvSpPr txBox="1">
            <a:spLocks noGrp="1"/>
          </p:cNvSpPr>
          <p:nvPr>
            <p:ph type="body" idx="2"/>
          </p:nvPr>
        </p:nvSpPr>
        <p:spPr>
          <a:xfrm>
            <a:off x="8305800" y="3947161"/>
            <a:ext cx="9067800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3000"/>
              <a:buFont typeface="Trebuchet MS"/>
              <a:buNone/>
              <a:defRPr sz="3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933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9" name="Google Shape;109;p135"/>
          <p:cNvSpPr/>
          <p:nvPr/>
        </p:nvSpPr>
        <p:spPr>
          <a:xfrm>
            <a:off x="16060020" y="9499859"/>
            <a:ext cx="2227980" cy="78714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35"/>
          <p:cNvSpPr txBox="1"/>
          <p:nvPr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200" cap="non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1" name="Google Shape;111;p1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820891" y="9722868"/>
            <a:ext cx="1084725" cy="385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bargo Layout">
  <p:cSld name="Embargo Layou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36"/>
          <p:cNvGrpSpPr/>
          <p:nvPr/>
        </p:nvGrpSpPr>
        <p:grpSpPr>
          <a:xfrm>
            <a:off x="-2212179" y="-674776"/>
            <a:ext cx="22711115" cy="11638877"/>
            <a:chOff x="-1327308" y="-404866"/>
            <a:chExt cx="13626669" cy="6983326"/>
          </a:xfrm>
        </p:grpSpPr>
        <p:sp>
          <p:nvSpPr>
            <p:cNvPr id="114" name="Google Shape;114;p136"/>
            <p:cNvSpPr/>
            <p:nvPr/>
          </p:nvSpPr>
          <p:spPr>
            <a:xfrm>
              <a:off x="0" y="0"/>
              <a:ext cx="10972800" cy="6172200"/>
            </a:xfrm>
            <a:prstGeom prst="rect">
              <a:avLst/>
            </a:prstGeom>
            <a:solidFill>
              <a:srgbClr val="9A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36"/>
            <p:cNvSpPr/>
            <p:nvPr/>
          </p:nvSpPr>
          <p:spPr>
            <a:xfrm>
              <a:off x="262695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36"/>
            <p:cNvSpPr/>
            <p:nvPr/>
          </p:nvSpPr>
          <p:spPr>
            <a:xfrm>
              <a:off x="616601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36"/>
            <p:cNvSpPr/>
            <p:nvPr/>
          </p:nvSpPr>
          <p:spPr>
            <a:xfrm>
              <a:off x="970507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36"/>
            <p:cNvSpPr/>
            <p:nvPr/>
          </p:nvSpPr>
          <p:spPr>
            <a:xfrm>
              <a:off x="1324413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36"/>
            <p:cNvSpPr/>
            <p:nvPr/>
          </p:nvSpPr>
          <p:spPr>
            <a:xfrm>
              <a:off x="1678319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36"/>
            <p:cNvSpPr/>
            <p:nvPr/>
          </p:nvSpPr>
          <p:spPr>
            <a:xfrm>
              <a:off x="2032225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36"/>
            <p:cNvSpPr/>
            <p:nvPr/>
          </p:nvSpPr>
          <p:spPr>
            <a:xfrm>
              <a:off x="2386131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36"/>
            <p:cNvSpPr/>
            <p:nvPr/>
          </p:nvSpPr>
          <p:spPr>
            <a:xfrm>
              <a:off x="2740037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36"/>
            <p:cNvSpPr/>
            <p:nvPr/>
          </p:nvSpPr>
          <p:spPr>
            <a:xfrm>
              <a:off x="3093943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36"/>
            <p:cNvSpPr/>
            <p:nvPr/>
          </p:nvSpPr>
          <p:spPr>
            <a:xfrm>
              <a:off x="3447849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36"/>
            <p:cNvSpPr/>
            <p:nvPr/>
          </p:nvSpPr>
          <p:spPr>
            <a:xfrm>
              <a:off x="3801755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36"/>
            <p:cNvSpPr/>
            <p:nvPr/>
          </p:nvSpPr>
          <p:spPr>
            <a:xfrm>
              <a:off x="4155661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36"/>
            <p:cNvSpPr/>
            <p:nvPr/>
          </p:nvSpPr>
          <p:spPr>
            <a:xfrm>
              <a:off x="4509567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36"/>
            <p:cNvSpPr/>
            <p:nvPr/>
          </p:nvSpPr>
          <p:spPr>
            <a:xfrm>
              <a:off x="4863473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36"/>
            <p:cNvSpPr/>
            <p:nvPr/>
          </p:nvSpPr>
          <p:spPr>
            <a:xfrm>
              <a:off x="5217379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36"/>
            <p:cNvSpPr/>
            <p:nvPr/>
          </p:nvSpPr>
          <p:spPr>
            <a:xfrm>
              <a:off x="5571285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36"/>
            <p:cNvSpPr/>
            <p:nvPr/>
          </p:nvSpPr>
          <p:spPr>
            <a:xfrm>
              <a:off x="5925191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36"/>
            <p:cNvSpPr/>
            <p:nvPr/>
          </p:nvSpPr>
          <p:spPr>
            <a:xfrm>
              <a:off x="6279097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36"/>
            <p:cNvSpPr/>
            <p:nvPr/>
          </p:nvSpPr>
          <p:spPr>
            <a:xfrm>
              <a:off x="6633003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36"/>
            <p:cNvSpPr/>
            <p:nvPr/>
          </p:nvSpPr>
          <p:spPr>
            <a:xfrm>
              <a:off x="6986909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36"/>
            <p:cNvSpPr/>
            <p:nvPr/>
          </p:nvSpPr>
          <p:spPr>
            <a:xfrm>
              <a:off x="7340815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36"/>
            <p:cNvSpPr/>
            <p:nvPr/>
          </p:nvSpPr>
          <p:spPr>
            <a:xfrm>
              <a:off x="7694721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36"/>
            <p:cNvSpPr/>
            <p:nvPr/>
          </p:nvSpPr>
          <p:spPr>
            <a:xfrm>
              <a:off x="8048627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36"/>
            <p:cNvSpPr/>
            <p:nvPr/>
          </p:nvSpPr>
          <p:spPr>
            <a:xfrm>
              <a:off x="8402533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36"/>
            <p:cNvSpPr/>
            <p:nvPr/>
          </p:nvSpPr>
          <p:spPr>
            <a:xfrm>
              <a:off x="8756439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36"/>
            <p:cNvSpPr/>
            <p:nvPr/>
          </p:nvSpPr>
          <p:spPr>
            <a:xfrm>
              <a:off x="9110345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36"/>
            <p:cNvSpPr/>
            <p:nvPr/>
          </p:nvSpPr>
          <p:spPr>
            <a:xfrm>
              <a:off x="9464251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36"/>
            <p:cNvSpPr/>
            <p:nvPr/>
          </p:nvSpPr>
          <p:spPr>
            <a:xfrm>
              <a:off x="9818157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36"/>
            <p:cNvSpPr/>
            <p:nvPr/>
          </p:nvSpPr>
          <p:spPr>
            <a:xfrm>
              <a:off x="10172063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36"/>
            <p:cNvSpPr/>
            <p:nvPr/>
          </p:nvSpPr>
          <p:spPr>
            <a:xfrm>
              <a:off x="10525969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36"/>
            <p:cNvSpPr/>
            <p:nvPr/>
          </p:nvSpPr>
          <p:spPr>
            <a:xfrm>
              <a:off x="10879862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36"/>
            <p:cNvSpPr/>
            <p:nvPr/>
          </p:nvSpPr>
          <p:spPr>
            <a:xfrm>
              <a:off x="-91211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36"/>
            <p:cNvSpPr/>
            <p:nvPr/>
          </p:nvSpPr>
          <p:spPr>
            <a:xfrm>
              <a:off x="262695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36"/>
            <p:cNvSpPr/>
            <p:nvPr/>
          </p:nvSpPr>
          <p:spPr>
            <a:xfrm>
              <a:off x="616601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36"/>
            <p:cNvSpPr/>
            <p:nvPr/>
          </p:nvSpPr>
          <p:spPr>
            <a:xfrm>
              <a:off x="970507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36"/>
            <p:cNvSpPr/>
            <p:nvPr/>
          </p:nvSpPr>
          <p:spPr>
            <a:xfrm>
              <a:off x="1324413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36"/>
            <p:cNvSpPr/>
            <p:nvPr/>
          </p:nvSpPr>
          <p:spPr>
            <a:xfrm>
              <a:off x="1678319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36"/>
            <p:cNvSpPr/>
            <p:nvPr/>
          </p:nvSpPr>
          <p:spPr>
            <a:xfrm>
              <a:off x="2032225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36"/>
            <p:cNvSpPr/>
            <p:nvPr/>
          </p:nvSpPr>
          <p:spPr>
            <a:xfrm>
              <a:off x="2386131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36"/>
            <p:cNvSpPr/>
            <p:nvPr/>
          </p:nvSpPr>
          <p:spPr>
            <a:xfrm>
              <a:off x="2740037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36"/>
            <p:cNvSpPr/>
            <p:nvPr/>
          </p:nvSpPr>
          <p:spPr>
            <a:xfrm>
              <a:off x="3093943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36"/>
            <p:cNvSpPr/>
            <p:nvPr/>
          </p:nvSpPr>
          <p:spPr>
            <a:xfrm>
              <a:off x="3447849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36"/>
            <p:cNvSpPr/>
            <p:nvPr/>
          </p:nvSpPr>
          <p:spPr>
            <a:xfrm>
              <a:off x="3801755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36"/>
            <p:cNvSpPr/>
            <p:nvPr/>
          </p:nvSpPr>
          <p:spPr>
            <a:xfrm>
              <a:off x="4155661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36"/>
            <p:cNvSpPr/>
            <p:nvPr/>
          </p:nvSpPr>
          <p:spPr>
            <a:xfrm>
              <a:off x="4509567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36"/>
            <p:cNvSpPr/>
            <p:nvPr/>
          </p:nvSpPr>
          <p:spPr>
            <a:xfrm>
              <a:off x="4863473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36"/>
            <p:cNvSpPr/>
            <p:nvPr/>
          </p:nvSpPr>
          <p:spPr>
            <a:xfrm>
              <a:off x="5217379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36"/>
            <p:cNvSpPr/>
            <p:nvPr/>
          </p:nvSpPr>
          <p:spPr>
            <a:xfrm>
              <a:off x="5571285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36"/>
            <p:cNvSpPr/>
            <p:nvPr/>
          </p:nvSpPr>
          <p:spPr>
            <a:xfrm>
              <a:off x="5925191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36"/>
            <p:cNvSpPr/>
            <p:nvPr/>
          </p:nvSpPr>
          <p:spPr>
            <a:xfrm>
              <a:off x="6279097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36"/>
            <p:cNvSpPr/>
            <p:nvPr/>
          </p:nvSpPr>
          <p:spPr>
            <a:xfrm>
              <a:off x="6633003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36"/>
            <p:cNvSpPr/>
            <p:nvPr/>
          </p:nvSpPr>
          <p:spPr>
            <a:xfrm>
              <a:off x="6986909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36"/>
            <p:cNvSpPr/>
            <p:nvPr/>
          </p:nvSpPr>
          <p:spPr>
            <a:xfrm>
              <a:off x="7340815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36"/>
            <p:cNvSpPr/>
            <p:nvPr/>
          </p:nvSpPr>
          <p:spPr>
            <a:xfrm>
              <a:off x="7694721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36"/>
            <p:cNvSpPr/>
            <p:nvPr/>
          </p:nvSpPr>
          <p:spPr>
            <a:xfrm>
              <a:off x="8048627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36"/>
            <p:cNvSpPr/>
            <p:nvPr/>
          </p:nvSpPr>
          <p:spPr>
            <a:xfrm>
              <a:off x="8402533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36"/>
            <p:cNvSpPr/>
            <p:nvPr/>
          </p:nvSpPr>
          <p:spPr>
            <a:xfrm>
              <a:off x="8756439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36"/>
            <p:cNvSpPr/>
            <p:nvPr/>
          </p:nvSpPr>
          <p:spPr>
            <a:xfrm>
              <a:off x="9110345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36"/>
            <p:cNvSpPr/>
            <p:nvPr/>
          </p:nvSpPr>
          <p:spPr>
            <a:xfrm>
              <a:off x="9464251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36"/>
            <p:cNvSpPr/>
            <p:nvPr/>
          </p:nvSpPr>
          <p:spPr>
            <a:xfrm>
              <a:off x="9818157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36"/>
            <p:cNvSpPr/>
            <p:nvPr/>
          </p:nvSpPr>
          <p:spPr>
            <a:xfrm>
              <a:off x="10172063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36"/>
            <p:cNvSpPr/>
            <p:nvPr/>
          </p:nvSpPr>
          <p:spPr>
            <a:xfrm>
              <a:off x="10525969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36"/>
            <p:cNvSpPr/>
            <p:nvPr/>
          </p:nvSpPr>
          <p:spPr>
            <a:xfrm>
              <a:off x="10879862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36"/>
            <p:cNvSpPr/>
            <p:nvPr/>
          </p:nvSpPr>
          <p:spPr>
            <a:xfrm>
              <a:off x="-91211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36"/>
            <p:cNvSpPr/>
            <p:nvPr/>
          </p:nvSpPr>
          <p:spPr>
            <a:xfrm>
              <a:off x="262695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36"/>
            <p:cNvSpPr/>
            <p:nvPr/>
          </p:nvSpPr>
          <p:spPr>
            <a:xfrm>
              <a:off x="616601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36"/>
            <p:cNvSpPr/>
            <p:nvPr/>
          </p:nvSpPr>
          <p:spPr>
            <a:xfrm>
              <a:off x="970507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36"/>
            <p:cNvSpPr/>
            <p:nvPr/>
          </p:nvSpPr>
          <p:spPr>
            <a:xfrm>
              <a:off x="1324413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36"/>
            <p:cNvSpPr/>
            <p:nvPr/>
          </p:nvSpPr>
          <p:spPr>
            <a:xfrm>
              <a:off x="1678319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36"/>
            <p:cNvSpPr/>
            <p:nvPr/>
          </p:nvSpPr>
          <p:spPr>
            <a:xfrm>
              <a:off x="2032225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36"/>
            <p:cNvSpPr/>
            <p:nvPr/>
          </p:nvSpPr>
          <p:spPr>
            <a:xfrm>
              <a:off x="2386131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36"/>
            <p:cNvSpPr/>
            <p:nvPr/>
          </p:nvSpPr>
          <p:spPr>
            <a:xfrm>
              <a:off x="2740037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36"/>
            <p:cNvSpPr/>
            <p:nvPr/>
          </p:nvSpPr>
          <p:spPr>
            <a:xfrm>
              <a:off x="3093943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36"/>
            <p:cNvSpPr/>
            <p:nvPr/>
          </p:nvSpPr>
          <p:spPr>
            <a:xfrm>
              <a:off x="3447849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36"/>
            <p:cNvSpPr/>
            <p:nvPr/>
          </p:nvSpPr>
          <p:spPr>
            <a:xfrm>
              <a:off x="3801755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36"/>
            <p:cNvSpPr/>
            <p:nvPr/>
          </p:nvSpPr>
          <p:spPr>
            <a:xfrm>
              <a:off x="4155661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36"/>
            <p:cNvSpPr/>
            <p:nvPr/>
          </p:nvSpPr>
          <p:spPr>
            <a:xfrm>
              <a:off x="4509567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36"/>
            <p:cNvSpPr/>
            <p:nvPr/>
          </p:nvSpPr>
          <p:spPr>
            <a:xfrm>
              <a:off x="4863473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36"/>
            <p:cNvSpPr/>
            <p:nvPr/>
          </p:nvSpPr>
          <p:spPr>
            <a:xfrm>
              <a:off x="5217379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36"/>
            <p:cNvSpPr/>
            <p:nvPr/>
          </p:nvSpPr>
          <p:spPr>
            <a:xfrm>
              <a:off x="5571285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36"/>
            <p:cNvSpPr/>
            <p:nvPr/>
          </p:nvSpPr>
          <p:spPr>
            <a:xfrm>
              <a:off x="5925191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36"/>
            <p:cNvSpPr/>
            <p:nvPr/>
          </p:nvSpPr>
          <p:spPr>
            <a:xfrm>
              <a:off x="6279097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36"/>
            <p:cNvSpPr/>
            <p:nvPr/>
          </p:nvSpPr>
          <p:spPr>
            <a:xfrm>
              <a:off x="6633003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36"/>
            <p:cNvSpPr/>
            <p:nvPr/>
          </p:nvSpPr>
          <p:spPr>
            <a:xfrm>
              <a:off x="6986909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36"/>
            <p:cNvSpPr/>
            <p:nvPr/>
          </p:nvSpPr>
          <p:spPr>
            <a:xfrm>
              <a:off x="7340815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36"/>
            <p:cNvSpPr/>
            <p:nvPr/>
          </p:nvSpPr>
          <p:spPr>
            <a:xfrm>
              <a:off x="7694721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36"/>
            <p:cNvSpPr/>
            <p:nvPr/>
          </p:nvSpPr>
          <p:spPr>
            <a:xfrm>
              <a:off x="8048627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36"/>
            <p:cNvSpPr/>
            <p:nvPr/>
          </p:nvSpPr>
          <p:spPr>
            <a:xfrm>
              <a:off x="8402533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36"/>
            <p:cNvSpPr/>
            <p:nvPr/>
          </p:nvSpPr>
          <p:spPr>
            <a:xfrm>
              <a:off x="8756439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36"/>
            <p:cNvSpPr/>
            <p:nvPr/>
          </p:nvSpPr>
          <p:spPr>
            <a:xfrm>
              <a:off x="9110345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36"/>
            <p:cNvSpPr/>
            <p:nvPr/>
          </p:nvSpPr>
          <p:spPr>
            <a:xfrm>
              <a:off x="9464251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36"/>
            <p:cNvSpPr/>
            <p:nvPr/>
          </p:nvSpPr>
          <p:spPr>
            <a:xfrm>
              <a:off x="9818157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36"/>
            <p:cNvSpPr/>
            <p:nvPr/>
          </p:nvSpPr>
          <p:spPr>
            <a:xfrm>
              <a:off x="10172063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36"/>
            <p:cNvSpPr/>
            <p:nvPr/>
          </p:nvSpPr>
          <p:spPr>
            <a:xfrm>
              <a:off x="10525969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36"/>
            <p:cNvSpPr/>
            <p:nvPr/>
          </p:nvSpPr>
          <p:spPr>
            <a:xfrm>
              <a:off x="10879862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36"/>
            <p:cNvSpPr/>
            <p:nvPr/>
          </p:nvSpPr>
          <p:spPr>
            <a:xfrm>
              <a:off x="-91211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36"/>
            <p:cNvSpPr/>
            <p:nvPr/>
          </p:nvSpPr>
          <p:spPr>
            <a:xfrm>
              <a:off x="262695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36"/>
            <p:cNvSpPr/>
            <p:nvPr/>
          </p:nvSpPr>
          <p:spPr>
            <a:xfrm>
              <a:off x="616601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36"/>
            <p:cNvSpPr/>
            <p:nvPr/>
          </p:nvSpPr>
          <p:spPr>
            <a:xfrm>
              <a:off x="970507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36"/>
            <p:cNvSpPr/>
            <p:nvPr/>
          </p:nvSpPr>
          <p:spPr>
            <a:xfrm>
              <a:off x="1324413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36"/>
            <p:cNvSpPr/>
            <p:nvPr/>
          </p:nvSpPr>
          <p:spPr>
            <a:xfrm>
              <a:off x="1678319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36"/>
            <p:cNvSpPr/>
            <p:nvPr/>
          </p:nvSpPr>
          <p:spPr>
            <a:xfrm>
              <a:off x="2032225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36"/>
            <p:cNvSpPr/>
            <p:nvPr/>
          </p:nvSpPr>
          <p:spPr>
            <a:xfrm>
              <a:off x="2386131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36"/>
            <p:cNvSpPr/>
            <p:nvPr/>
          </p:nvSpPr>
          <p:spPr>
            <a:xfrm>
              <a:off x="2740037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36"/>
            <p:cNvSpPr/>
            <p:nvPr/>
          </p:nvSpPr>
          <p:spPr>
            <a:xfrm>
              <a:off x="3093943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36"/>
            <p:cNvSpPr/>
            <p:nvPr/>
          </p:nvSpPr>
          <p:spPr>
            <a:xfrm>
              <a:off x="3447849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36"/>
            <p:cNvSpPr/>
            <p:nvPr/>
          </p:nvSpPr>
          <p:spPr>
            <a:xfrm>
              <a:off x="3801755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36"/>
            <p:cNvSpPr/>
            <p:nvPr/>
          </p:nvSpPr>
          <p:spPr>
            <a:xfrm>
              <a:off x="4155661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36"/>
            <p:cNvSpPr/>
            <p:nvPr/>
          </p:nvSpPr>
          <p:spPr>
            <a:xfrm>
              <a:off x="4509567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36"/>
            <p:cNvSpPr/>
            <p:nvPr/>
          </p:nvSpPr>
          <p:spPr>
            <a:xfrm>
              <a:off x="4863473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36"/>
            <p:cNvSpPr/>
            <p:nvPr/>
          </p:nvSpPr>
          <p:spPr>
            <a:xfrm>
              <a:off x="5217379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36"/>
            <p:cNvSpPr/>
            <p:nvPr/>
          </p:nvSpPr>
          <p:spPr>
            <a:xfrm>
              <a:off x="5571285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36"/>
            <p:cNvSpPr/>
            <p:nvPr/>
          </p:nvSpPr>
          <p:spPr>
            <a:xfrm>
              <a:off x="5925191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36"/>
            <p:cNvSpPr/>
            <p:nvPr/>
          </p:nvSpPr>
          <p:spPr>
            <a:xfrm>
              <a:off x="6279097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36"/>
            <p:cNvSpPr/>
            <p:nvPr/>
          </p:nvSpPr>
          <p:spPr>
            <a:xfrm>
              <a:off x="6633003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36"/>
            <p:cNvSpPr/>
            <p:nvPr/>
          </p:nvSpPr>
          <p:spPr>
            <a:xfrm>
              <a:off x="6986909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36"/>
            <p:cNvSpPr/>
            <p:nvPr/>
          </p:nvSpPr>
          <p:spPr>
            <a:xfrm>
              <a:off x="7340815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36"/>
            <p:cNvSpPr/>
            <p:nvPr/>
          </p:nvSpPr>
          <p:spPr>
            <a:xfrm>
              <a:off x="7694721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36"/>
            <p:cNvSpPr/>
            <p:nvPr/>
          </p:nvSpPr>
          <p:spPr>
            <a:xfrm>
              <a:off x="8048627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36"/>
            <p:cNvSpPr/>
            <p:nvPr/>
          </p:nvSpPr>
          <p:spPr>
            <a:xfrm>
              <a:off x="8402533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36"/>
            <p:cNvSpPr/>
            <p:nvPr/>
          </p:nvSpPr>
          <p:spPr>
            <a:xfrm>
              <a:off x="8756439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36"/>
            <p:cNvSpPr/>
            <p:nvPr/>
          </p:nvSpPr>
          <p:spPr>
            <a:xfrm>
              <a:off x="9110345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36"/>
            <p:cNvSpPr/>
            <p:nvPr/>
          </p:nvSpPr>
          <p:spPr>
            <a:xfrm>
              <a:off x="9464251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36"/>
            <p:cNvSpPr/>
            <p:nvPr/>
          </p:nvSpPr>
          <p:spPr>
            <a:xfrm>
              <a:off x="9818157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36"/>
            <p:cNvSpPr/>
            <p:nvPr/>
          </p:nvSpPr>
          <p:spPr>
            <a:xfrm>
              <a:off x="10172063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36"/>
            <p:cNvSpPr/>
            <p:nvPr/>
          </p:nvSpPr>
          <p:spPr>
            <a:xfrm>
              <a:off x="10525969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36"/>
            <p:cNvSpPr/>
            <p:nvPr/>
          </p:nvSpPr>
          <p:spPr>
            <a:xfrm>
              <a:off x="10879862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36"/>
            <p:cNvSpPr/>
            <p:nvPr/>
          </p:nvSpPr>
          <p:spPr>
            <a:xfrm>
              <a:off x="-91211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36"/>
            <p:cNvSpPr/>
            <p:nvPr/>
          </p:nvSpPr>
          <p:spPr>
            <a:xfrm>
              <a:off x="262695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36"/>
            <p:cNvSpPr/>
            <p:nvPr/>
          </p:nvSpPr>
          <p:spPr>
            <a:xfrm>
              <a:off x="616601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36"/>
            <p:cNvSpPr/>
            <p:nvPr/>
          </p:nvSpPr>
          <p:spPr>
            <a:xfrm>
              <a:off x="970507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36"/>
            <p:cNvSpPr/>
            <p:nvPr/>
          </p:nvSpPr>
          <p:spPr>
            <a:xfrm>
              <a:off x="1324413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36"/>
            <p:cNvSpPr/>
            <p:nvPr/>
          </p:nvSpPr>
          <p:spPr>
            <a:xfrm>
              <a:off x="1678319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36"/>
            <p:cNvSpPr/>
            <p:nvPr/>
          </p:nvSpPr>
          <p:spPr>
            <a:xfrm>
              <a:off x="2032225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36"/>
            <p:cNvSpPr/>
            <p:nvPr/>
          </p:nvSpPr>
          <p:spPr>
            <a:xfrm>
              <a:off x="2386131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36"/>
            <p:cNvSpPr/>
            <p:nvPr/>
          </p:nvSpPr>
          <p:spPr>
            <a:xfrm>
              <a:off x="2740037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36"/>
            <p:cNvSpPr/>
            <p:nvPr/>
          </p:nvSpPr>
          <p:spPr>
            <a:xfrm>
              <a:off x="3093943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36"/>
            <p:cNvSpPr/>
            <p:nvPr/>
          </p:nvSpPr>
          <p:spPr>
            <a:xfrm>
              <a:off x="3447849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36"/>
            <p:cNvSpPr/>
            <p:nvPr/>
          </p:nvSpPr>
          <p:spPr>
            <a:xfrm>
              <a:off x="3801755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36"/>
            <p:cNvSpPr/>
            <p:nvPr/>
          </p:nvSpPr>
          <p:spPr>
            <a:xfrm>
              <a:off x="4155661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36"/>
            <p:cNvSpPr/>
            <p:nvPr/>
          </p:nvSpPr>
          <p:spPr>
            <a:xfrm>
              <a:off x="4509567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36"/>
            <p:cNvSpPr/>
            <p:nvPr/>
          </p:nvSpPr>
          <p:spPr>
            <a:xfrm>
              <a:off x="4863473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36"/>
            <p:cNvSpPr/>
            <p:nvPr/>
          </p:nvSpPr>
          <p:spPr>
            <a:xfrm>
              <a:off x="5217379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36"/>
            <p:cNvSpPr/>
            <p:nvPr/>
          </p:nvSpPr>
          <p:spPr>
            <a:xfrm>
              <a:off x="5571285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36"/>
            <p:cNvSpPr/>
            <p:nvPr/>
          </p:nvSpPr>
          <p:spPr>
            <a:xfrm>
              <a:off x="5925191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36"/>
            <p:cNvSpPr/>
            <p:nvPr/>
          </p:nvSpPr>
          <p:spPr>
            <a:xfrm>
              <a:off x="6279097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36"/>
            <p:cNvSpPr/>
            <p:nvPr/>
          </p:nvSpPr>
          <p:spPr>
            <a:xfrm>
              <a:off x="6633003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36"/>
            <p:cNvSpPr/>
            <p:nvPr/>
          </p:nvSpPr>
          <p:spPr>
            <a:xfrm>
              <a:off x="6986909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36"/>
            <p:cNvSpPr/>
            <p:nvPr/>
          </p:nvSpPr>
          <p:spPr>
            <a:xfrm>
              <a:off x="7340815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36"/>
            <p:cNvSpPr/>
            <p:nvPr/>
          </p:nvSpPr>
          <p:spPr>
            <a:xfrm>
              <a:off x="7694721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36"/>
            <p:cNvSpPr/>
            <p:nvPr/>
          </p:nvSpPr>
          <p:spPr>
            <a:xfrm>
              <a:off x="8048627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36"/>
            <p:cNvSpPr/>
            <p:nvPr/>
          </p:nvSpPr>
          <p:spPr>
            <a:xfrm>
              <a:off x="8402533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36"/>
            <p:cNvSpPr/>
            <p:nvPr/>
          </p:nvSpPr>
          <p:spPr>
            <a:xfrm>
              <a:off x="8756439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36"/>
            <p:cNvSpPr/>
            <p:nvPr/>
          </p:nvSpPr>
          <p:spPr>
            <a:xfrm>
              <a:off x="9110345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36"/>
            <p:cNvSpPr/>
            <p:nvPr/>
          </p:nvSpPr>
          <p:spPr>
            <a:xfrm>
              <a:off x="9464251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36"/>
            <p:cNvSpPr/>
            <p:nvPr/>
          </p:nvSpPr>
          <p:spPr>
            <a:xfrm>
              <a:off x="9818157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36"/>
            <p:cNvSpPr/>
            <p:nvPr/>
          </p:nvSpPr>
          <p:spPr>
            <a:xfrm>
              <a:off x="10172063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36"/>
            <p:cNvSpPr/>
            <p:nvPr/>
          </p:nvSpPr>
          <p:spPr>
            <a:xfrm>
              <a:off x="10525969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36"/>
            <p:cNvSpPr/>
            <p:nvPr/>
          </p:nvSpPr>
          <p:spPr>
            <a:xfrm>
              <a:off x="10879862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36"/>
            <p:cNvSpPr/>
            <p:nvPr/>
          </p:nvSpPr>
          <p:spPr>
            <a:xfrm>
              <a:off x="-91211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36"/>
            <p:cNvSpPr/>
            <p:nvPr/>
          </p:nvSpPr>
          <p:spPr>
            <a:xfrm>
              <a:off x="262695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36"/>
            <p:cNvSpPr/>
            <p:nvPr/>
          </p:nvSpPr>
          <p:spPr>
            <a:xfrm>
              <a:off x="616601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36"/>
            <p:cNvSpPr/>
            <p:nvPr/>
          </p:nvSpPr>
          <p:spPr>
            <a:xfrm>
              <a:off x="970507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36"/>
            <p:cNvSpPr/>
            <p:nvPr/>
          </p:nvSpPr>
          <p:spPr>
            <a:xfrm>
              <a:off x="1324413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36"/>
            <p:cNvSpPr/>
            <p:nvPr/>
          </p:nvSpPr>
          <p:spPr>
            <a:xfrm>
              <a:off x="1678319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36"/>
            <p:cNvSpPr/>
            <p:nvPr/>
          </p:nvSpPr>
          <p:spPr>
            <a:xfrm>
              <a:off x="2032225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36"/>
            <p:cNvSpPr/>
            <p:nvPr/>
          </p:nvSpPr>
          <p:spPr>
            <a:xfrm>
              <a:off x="2386131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36"/>
            <p:cNvSpPr/>
            <p:nvPr/>
          </p:nvSpPr>
          <p:spPr>
            <a:xfrm>
              <a:off x="2740037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36"/>
            <p:cNvSpPr/>
            <p:nvPr/>
          </p:nvSpPr>
          <p:spPr>
            <a:xfrm>
              <a:off x="3093943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36"/>
            <p:cNvSpPr/>
            <p:nvPr/>
          </p:nvSpPr>
          <p:spPr>
            <a:xfrm>
              <a:off x="3447849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36"/>
            <p:cNvSpPr/>
            <p:nvPr/>
          </p:nvSpPr>
          <p:spPr>
            <a:xfrm>
              <a:off x="3801755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36"/>
            <p:cNvSpPr/>
            <p:nvPr/>
          </p:nvSpPr>
          <p:spPr>
            <a:xfrm>
              <a:off x="4155661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36"/>
            <p:cNvSpPr/>
            <p:nvPr/>
          </p:nvSpPr>
          <p:spPr>
            <a:xfrm>
              <a:off x="4509567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36"/>
            <p:cNvSpPr/>
            <p:nvPr/>
          </p:nvSpPr>
          <p:spPr>
            <a:xfrm>
              <a:off x="4863473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36"/>
            <p:cNvSpPr/>
            <p:nvPr/>
          </p:nvSpPr>
          <p:spPr>
            <a:xfrm>
              <a:off x="5217379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36"/>
            <p:cNvSpPr/>
            <p:nvPr/>
          </p:nvSpPr>
          <p:spPr>
            <a:xfrm>
              <a:off x="5571285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36"/>
            <p:cNvSpPr/>
            <p:nvPr/>
          </p:nvSpPr>
          <p:spPr>
            <a:xfrm>
              <a:off x="5925191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36"/>
            <p:cNvSpPr/>
            <p:nvPr/>
          </p:nvSpPr>
          <p:spPr>
            <a:xfrm>
              <a:off x="6279097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36"/>
            <p:cNvSpPr/>
            <p:nvPr/>
          </p:nvSpPr>
          <p:spPr>
            <a:xfrm>
              <a:off x="6633003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36"/>
            <p:cNvSpPr/>
            <p:nvPr/>
          </p:nvSpPr>
          <p:spPr>
            <a:xfrm>
              <a:off x="6986909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36"/>
            <p:cNvSpPr/>
            <p:nvPr/>
          </p:nvSpPr>
          <p:spPr>
            <a:xfrm>
              <a:off x="7340815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36"/>
            <p:cNvSpPr/>
            <p:nvPr/>
          </p:nvSpPr>
          <p:spPr>
            <a:xfrm>
              <a:off x="7694721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36"/>
            <p:cNvSpPr/>
            <p:nvPr/>
          </p:nvSpPr>
          <p:spPr>
            <a:xfrm>
              <a:off x="8048627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36"/>
            <p:cNvSpPr/>
            <p:nvPr/>
          </p:nvSpPr>
          <p:spPr>
            <a:xfrm>
              <a:off x="8402533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36"/>
            <p:cNvSpPr/>
            <p:nvPr/>
          </p:nvSpPr>
          <p:spPr>
            <a:xfrm>
              <a:off x="8756439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36"/>
            <p:cNvSpPr/>
            <p:nvPr/>
          </p:nvSpPr>
          <p:spPr>
            <a:xfrm>
              <a:off x="9110345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36"/>
            <p:cNvSpPr/>
            <p:nvPr/>
          </p:nvSpPr>
          <p:spPr>
            <a:xfrm>
              <a:off x="9464251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36"/>
            <p:cNvSpPr/>
            <p:nvPr/>
          </p:nvSpPr>
          <p:spPr>
            <a:xfrm>
              <a:off x="9818157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36"/>
            <p:cNvSpPr/>
            <p:nvPr/>
          </p:nvSpPr>
          <p:spPr>
            <a:xfrm>
              <a:off x="10172063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36"/>
            <p:cNvSpPr/>
            <p:nvPr/>
          </p:nvSpPr>
          <p:spPr>
            <a:xfrm>
              <a:off x="10525969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36"/>
            <p:cNvSpPr/>
            <p:nvPr/>
          </p:nvSpPr>
          <p:spPr>
            <a:xfrm>
              <a:off x="10879862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36"/>
            <p:cNvSpPr/>
            <p:nvPr/>
          </p:nvSpPr>
          <p:spPr>
            <a:xfrm>
              <a:off x="-91211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36"/>
            <p:cNvSpPr/>
            <p:nvPr/>
          </p:nvSpPr>
          <p:spPr>
            <a:xfrm>
              <a:off x="262695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36"/>
            <p:cNvSpPr/>
            <p:nvPr/>
          </p:nvSpPr>
          <p:spPr>
            <a:xfrm>
              <a:off x="616601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36"/>
            <p:cNvSpPr/>
            <p:nvPr/>
          </p:nvSpPr>
          <p:spPr>
            <a:xfrm>
              <a:off x="970507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36"/>
            <p:cNvSpPr/>
            <p:nvPr/>
          </p:nvSpPr>
          <p:spPr>
            <a:xfrm>
              <a:off x="1324413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36"/>
            <p:cNvSpPr/>
            <p:nvPr/>
          </p:nvSpPr>
          <p:spPr>
            <a:xfrm>
              <a:off x="1678319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36"/>
            <p:cNvSpPr/>
            <p:nvPr/>
          </p:nvSpPr>
          <p:spPr>
            <a:xfrm>
              <a:off x="2032225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36"/>
            <p:cNvSpPr/>
            <p:nvPr/>
          </p:nvSpPr>
          <p:spPr>
            <a:xfrm>
              <a:off x="2386131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36"/>
            <p:cNvSpPr/>
            <p:nvPr/>
          </p:nvSpPr>
          <p:spPr>
            <a:xfrm>
              <a:off x="2740037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36"/>
            <p:cNvSpPr/>
            <p:nvPr/>
          </p:nvSpPr>
          <p:spPr>
            <a:xfrm>
              <a:off x="3093943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36"/>
            <p:cNvSpPr/>
            <p:nvPr/>
          </p:nvSpPr>
          <p:spPr>
            <a:xfrm>
              <a:off x="3447849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36"/>
            <p:cNvSpPr/>
            <p:nvPr/>
          </p:nvSpPr>
          <p:spPr>
            <a:xfrm>
              <a:off x="3801755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36"/>
            <p:cNvSpPr/>
            <p:nvPr/>
          </p:nvSpPr>
          <p:spPr>
            <a:xfrm>
              <a:off x="4155661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36"/>
            <p:cNvSpPr/>
            <p:nvPr/>
          </p:nvSpPr>
          <p:spPr>
            <a:xfrm>
              <a:off x="4509567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36"/>
            <p:cNvSpPr/>
            <p:nvPr/>
          </p:nvSpPr>
          <p:spPr>
            <a:xfrm>
              <a:off x="4863473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36"/>
            <p:cNvSpPr/>
            <p:nvPr/>
          </p:nvSpPr>
          <p:spPr>
            <a:xfrm>
              <a:off x="5217379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36"/>
            <p:cNvSpPr/>
            <p:nvPr/>
          </p:nvSpPr>
          <p:spPr>
            <a:xfrm>
              <a:off x="5571285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36"/>
            <p:cNvSpPr/>
            <p:nvPr/>
          </p:nvSpPr>
          <p:spPr>
            <a:xfrm>
              <a:off x="5925191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36"/>
            <p:cNvSpPr/>
            <p:nvPr/>
          </p:nvSpPr>
          <p:spPr>
            <a:xfrm>
              <a:off x="6279097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36"/>
            <p:cNvSpPr/>
            <p:nvPr/>
          </p:nvSpPr>
          <p:spPr>
            <a:xfrm>
              <a:off x="6633003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36"/>
            <p:cNvSpPr/>
            <p:nvPr/>
          </p:nvSpPr>
          <p:spPr>
            <a:xfrm>
              <a:off x="6986909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36"/>
            <p:cNvSpPr/>
            <p:nvPr/>
          </p:nvSpPr>
          <p:spPr>
            <a:xfrm>
              <a:off x="7340815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36"/>
            <p:cNvSpPr/>
            <p:nvPr/>
          </p:nvSpPr>
          <p:spPr>
            <a:xfrm>
              <a:off x="7694721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36"/>
            <p:cNvSpPr/>
            <p:nvPr/>
          </p:nvSpPr>
          <p:spPr>
            <a:xfrm>
              <a:off x="8048627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36"/>
            <p:cNvSpPr/>
            <p:nvPr/>
          </p:nvSpPr>
          <p:spPr>
            <a:xfrm>
              <a:off x="8402533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36"/>
            <p:cNvSpPr/>
            <p:nvPr/>
          </p:nvSpPr>
          <p:spPr>
            <a:xfrm>
              <a:off x="8756439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36"/>
            <p:cNvSpPr/>
            <p:nvPr/>
          </p:nvSpPr>
          <p:spPr>
            <a:xfrm>
              <a:off x="9110345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36"/>
            <p:cNvSpPr/>
            <p:nvPr/>
          </p:nvSpPr>
          <p:spPr>
            <a:xfrm>
              <a:off x="9464251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36"/>
            <p:cNvSpPr/>
            <p:nvPr/>
          </p:nvSpPr>
          <p:spPr>
            <a:xfrm>
              <a:off x="9818157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36"/>
            <p:cNvSpPr/>
            <p:nvPr/>
          </p:nvSpPr>
          <p:spPr>
            <a:xfrm>
              <a:off x="10172063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36"/>
            <p:cNvSpPr/>
            <p:nvPr/>
          </p:nvSpPr>
          <p:spPr>
            <a:xfrm>
              <a:off x="10525969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36"/>
            <p:cNvSpPr/>
            <p:nvPr/>
          </p:nvSpPr>
          <p:spPr>
            <a:xfrm>
              <a:off x="10879862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36"/>
            <p:cNvSpPr/>
            <p:nvPr/>
          </p:nvSpPr>
          <p:spPr>
            <a:xfrm>
              <a:off x="-91211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36"/>
            <p:cNvSpPr/>
            <p:nvPr/>
          </p:nvSpPr>
          <p:spPr>
            <a:xfrm>
              <a:off x="262695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36"/>
            <p:cNvSpPr/>
            <p:nvPr/>
          </p:nvSpPr>
          <p:spPr>
            <a:xfrm>
              <a:off x="616601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36"/>
            <p:cNvSpPr/>
            <p:nvPr/>
          </p:nvSpPr>
          <p:spPr>
            <a:xfrm>
              <a:off x="970507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36"/>
            <p:cNvSpPr/>
            <p:nvPr/>
          </p:nvSpPr>
          <p:spPr>
            <a:xfrm>
              <a:off x="1324413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36"/>
            <p:cNvSpPr/>
            <p:nvPr/>
          </p:nvSpPr>
          <p:spPr>
            <a:xfrm>
              <a:off x="1678319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36"/>
            <p:cNvSpPr/>
            <p:nvPr/>
          </p:nvSpPr>
          <p:spPr>
            <a:xfrm>
              <a:off x="2032225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36"/>
            <p:cNvSpPr/>
            <p:nvPr/>
          </p:nvSpPr>
          <p:spPr>
            <a:xfrm>
              <a:off x="2386131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36"/>
            <p:cNvSpPr/>
            <p:nvPr/>
          </p:nvSpPr>
          <p:spPr>
            <a:xfrm>
              <a:off x="2740037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36"/>
            <p:cNvSpPr/>
            <p:nvPr/>
          </p:nvSpPr>
          <p:spPr>
            <a:xfrm>
              <a:off x="3093943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36"/>
            <p:cNvSpPr/>
            <p:nvPr/>
          </p:nvSpPr>
          <p:spPr>
            <a:xfrm>
              <a:off x="3447849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36"/>
            <p:cNvSpPr/>
            <p:nvPr/>
          </p:nvSpPr>
          <p:spPr>
            <a:xfrm>
              <a:off x="3801755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36"/>
            <p:cNvSpPr/>
            <p:nvPr/>
          </p:nvSpPr>
          <p:spPr>
            <a:xfrm>
              <a:off x="4155661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36"/>
            <p:cNvSpPr/>
            <p:nvPr/>
          </p:nvSpPr>
          <p:spPr>
            <a:xfrm>
              <a:off x="4509567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36"/>
            <p:cNvSpPr/>
            <p:nvPr/>
          </p:nvSpPr>
          <p:spPr>
            <a:xfrm>
              <a:off x="4863473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36"/>
            <p:cNvSpPr/>
            <p:nvPr/>
          </p:nvSpPr>
          <p:spPr>
            <a:xfrm>
              <a:off x="5217379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36"/>
            <p:cNvSpPr/>
            <p:nvPr/>
          </p:nvSpPr>
          <p:spPr>
            <a:xfrm>
              <a:off x="5571285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36"/>
            <p:cNvSpPr/>
            <p:nvPr/>
          </p:nvSpPr>
          <p:spPr>
            <a:xfrm>
              <a:off x="5925191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36"/>
            <p:cNvSpPr/>
            <p:nvPr/>
          </p:nvSpPr>
          <p:spPr>
            <a:xfrm>
              <a:off x="6279097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36"/>
            <p:cNvSpPr/>
            <p:nvPr/>
          </p:nvSpPr>
          <p:spPr>
            <a:xfrm>
              <a:off x="6633003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6"/>
            <p:cNvSpPr/>
            <p:nvPr/>
          </p:nvSpPr>
          <p:spPr>
            <a:xfrm>
              <a:off x="6986909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36"/>
            <p:cNvSpPr/>
            <p:nvPr/>
          </p:nvSpPr>
          <p:spPr>
            <a:xfrm>
              <a:off x="7340815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36"/>
            <p:cNvSpPr/>
            <p:nvPr/>
          </p:nvSpPr>
          <p:spPr>
            <a:xfrm>
              <a:off x="7694721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6"/>
            <p:cNvSpPr/>
            <p:nvPr/>
          </p:nvSpPr>
          <p:spPr>
            <a:xfrm>
              <a:off x="8048627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36"/>
            <p:cNvSpPr/>
            <p:nvPr/>
          </p:nvSpPr>
          <p:spPr>
            <a:xfrm>
              <a:off x="8402533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36"/>
            <p:cNvSpPr/>
            <p:nvPr/>
          </p:nvSpPr>
          <p:spPr>
            <a:xfrm>
              <a:off x="8756439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36"/>
            <p:cNvSpPr/>
            <p:nvPr/>
          </p:nvSpPr>
          <p:spPr>
            <a:xfrm>
              <a:off x="9110345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36"/>
            <p:cNvSpPr/>
            <p:nvPr/>
          </p:nvSpPr>
          <p:spPr>
            <a:xfrm>
              <a:off x="9464251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36"/>
            <p:cNvSpPr/>
            <p:nvPr/>
          </p:nvSpPr>
          <p:spPr>
            <a:xfrm>
              <a:off x="9818157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6"/>
            <p:cNvSpPr/>
            <p:nvPr/>
          </p:nvSpPr>
          <p:spPr>
            <a:xfrm>
              <a:off x="10172063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36"/>
            <p:cNvSpPr/>
            <p:nvPr/>
          </p:nvSpPr>
          <p:spPr>
            <a:xfrm>
              <a:off x="10525969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36"/>
            <p:cNvSpPr/>
            <p:nvPr/>
          </p:nvSpPr>
          <p:spPr>
            <a:xfrm>
              <a:off x="10879862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6"/>
            <p:cNvSpPr/>
            <p:nvPr/>
          </p:nvSpPr>
          <p:spPr>
            <a:xfrm>
              <a:off x="-91211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36"/>
            <p:cNvSpPr/>
            <p:nvPr/>
          </p:nvSpPr>
          <p:spPr>
            <a:xfrm>
              <a:off x="9912350" y="127000"/>
              <a:ext cx="400050" cy="42783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2" name="Google Shape;372;p136"/>
            <p:cNvGrpSpPr/>
            <p:nvPr/>
          </p:nvGrpSpPr>
          <p:grpSpPr>
            <a:xfrm>
              <a:off x="-664463" y="1060450"/>
              <a:ext cx="2884436" cy="4051302"/>
              <a:chOff x="-831850" y="581026"/>
              <a:chExt cx="3567113" cy="5010150"/>
            </a:xfrm>
          </p:grpSpPr>
          <p:sp>
            <p:nvSpPr>
              <p:cNvPr id="373" name="Google Shape;373;p136"/>
              <p:cNvSpPr/>
              <p:nvPr/>
            </p:nvSpPr>
            <p:spPr>
              <a:xfrm>
                <a:off x="-831850" y="2471738"/>
                <a:ext cx="3567113" cy="3119438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06" extrusionOk="0">
                    <a:moveTo>
                      <a:pt x="434" y="406"/>
                    </a:moveTo>
                    <a:cubicBezTo>
                      <a:pt x="30" y="406"/>
                      <a:pt x="30" y="406"/>
                      <a:pt x="30" y="406"/>
                    </a:cubicBezTo>
                    <a:cubicBezTo>
                      <a:pt x="13" y="406"/>
                      <a:pt x="0" y="393"/>
                      <a:pt x="0" y="37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434" y="0"/>
                      <a:pt x="434" y="0"/>
                      <a:pt x="434" y="0"/>
                    </a:cubicBezTo>
                    <a:cubicBezTo>
                      <a:pt x="450" y="0"/>
                      <a:pt x="464" y="14"/>
                      <a:pt x="464" y="30"/>
                    </a:cubicBezTo>
                    <a:cubicBezTo>
                      <a:pt x="464" y="376"/>
                      <a:pt x="464" y="376"/>
                      <a:pt x="464" y="376"/>
                    </a:cubicBezTo>
                    <a:cubicBezTo>
                      <a:pt x="464" y="393"/>
                      <a:pt x="450" y="406"/>
                      <a:pt x="434" y="406"/>
                    </a:cubicBezTo>
                    <a:close/>
                  </a:path>
                </a:pathLst>
              </a:custGeom>
              <a:noFill/>
              <a:ln w="184150" cap="flat" cmpd="sng">
                <a:solidFill>
                  <a:srgbClr val="C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136"/>
              <p:cNvSpPr/>
              <p:nvPr/>
            </p:nvSpPr>
            <p:spPr>
              <a:xfrm>
                <a:off x="490538" y="3262313"/>
                <a:ext cx="914400" cy="1590675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07" extrusionOk="0">
                    <a:moveTo>
                      <a:pt x="119" y="60"/>
                    </a:moveTo>
                    <a:cubicBezTo>
                      <a:pt x="119" y="27"/>
                      <a:pt x="93" y="0"/>
                      <a:pt x="60" y="0"/>
                    </a:cubicBezTo>
                    <a:cubicBezTo>
                      <a:pt x="27" y="0"/>
                      <a:pt x="0" y="27"/>
                      <a:pt x="0" y="60"/>
                    </a:cubicBezTo>
                    <a:cubicBezTo>
                      <a:pt x="0" y="82"/>
                      <a:pt x="12" y="102"/>
                      <a:pt x="30" y="112"/>
                    </a:cubicBezTo>
                    <a:cubicBezTo>
                      <a:pt x="11" y="207"/>
                      <a:pt x="11" y="207"/>
                      <a:pt x="11" y="207"/>
                    </a:cubicBezTo>
                    <a:cubicBezTo>
                      <a:pt x="108" y="207"/>
                      <a:pt x="108" y="207"/>
                      <a:pt x="108" y="207"/>
                    </a:cubicBezTo>
                    <a:cubicBezTo>
                      <a:pt x="89" y="112"/>
                      <a:pt x="89" y="112"/>
                      <a:pt x="89" y="112"/>
                    </a:cubicBezTo>
                    <a:cubicBezTo>
                      <a:pt x="107" y="102"/>
                      <a:pt x="119" y="82"/>
                      <a:pt x="119" y="60"/>
                    </a:cubicBezTo>
                    <a:close/>
                  </a:path>
                </a:pathLst>
              </a:custGeom>
              <a:solidFill>
                <a:srgbClr val="920000"/>
              </a:solidFill>
              <a:ln w="184150" cap="flat" cmpd="sng">
                <a:solidFill>
                  <a:srgbClr val="C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136"/>
              <p:cNvSpPr/>
              <p:nvPr/>
            </p:nvSpPr>
            <p:spPr>
              <a:xfrm>
                <a:off x="-239713" y="581026"/>
                <a:ext cx="2382838" cy="195897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255" extrusionOk="0">
                    <a:moveTo>
                      <a:pt x="0" y="253"/>
                    </a:move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69" y="0"/>
                      <a:pt x="155" y="0"/>
                    </a:cubicBezTo>
                    <a:cubicBezTo>
                      <a:pt x="240" y="0"/>
                      <a:pt x="310" y="69"/>
                      <a:pt x="310" y="155"/>
                    </a:cubicBezTo>
                    <a:cubicBezTo>
                      <a:pt x="310" y="255"/>
                      <a:pt x="310" y="255"/>
                      <a:pt x="310" y="255"/>
                    </a:cubicBezTo>
                  </a:path>
                </a:pathLst>
              </a:custGeom>
              <a:noFill/>
              <a:ln w="184150" cap="flat" cmpd="sng">
                <a:solidFill>
                  <a:srgbClr val="C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6" name="Google Shape;376;p136"/>
            <p:cNvSpPr/>
            <p:nvPr/>
          </p:nvSpPr>
          <p:spPr>
            <a:xfrm>
              <a:off x="-1327308" y="-152400"/>
              <a:ext cx="1325690" cy="6527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36"/>
            <p:cNvSpPr/>
            <p:nvPr/>
          </p:nvSpPr>
          <p:spPr>
            <a:xfrm>
              <a:off x="10973671" y="-152400"/>
              <a:ext cx="1325690" cy="6527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36"/>
            <p:cNvSpPr/>
            <p:nvPr/>
          </p:nvSpPr>
          <p:spPr>
            <a:xfrm rot="-5400000">
              <a:off x="5129275" y="-5934192"/>
              <a:ext cx="405411" cy="1146406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36"/>
            <p:cNvSpPr/>
            <p:nvPr/>
          </p:nvSpPr>
          <p:spPr>
            <a:xfrm rot="-5400000">
              <a:off x="5129270" y="643723"/>
              <a:ext cx="405411" cy="1146406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0" name="Google Shape;380;p136"/>
          <p:cNvSpPr txBox="1">
            <a:spLocks noGrp="1"/>
          </p:cNvSpPr>
          <p:nvPr>
            <p:ph type="title"/>
          </p:nvPr>
        </p:nvSpPr>
        <p:spPr>
          <a:xfrm>
            <a:off x="4770120" y="6278881"/>
            <a:ext cx="1243584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136"/>
          <p:cNvSpPr txBox="1">
            <a:spLocks noGrp="1"/>
          </p:cNvSpPr>
          <p:nvPr>
            <p:ph type="body" idx="1"/>
          </p:nvPr>
        </p:nvSpPr>
        <p:spPr>
          <a:xfrm>
            <a:off x="4770120" y="7269481"/>
            <a:ext cx="12435840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000"/>
              <a:buFont typeface="Trebuchet MS"/>
              <a:buNone/>
              <a:defRPr sz="4000" b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933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4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>
  <p:cSld name="Video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7"/>
          <p:cNvSpPr/>
          <p:nvPr/>
        </p:nvSpPr>
        <p:spPr>
          <a:xfrm>
            <a:off x="16433209" y="9536605"/>
            <a:ext cx="1677580" cy="5288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37"/>
          <p:cNvSpPr txBox="1"/>
          <p:nvPr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200" cap="non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5" name="Google Shape;385;p1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820891" y="9722868"/>
            <a:ext cx="1084725" cy="385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8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38"/>
          <p:cNvSpPr txBox="1"/>
          <p:nvPr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200" cap="non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9" name="Google Shape;389;p1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820891" y="9722868"/>
            <a:ext cx="1084725" cy="385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Placeholder" type="titleOnly">
  <p:cSld name="TITLE_ONLY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39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9"/>
          <p:cNvSpPr txBox="1">
            <a:spLocks noGrp="1"/>
          </p:cNvSpPr>
          <p:nvPr>
            <p:ph type="title"/>
          </p:nvPr>
        </p:nvSpPr>
        <p:spPr>
          <a:xfrm>
            <a:off x="830580" y="8615789"/>
            <a:ext cx="16626841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139"/>
          <p:cNvSpPr txBox="1"/>
          <p:nvPr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200" cap="non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4" name="Google Shape;394;p1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820891" y="9722868"/>
            <a:ext cx="1084725" cy="385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- Green">
  <p:cSld name="Transition - Green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140"/>
          <p:cNvPicPr preferRelativeResize="0"/>
          <p:nvPr/>
        </p:nvPicPr>
        <p:blipFill rotWithShape="1">
          <a:blip r:embed="rId2">
            <a:alphaModFix/>
          </a:blip>
          <a:srcRect l="-5218" t="22933" r="58849" b="-4267"/>
          <a:stretch/>
        </p:blipFill>
        <p:spPr>
          <a:xfrm rot="10800000" flipH="1"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4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>
            <a:gsLst>
              <a:gs pos="0">
                <a:schemeClr val="lt2"/>
              </a:gs>
              <a:gs pos="40000">
                <a:schemeClr val="lt2"/>
              </a:gs>
              <a:gs pos="100000">
                <a:srgbClr val="76B900">
                  <a:alpha val="0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4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76B900">
                  <a:alpha val="2980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40"/>
          <p:cNvSpPr txBox="1">
            <a:spLocks noGrp="1"/>
          </p:cNvSpPr>
          <p:nvPr>
            <p:ph type="title"/>
          </p:nvPr>
        </p:nvSpPr>
        <p:spPr>
          <a:xfrm>
            <a:off x="830580" y="4651059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and Segue">
  <p:cSld name="Quote and Segue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41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141"/>
          <p:cNvPicPr preferRelativeResize="0"/>
          <p:nvPr/>
        </p:nvPicPr>
        <p:blipFill rotWithShape="1">
          <a:blip r:embed="rId2">
            <a:alphaModFix/>
          </a:blip>
          <a:srcRect l="-5218" t="22933" r="58849" b="-4267"/>
          <a:stretch/>
        </p:blipFill>
        <p:spPr>
          <a:xfrm rot="10800000" flipH="1"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41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>
            <a:gsLst>
              <a:gs pos="0">
                <a:schemeClr val="lt2"/>
              </a:gs>
              <a:gs pos="40000">
                <a:schemeClr val="lt2"/>
              </a:gs>
              <a:gs pos="100000">
                <a:srgbClr val="76B900">
                  <a:alpha val="0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41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76B900">
                  <a:alpha val="2980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4"/>
          <p:cNvSpPr txBox="1">
            <a:spLocks noGrp="1"/>
          </p:cNvSpPr>
          <p:nvPr>
            <p:ph type="title"/>
          </p:nvPr>
        </p:nvSpPr>
        <p:spPr>
          <a:xfrm>
            <a:off x="832906" y="868681"/>
            <a:ext cx="1662219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4"/>
          <p:cNvSpPr txBox="1">
            <a:spLocks noGrp="1"/>
          </p:cNvSpPr>
          <p:nvPr>
            <p:ph type="body" idx="1"/>
          </p:nvPr>
        </p:nvSpPr>
        <p:spPr>
          <a:xfrm>
            <a:off x="862337" y="3337280"/>
            <a:ext cx="16581552" cy="622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  <a:defRPr sz="24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rebuchet MS"/>
              <a:buNone/>
              <a:defRPr sz="1833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440245" algn="l" rtl="0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333"/>
              <a:buFont typeface="Trebuchet MS"/>
              <a:buChar char="–"/>
              <a:defRPr sz="3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440245" algn="l" rtl="0"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3333"/>
              <a:buFont typeface="Trebuchet MS"/>
              <a:buChar char="»"/>
              <a:defRPr sz="3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440245" algn="l" rtl="0"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3333"/>
              <a:buFont typeface="Trebuchet MS"/>
              <a:buChar char="»"/>
              <a:defRPr sz="3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440245" algn="l" rtl="0"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3333"/>
              <a:buFont typeface="Trebuchet MS"/>
              <a:buChar char="»"/>
              <a:defRPr sz="3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440245" algn="l" rtl="0"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3333"/>
              <a:buFont typeface="Trebuchet MS"/>
              <a:buChar char="»"/>
              <a:defRPr sz="3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440245" algn="l" rtl="0"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3333"/>
              <a:buFont typeface="Trebuchet MS"/>
              <a:buChar char="»"/>
              <a:defRPr sz="3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4" name="Google Shape;14;p114"/>
          <p:cNvSpPr txBox="1"/>
          <p:nvPr/>
        </p:nvSpPr>
        <p:spPr>
          <a:xfrm>
            <a:off x="16248609" y="9792797"/>
            <a:ext cx="53504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200" cap="non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200" cap="non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" name="Google Shape;15;p114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16820891" y="9722868"/>
            <a:ext cx="1084725" cy="3854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bair.berkeley.edu/blog/2020/03/05/compress/" TargetMode="Externa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bair.berkeley.edu/blog/2020/03/05/compress/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cs.nvidia.com/deeplearning/dgx/tf-trt-user-guide/index.html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loudblogs.microsoft.com/opensource/2020/01/21/microsoft-onnx-open-source-optimizations-transformer-inference-gpu-cpu" TargetMode="Externa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gif"/><Relationship Id="rId3" Type="http://schemas.openxmlformats.org/officeDocument/2006/relationships/hyperlink" Target="https://github.com/onnx/onnx-tensorrt/blob/7.0/operators.md" TargetMode="External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7.jp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78.png"/><Relationship Id="rId21" Type="http://schemas.openxmlformats.org/officeDocument/2006/relationships/image" Target="../media/image96.png"/><Relationship Id="rId7" Type="http://schemas.openxmlformats.org/officeDocument/2006/relationships/image" Target="../media/image82.jp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notesSlide" Target="../notesSlides/notesSlide73.xml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1.png"/><Relationship Id="rId11" Type="http://schemas.openxmlformats.org/officeDocument/2006/relationships/image" Target="../media/image86.jpg"/><Relationship Id="rId5" Type="http://schemas.openxmlformats.org/officeDocument/2006/relationships/image" Target="../media/image80.png"/><Relationship Id="rId15" Type="http://schemas.openxmlformats.org/officeDocument/2006/relationships/image" Target="../media/image90.jpg"/><Relationship Id="rId10" Type="http://schemas.openxmlformats.org/officeDocument/2006/relationships/image" Target="../media/image85.png"/><Relationship Id="rId19" Type="http://schemas.openxmlformats.org/officeDocument/2006/relationships/image" Target="../media/image94.jpg"/><Relationship Id="rId4" Type="http://schemas.openxmlformats.org/officeDocument/2006/relationships/image" Target="../media/image79.jp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1.jp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VIDIA/DeepLearningExamples/tree/master/FasterTransformer#feature-support-matrix" TargetMode="Externa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3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jp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5.jp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7.jp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0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2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jp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github.com/kubeflow/kubeflow/tree/master/kubeflow/nvidia-inference-server" TargetMode="External"/><Relationship Id="rId4" Type="http://schemas.openxmlformats.org/officeDocument/2006/relationships/image" Target="../media/image155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VIDIA/tensorrt-inference-server/tree/b6b45ead074d57e3d18703b7c0273672c5e92893/deploy/single_server" TargetMode="External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6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167.png"/><Relationship Id="rId18" Type="http://schemas.openxmlformats.org/officeDocument/2006/relationships/image" Target="../media/image172.png"/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12" Type="http://schemas.openxmlformats.org/officeDocument/2006/relationships/image" Target="../media/image166.png"/><Relationship Id="rId17" Type="http://schemas.openxmlformats.org/officeDocument/2006/relationships/image" Target="../media/image171.png"/><Relationship Id="rId2" Type="http://schemas.openxmlformats.org/officeDocument/2006/relationships/notesSlide" Target="../notesSlides/notesSlide104.xml"/><Relationship Id="rId16" Type="http://schemas.openxmlformats.org/officeDocument/2006/relationships/image" Target="../media/image17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0.png"/><Relationship Id="rId11" Type="http://schemas.openxmlformats.org/officeDocument/2006/relationships/image" Target="../media/image165.png"/><Relationship Id="rId5" Type="http://schemas.openxmlformats.org/officeDocument/2006/relationships/image" Target="../media/image159.png"/><Relationship Id="rId15" Type="http://schemas.openxmlformats.org/officeDocument/2006/relationships/image" Target="../media/image169.png"/><Relationship Id="rId10" Type="http://schemas.openxmlformats.org/officeDocument/2006/relationships/image" Target="../media/image164.png"/><Relationship Id="rId4" Type="http://schemas.openxmlformats.org/officeDocument/2006/relationships/image" Target="../media/image158.png"/><Relationship Id="rId9" Type="http://schemas.openxmlformats.org/officeDocument/2006/relationships/image" Target="../media/image163.png"/><Relationship Id="rId14" Type="http://schemas.openxmlformats.org/officeDocument/2006/relationships/image" Target="../media/image168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13" Type="http://schemas.openxmlformats.org/officeDocument/2006/relationships/image" Target="../media/image183.png"/><Relationship Id="rId18" Type="http://schemas.openxmlformats.org/officeDocument/2006/relationships/image" Target="../media/image188.png"/><Relationship Id="rId3" Type="http://schemas.openxmlformats.org/officeDocument/2006/relationships/image" Target="../media/image173.png"/><Relationship Id="rId7" Type="http://schemas.openxmlformats.org/officeDocument/2006/relationships/image" Target="../media/image177.png"/><Relationship Id="rId12" Type="http://schemas.openxmlformats.org/officeDocument/2006/relationships/image" Target="../media/image182.png"/><Relationship Id="rId17" Type="http://schemas.openxmlformats.org/officeDocument/2006/relationships/image" Target="../media/image187.png"/><Relationship Id="rId2" Type="http://schemas.openxmlformats.org/officeDocument/2006/relationships/notesSlide" Target="../notesSlides/notesSlide106.xml"/><Relationship Id="rId16" Type="http://schemas.openxmlformats.org/officeDocument/2006/relationships/image" Target="../media/image18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6.png"/><Relationship Id="rId11" Type="http://schemas.openxmlformats.org/officeDocument/2006/relationships/image" Target="../media/image181.png"/><Relationship Id="rId5" Type="http://schemas.openxmlformats.org/officeDocument/2006/relationships/image" Target="../media/image175.png"/><Relationship Id="rId15" Type="http://schemas.openxmlformats.org/officeDocument/2006/relationships/image" Target="../media/image185.png"/><Relationship Id="rId10" Type="http://schemas.openxmlformats.org/officeDocument/2006/relationships/image" Target="../media/image180.png"/><Relationship Id="rId19" Type="http://schemas.openxmlformats.org/officeDocument/2006/relationships/hyperlink" Target="https://developer.nvidia.com/nvidia-jarvis" TargetMode="External"/><Relationship Id="rId4" Type="http://schemas.openxmlformats.org/officeDocument/2006/relationships/image" Target="../media/image174.png"/><Relationship Id="rId9" Type="http://schemas.openxmlformats.org/officeDocument/2006/relationships/image" Target="../media/image179.png"/><Relationship Id="rId14" Type="http://schemas.openxmlformats.org/officeDocument/2006/relationships/image" Target="../media/image184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5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jpe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5.xml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hyperlink" Target="https://ngc.nvidia.com/catalog/model-scripts/nvidia:jasper_for_trtis" TargetMode="External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92.png"/><Relationship Id="rId10" Type="http://schemas.openxmlformats.org/officeDocument/2006/relationships/image" Target="../media/image197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hyperlink" Target="https://ngc.nvidia.com/helm-charts/ea-jarvis:jarvis-api" TargetMode="External"/><Relationship Id="rId7" Type="http://schemas.openxmlformats.org/officeDocument/2006/relationships/image" Target="../media/image202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01.png"/><Relationship Id="rId11" Type="http://schemas.openxmlformats.org/officeDocument/2006/relationships/image" Target="../media/image206.png"/><Relationship Id="rId5" Type="http://schemas.openxmlformats.org/officeDocument/2006/relationships/image" Target="../media/image192.png"/><Relationship Id="rId10" Type="http://schemas.openxmlformats.org/officeDocument/2006/relationships/image" Target="../media/image205.png"/><Relationship Id="rId4" Type="http://schemas.openxmlformats.org/officeDocument/2006/relationships/image" Target="../media/image200.png"/><Relationship Id="rId9" Type="http://schemas.openxmlformats.org/officeDocument/2006/relationships/image" Target="../media/image204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09.png"/><Relationship Id="rId4" Type="http://schemas.openxmlformats.org/officeDocument/2006/relationships/image" Target="../media/image208.jp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"/>
          <p:cNvSpPr txBox="1">
            <a:spLocks noGrp="1"/>
          </p:cNvSpPr>
          <p:nvPr>
            <p:ph type="subTitle" idx="4294967295"/>
          </p:nvPr>
        </p:nvSpPr>
        <p:spPr>
          <a:xfrm>
            <a:off x="1143000" y="8290560"/>
            <a:ext cx="9692640" cy="47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 dirty="0" err="1">
                <a:solidFill>
                  <a:schemeClr val="tx2"/>
                </a:solidFill>
                <a:latin typeface="Trebuchet MS"/>
                <a:ea typeface="Trebuchet MS"/>
                <a:cs typeface="Trebuchet MS"/>
                <a:sym typeface="Trebuchet MS"/>
              </a:rPr>
              <a:t>트랜스포머</a:t>
            </a:r>
            <a:r>
              <a:rPr lang="en-US" sz="2400" b="0" i="0" u="none" strike="noStrike" cap="none" dirty="0">
                <a:solidFill>
                  <a:schemeClr val="tx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tx2"/>
                </a:solidFill>
                <a:latin typeface="Trebuchet MS"/>
                <a:ea typeface="Trebuchet MS"/>
                <a:cs typeface="Trebuchet MS"/>
                <a:sym typeface="Trebuchet MS"/>
              </a:rPr>
              <a:t>기반</a:t>
            </a:r>
            <a:r>
              <a:rPr lang="en-US" sz="2400" b="0" i="0" u="none" strike="noStrike" cap="none" dirty="0">
                <a:solidFill>
                  <a:schemeClr val="tx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tx2"/>
                </a:solidFill>
                <a:latin typeface="Trebuchet MS"/>
                <a:ea typeface="Trebuchet MS"/>
                <a:cs typeface="Trebuchet MS"/>
                <a:sym typeface="Trebuchet MS"/>
              </a:rPr>
              <a:t>자연어</a:t>
            </a:r>
            <a:r>
              <a:rPr lang="en-US" sz="2400" b="0" i="0" u="none" strike="noStrike" cap="none" dirty="0">
                <a:solidFill>
                  <a:schemeClr val="tx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tx2"/>
                </a:solidFill>
                <a:latin typeface="Trebuchet MS"/>
                <a:ea typeface="Trebuchet MS"/>
                <a:cs typeface="Trebuchet MS"/>
                <a:sym typeface="Trebuchet MS"/>
              </a:rPr>
              <a:t>처리</a:t>
            </a:r>
            <a:r>
              <a:rPr lang="en-US" sz="2400" b="0" i="0" u="none" strike="noStrike" cap="none" dirty="0">
                <a:solidFill>
                  <a:schemeClr val="tx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tx2"/>
                </a:solidFill>
                <a:latin typeface="Trebuchet MS"/>
                <a:ea typeface="Trebuchet MS"/>
                <a:cs typeface="Trebuchet MS"/>
                <a:sym typeface="Trebuchet MS"/>
              </a:rPr>
              <a:t>애플리케이션</a:t>
            </a:r>
            <a:r>
              <a:rPr lang="en-US" sz="2400" b="0" i="0" u="none" strike="noStrike" cap="none" dirty="0">
                <a:solidFill>
                  <a:schemeClr val="tx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tx2"/>
                </a:solidFill>
                <a:latin typeface="Trebuchet MS"/>
                <a:ea typeface="Trebuchet MS"/>
                <a:cs typeface="Trebuchet MS"/>
                <a:sym typeface="Trebuchet MS"/>
              </a:rPr>
              <a:t>구축</a:t>
            </a:r>
            <a:br>
              <a:rPr lang="en-US" sz="2400" b="0" i="0" u="none" strike="noStrike" cap="none" dirty="0">
                <a:solidFill>
                  <a:schemeClr val="tx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2400" b="0" i="0" u="none" strike="noStrike" cap="none" dirty="0">
                <a:solidFill>
                  <a:schemeClr val="tx2"/>
                </a:solidFill>
                <a:latin typeface="Trebuchet MS"/>
                <a:ea typeface="Trebuchet MS"/>
                <a:cs typeface="Trebuchet MS"/>
                <a:sym typeface="Trebuchet MS"/>
              </a:rPr>
              <a:t>(3부)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412" name="Google Shape;412;p1"/>
          <p:cNvSpPr txBox="1">
            <a:spLocks noGrp="1"/>
          </p:cNvSpPr>
          <p:nvPr>
            <p:ph type="title"/>
          </p:nvPr>
        </p:nvSpPr>
        <p:spPr>
          <a:xfrm>
            <a:off x="1143000" y="6705601"/>
            <a:ext cx="10002328" cy="163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프로덕션</a:t>
            </a:r>
            <a:r>
              <a:rPr lang="en-US" dirty="0"/>
              <a:t> </a:t>
            </a:r>
            <a:r>
              <a:rPr lang="en-US" dirty="0" err="1"/>
              <a:t>배포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363;p89">
            <a:extLst>
              <a:ext uri="{FF2B5EF4-FFF2-40B4-BE49-F238E27FC236}">
                <a16:creationId xmlns:a16="http://schemas.microsoft.com/office/drawing/2014/main" id="{7DF997DE-9876-4C80-A1D9-FCC3D7F0D11D}"/>
              </a:ext>
            </a:extLst>
          </p:cNvPr>
          <p:cNvSpPr/>
          <p:nvPr/>
        </p:nvSpPr>
        <p:spPr>
          <a:xfrm>
            <a:off x="6662192" y="7156325"/>
            <a:ext cx="11347722" cy="2037102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1" name="Google Shape;391;p2"/>
          <p:cNvGraphicFramePr/>
          <p:nvPr/>
        </p:nvGraphicFramePr>
        <p:xfrm>
          <a:off x="7074566" y="1710397"/>
          <a:ext cx="10522974" cy="758145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522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0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0" u="none" strike="noStrike" cap="none" dirty="0">
                          <a:solidFill>
                            <a:schemeClr val="lt2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1부: Machine Learning in NLP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강의</a:t>
                      </a:r>
                      <a:r>
                        <a:rPr lang="en-US" sz="2300" b="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: NLP </a:t>
                      </a:r>
                      <a:r>
                        <a:rPr lang="en-US" sz="2300" b="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배경</a:t>
                      </a:r>
                      <a:r>
                        <a:rPr lang="en-US" sz="2300" b="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및 Transformer </a:t>
                      </a:r>
                      <a:r>
                        <a:rPr lang="en-US" sz="2300" b="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아키텍처의</a:t>
                      </a:r>
                      <a:r>
                        <a:rPr lang="en-US" sz="2300" b="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기반이</a:t>
                      </a:r>
                      <a:r>
                        <a:rPr lang="en-US" sz="2300" b="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된 </a:t>
                      </a:r>
                      <a:r>
                        <a:rPr lang="en-US" sz="2300" b="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DNN의</a:t>
                      </a:r>
                      <a:r>
                        <a:rPr lang="en-US" sz="2300" b="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역할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랩: </a:t>
                      </a:r>
                      <a:r>
                        <a:rPr lang="en-US" sz="2300" b="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튜토리얼</a:t>
                      </a:r>
                      <a:r>
                        <a:rPr lang="en-US" sz="2300" b="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스타일로</a:t>
                      </a:r>
                      <a:r>
                        <a:rPr lang="en-US" sz="2300" b="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Transformer </a:t>
                      </a:r>
                      <a:r>
                        <a:rPr lang="en-US" sz="2300" b="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아키텍처를</a:t>
                      </a:r>
                      <a:r>
                        <a:rPr lang="en-US" sz="2300" b="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사용하는</a:t>
                      </a:r>
                      <a:r>
                        <a:rPr lang="en-US" sz="2300" b="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번역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작업</a:t>
                      </a:r>
                      <a:r>
                        <a:rPr lang="en-US" sz="2300" b="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살펴보기</a:t>
                      </a:r>
                      <a:endParaRPr sz="2300" b="1" i="1" u="none" strike="noStrike" cap="none" dirty="0">
                        <a:solidFill>
                          <a:srgbClr val="F9BBE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304800" marT="304800" marB="3048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0" u="none" strike="noStrike" cap="none" dirty="0">
                          <a:solidFill>
                            <a:schemeClr val="lt2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2부: </a:t>
                      </a:r>
                      <a:r>
                        <a:rPr lang="en-US" sz="2700" dirty="0" err="1">
                          <a:solidFill>
                            <a:schemeClr val="lt2"/>
                          </a:solidFill>
                        </a:rPr>
                        <a:t>자기지도</a:t>
                      </a:r>
                      <a:r>
                        <a:rPr lang="en-US" sz="2700" b="0" u="none" strike="noStrike" cap="none" dirty="0">
                          <a:solidFill>
                            <a:schemeClr val="lt2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, BERT 및 </a:t>
                      </a:r>
                      <a:r>
                        <a:rPr lang="en-US" sz="2700" b="0" u="none" strike="noStrike" cap="none" dirty="0" err="1">
                          <a:solidFill>
                            <a:schemeClr val="lt2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최신</a:t>
                      </a:r>
                      <a:r>
                        <a:rPr lang="en-US" sz="2700" b="0" u="none" strike="noStrike" cap="none" dirty="0">
                          <a:solidFill>
                            <a:schemeClr val="lt2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700" b="0" u="none" strike="noStrike" cap="none" dirty="0" err="1">
                          <a:solidFill>
                            <a:schemeClr val="lt2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모델</a:t>
                      </a:r>
                      <a:endParaRPr sz="2700" b="0" u="none" strike="noStrike" cap="none" dirty="0">
                        <a:solidFill>
                          <a:schemeClr val="lt2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강의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: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자기지도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기반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언어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모델이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기본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트랜스포머를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넘어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BERT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모델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및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그보다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큰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모델로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나아간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방식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설명</a:t>
                      </a:r>
                      <a:endParaRPr sz="2300" u="none" strike="noStrike" cap="none" dirty="0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랩: NVIDIA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NeMo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API에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대한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실용적인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핸즈온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가이드와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BERT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기반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언어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모델을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사용해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텍스트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분류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작업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및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명명된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엔터티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인식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작업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을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구축하는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연습</a:t>
                      </a:r>
                      <a:endParaRPr sz="2300" u="none" strike="noStrike" cap="none" dirty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304800" marT="304800" marB="3048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0" u="none" strike="noStrike" cap="none" dirty="0">
                          <a:solidFill>
                            <a:schemeClr val="lt2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3부: </a:t>
                      </a:r>
                      <a:r>
                        <a:rPr lang="en-US" sz="2700" dirty="0" err="1">
                          <a:solidFill>
                            <a:schemeClr val="lt2"/>
                          </a:solidFill>
                        </a:rPr>
                        <a:t>프로덕션</a:t>
                      </a:r>
                      <a:r>
                        <a:rPr lang="en-US" sz="2700" dirty="0">
                          <a:solidFill>
                            <a:schemeClr val="lt2"/>
                          </a:solidFill>
                        </a:rPr>
                        <a:t> </a:t>
                      </a:r>
                      <a:r>
                        <a:rPr lang="en-US" sz="2700" dirty="0" err="1">
                          <a:solidFill>
                            <a:schemeClr val="lt2"/>
                          </a:solidFill>
                        </a:rPr>
                        <a:t>배포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강의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: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프로덕션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배포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고려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사항</a:t>
                      </a:r>
                      <a:r>
                        <a:rPr lang="en-US" sz="2300" u="none" strike="noStrike" cap="none" dirty="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및 NVIDIA Triton Inference Server </a:t>
                      </a:r>
                      <a:r>
                        <a:rPr lang="en-US" sz="2300" u="none" strike="noStrike" cap="none" dirty="0" err="1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설명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랩: NVIDIA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Triton에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예제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질문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답변</a:t>
                      </a:r>
                      <a:r>
                        <a:rPr lang="en-US" sz="2300" b="1" i="1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b="1" i="1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작업을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배포하는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방법에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대한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핸즈온</a:t>
                      </a:r>
                      <a:r>
                        <a:rPr lang="en-US" sz="2300" u="none" strike="noStrike" cap="none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2300" u="none" strike="noStrike" cap="none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교육</a:t>
                      </a:r>
                      <a:endParaRPr dirty="0"/>
                    </a:p>
                  </a:txBody>
                  <a:tcPr marL="0" marR="304800" marT="304800" marB="3048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2" name="Google Shape;392;p2"/>
          <p:cNvSpPr txBox="1"/>
          <p:nvPr/>
        </p:nvSpPr>
        <p:spPr>
          <a:xfrm>
            <a:off x="6781738" y="1469762"/>
            <a:ext cx="52397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FULL COURSE AGENDA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49435606-BE40-44A9-9F5E-0F138AD0C57D}"/>
              </a:ext>
            </a:extLst>
          </p:cNvPr>
          <p:cNvSpPr/>
          <p:nvPr/>
        </p:nvSpPr>
        <p:spPr>
          <a:xfrm>
            <a:off x="6880123" y="1203106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"/>
          <p:cNvSpPr txBox="1"/>
          <p:nvPr/>
        </p:nvSpPr>
        <p:spPr>
          <a:xfrm>
            <a:off x="7890840" y="1386578"/>
            <a:ext cx="8693721" cy="698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3부: </a:t>
            </a:r>
            <a:r>
              <a:rPr lang="en-US" sz="32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프로덕션</a:t>
            </a:r>
            <a:r>
              <a:rPr 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배포</a:t>
            </a:r>
            <a:endParaRPr dirty="0"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 dirty="0" err="1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강의</a:t>
            </a:r>
            <a:endParaRPr dirty="0"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선택</a:t>
            </a:r>
            <a:endParaRPr dirty="0"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트레이닝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후 </a:t>
            </a: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최적화</a:t>
            </a:r>
            <a:endParaRPr dirty="0"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제품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양자화</a:t>
            </a:r>
            <a:endParaRPr dirty="0"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지식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증류</a:t>
            </a:r>
            <a:endParaRPr dirty="0"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코드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효율성</a:t>
            </a:r>
            <a:endParaRPr dirty="0"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서빙</a:t>
            </a:r>
            <a:endParaRPr dirty="0"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애플리케이션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구축</a:t>
            </a:r>
            <a:endParaRPr dirty="0"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랩</a:t>
            </a:r>
            <a:endParaRPr dirty="0"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내보내기</a:t>
            </a:r>
            <a:endParaRPr dirty="0"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호스팅</a:t>
            </a:r>
            <a:endParaRPr dirty="0"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서버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성능</a:t>
            </a:r>
            <a:endParaRPr dirty="0"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트레이닝된 모델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트레이닝된 모델</a:t>
            </a:r>
            <a:endParaRPr/>
          </a:p>
        </p:txBody>
      </p:sp>
      <p:sp>
        <p:nvSpPr>
          <p:cNvPr id="439" name="Google Shape;439;p5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이제 무엇을 해야 할까요?</a:t>
            </a:r>
            <a:endParaRPr/>
          </a:p>
        </p:txBody>
      </p:sp>
      <p:pic>
        <p:nvPicPr>
          <p:cNvPr id="440" name="Google Shape;440;p5" descr="Chart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04409" y="2848319"/>
            <a:ext cx="9079182" cy="6196542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"/>
          <p:cNvSpPr/>
          <p:nvPr/>
        </p:nvSpPr>
        <p:spPr>
          <a:xfrm>
            <a:off x="32408" y="9927927"/>
            <a:ext cx="9144000" cy="29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https://www.microsoft.com/en-us/research/blog/turing-nlg-a-17-billion-parameter-language-model-by-microsoft/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비즈니스 요구 사항 충족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NLP 모델의 규모가 큼</a:t>
            </a:r>
            <a:endParaRPr/>
          </a:p>
        </p:txBody>
      </p:sp>
      <p:sp>
        <p:nvSpPr>
          <p:cNvPr id="454" name="Google Shape;454;p7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추론 비용이 높음</a:t>
            </a:r>
            <a:endParaRPr/>
          </a:p>
        </p:txBody>
      </p:sp>
      <p:sp>
        <p:nvSpPr>
          <p:cNvPr id="455" name="Google Shape;455;p7"/>
          <p:cNvSpPr/>
          <p:nvPr/>
        </p:nvSpPr>
        <p:spPr>
          <a:xfrm>
            <a:off x="32408" y="9927927"/>
            <a:ext cx="9144000" cy="29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https://www.microsoft.com/en-us/research/blog/turing-nlg-a-17-billion-parameter-language-model-by-microsoft/</a:t>
            </a:r>
            <a:endParaRPr/>
          </a:p>
        </p:txBody>
      </p:sp>
      <p:pic>
        <p:nvPicPr>
          <p:cNvPr id="456" name="Google Shape;456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709090" y="3634212"/>
            <a:ext cx="7796880" cy="4885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단일 프로세스로 구성되지 않음</a:t>
            </a:r>
            <a:endParaRPr/>
          </a:p>
        </p:txBody>
      </p:sp>
      <p:sp>
        <p:nvSpPr>
          <p:cNvPr id="462" name="Google Shape;462;p8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대화형 AI 애플리케이션의 예</a:t>
            </a:r>
            <a:endParaRPr/>
          </a:p>
        </p:txBody>
      </p:sp>
      <p:pic>
        <p:nvPicPr>
          <p:cNvPr id="463" name="Google Shape;463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792531" y="2946401"/>
            <a:ext cx="14702939" cy="6680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단일 프로세스로 구성되지 않음</a:t>
            </a:r>
            <a:endParaRPr/>
          </a:p>
        </p:txBody>
      </p:sp>
      <p:sp>
        <p:nvSpPr>
          <p:cNvPr id="469" name="Google Shape;469;p9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실시간 애플리케이션은 지연 시간이 300ms 미만이어야 함</a:t>
            </a:r>
            <a:endParaRPr/>
          </a:p>
        </p:txBody>
      </p:sp>
      <p:pic>
        <p:nvPicPr>
          <p:cNvPr id="470" name="Google Shape;470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792531" y="2946401"/>
            <a:ext cx="14702939" cy="668059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9"/>
          <p:cNvSpPr/>
          <p:nvPr/>
        </p:nvSpPr>
        <p:spPr>
          <a:xfrm rot="8038056">
            <a:off x="11610447" y="3280689"/>
            <a:ext cx="601927" cy="39546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0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단일 프로세스로 구성되지 않음</a:t>
            </a:r>
            <a:endParaRPr/>
          </a:p>
        </p:txBody>
      </p:sp>
      <p:sp>
        <p:nvSpPr>
          <p:cNvPr id="477" name="Google Shape;477;p10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실시간 애플리케이션은 지연 시간이 300ms 미만이어야 함</a:t>
            </a:r>
            <a:endParaRPr/>
          </a:p>
        </p:txBody>
      </p:sp>
      <p:pic>
        <p:nvPicPr>
          <p:cNvPr id="478" name="Google Shape;478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792531" y="2946401"/>
            <a:ext cx="14702939" cy="668059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0"/>
          <p:cNvSpPr/>
          <p:nvPr/>
        </p:nvSpPr>
        <p:spPr>
          <a:xfrm rot="8038056">
            <a:off x="11610447" y="3280689"/>
            <a:ext cx="601927" cy="39546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0"/>
          <p:cNvSpPr/>
          <p:nvPr/>
        </p:nvSpPr>
        <p:spPr>
          <a:xfrm rot="8038056">
            <a:off x="14365720" y="5299658"/>
            <a:ext cx="601927" cy="39546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0"/>
          <p:cNvSpPr/>
          <p:nvPr/>
        </p:nvSpPr>
        <p:spPr>
          <a:xfrm rot="8038056">
            <a:off x="15068240" y="6833628"/>
            <a:ext cx="601927" cy="39546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0"/>
          <p:cNvSpPr/>
          <p:nvPr/>
        </p:nvSpPr>
        <p:spPr>
          <a:xfrm rot="8038056">
            <a:off x="15349828" y="3988471"/>
            <a:ext cx="601927" cy="39546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0"/>
          <p:cNvSpPr/>
          <p:nvPr/>
        </p:nvSpPr>
        <p:spPr>
          <a:xfrm rot="8038056">
            <a:off x="15701085" y="5463233"/>
            <a:ext cx="601927" cy="39546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1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단일 프로세스로 구성되지 않음</a:t>
            </a:r>
            <a:endParaRPr/>
          </a:p>
        </p:txBody>
      </p:sp>
      <p:sp>
        <p:nvSpPr>
          <p:cNvPr id="489" name="Google Shape;489;p11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애플리케이션 대역폭 = 비용</a:t>
            </a:r>
            <a:endParaRPr/>
          </a:p>
        </p:txBody>
      </p:sp>
      <p:pic>
        <p:nvPicPr>
          <p:cNvPr id="490" name="Google Shape;490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36636" y="3634212"/>
            <a:ext cx="10214728" cy="496771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11"/>
          <p:cNvSpPr/>
          <p:nvPr/>
        </p:nvSpPr>
        <p:spPr>
          <a:xfrm>
            <a:off x="-95623" y="9902280"/>
            <a:ext cx="1218602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https://cloudblogs.microsoft.com/opensource/2020/01/21/microsoft-onnx-open-source-optimizations-transformer-inference-gpu-cpu/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2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시간이 지남에 따라 발전해야 함</a:t>
            </a:r>
            <a:endParaRPr/>
          </a:p>
        </p:txBody>
      </p:sp>
      <p:sp>
        <p:nvSpPr>
          <p:cNvPr id="497" name="Google Shape;497;p12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많은 프로세스가 일정하게 유지되지 않음</a:t>
            </a:r>
            <a:endParaRPr/>
          </a:p>
        </p:txBody>
      </p:sp>
      <p:pic>
        <p:nvPicPr>
          <p:cNvPr id="498" name="Google Shape;498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844739" y="3002151"/>
            <a:ext cx="6598522" cy="6598522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2"/>
          <p:cNvSpPr/>
          <p:nvPr/>
        </p:nvSpPr>
        <p:spPr>
          <a:xfrm>
            <a:off x="1" y="9863808"/>
            <a:ext cx="423224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https://en.wikipedia.org/wiki/Stationary_process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3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모델이 애플리케이션의 전부가 아님</a:t>
            </a:r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비기능적 요구 사항</a:t>
            </a:r>
            <a:endParaRPr/>
          </a:p>
        </p:txBody>
      </p:sp>
      <p:pic>
        <p:nvPicPr>
          <p:cNvPr id="506" name="Google Shape;506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536310" y="3714901"/>
            <a:ext cx="13215380" cy="444721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3"/>
          <p:cNvSpPr/>
          <p:nvPr/>
        </p:nvSpPr>
        <p:spPr>
          <a:xfrm>
            <a:off x="-105836" y="9671447"/>
            <a:ext cx="1176866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Sculley, D., Holt, G., Golovin, D., Davydov, E., Phillips, T., Ebner, D., ... 및 Dennison, D. (2015). Hidden technical debt in machine learning systems. In Advances in neural information processing systems (pp. 2503-2511).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모델이 애플리케이션의 전부가 아님</a:t>
            </a:r>
            <a:endParaRPr/>
          </a:p>
        </p:txBody>
      </p:sp>
      <p:sp>
        <p:nvSpPr>
          <p:cNvPr id="513" name="Google Shape;513;p14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비기능적 요구 사항</a:t>
            </a:r>
            <a:endParaRPr/>
          </a:p>
        </p:txBody>
      </p:sp>
      <p:pic>
        <p:nvPicPr>
          <p:cNvPr id="514" name="Google Shape;514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536310" y="3714901"/>
            <a:ext cx="13215380" cy="4447215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4"/>
          <p:cNvSpPr/>
          <p:nvPr/>
        </p:nvSpPr>
        <p:spPr>
          <a:xfrm>
            <a:off x="-105836" y="9671447"/>
            <a:ext cx="1176866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Sculley, D., Holt, G., Golovin, D., Davydov, E., Phillips, T., Ebner, D., ... 및 Dennison, D. (2015). Hidden technical debt in machine learning systems. In Advances in neural information processing systems (pp. 2503-2511).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4"/>
          <p:cNvSpPr/>
          <p:nvPr/>
        </p:nvSpPr>
        <p:spPr>
          <a:xfrm rot="8038056">
            <a:off x="8439433" y="5274881"/>
            <a:ext cx="601927" cy="39546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rgbClr val="588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1EDCD94D-C25F-470B-8D40-DA31DCEDB19C}"/>
              </a:ext>
            </a:extLst>
          </p:cNvPr>
          <p:cNvSpPr/>
          <p:nvPr/>
        </p:nvSpPr>
        <p:spPr>
          <a:xfrm>
            <a:off x="6880123" y="1203106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5"/>
          <p:cNvSpPr txBox="1"/>
          <p:nvPr/>
        </p:nvSpPr>
        <p:spPr>
          <a:xfrm>
            <a:off x="7890840" y="1386578"/>
            <a:ext cx="8693721" cy="698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3부: 프로덕션 배포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강의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rgbClr val="C785EA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C785EA"/>
                </a:solidFill>
                <a:latin typeface="Arial"/>
                <a:ea typeface="Arial"/>
                <a:cs typeface="Arial"/>
                <a:sym typeface="Arial"/>
              </a:rPr>
              <a:t>모델 선택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트레이닝 후 최적화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제품 양자화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지식 증류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코드 효율성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서빙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애플리케이션 구축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랩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내보내기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호스팅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서버 성능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사용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6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모델 선택</a:t>
            </a:r>
            <a:endParaRPr/>
          </a:p>
        </p:txBody>
      </p:sp>
      <p:sp>
        <p:nvSpPr>
          <p:cNvPr id="528" name="Google Shape;528;p16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모든 모델이 똑같이 만들어지는 것은 아님</a:t>
            </a:r>
            <a:endParaRPr/>
          </a:p>
        </p:txBody>
      </p:sp>
      <p:pic>
        <p:nvPicPr>
          <p:cNvPr id="529" name="Google Shape;529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65512" y="4396137"/>
            <a:ext cx="6117782" cy="3833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4846" y="4313298"/>
            <a:ext cx="4938412" cy="3996467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6"/>
          <p:cNvSpPr txBox="1"/>
          <p:nvPr/>
        </p:nvSpPr>
        <p:spPr>
          <a:xfrm>
            <a:off x="3417715" y="3913189"/>
            <a:ext cx="6479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NLP</a:t>
            </a:r>
            <a:endParaRPr sz="20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2" name="Google Shape;532;p16"/>
          <p:cNvSpPr txBox="1"/>
          <p:nvPr/>
        </p:nvSpPr>
        <p:spPr>
          <a:xfrm>
            <a:off x="8600304" y="3974374"/>
            <a:ext cx="25474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이미지 분류</a:t>
            </a:r>
            <a:endParaRPr sz="20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33" name="Google Shape;53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871893" y="4319193"/>
            <a:ext cx="5047685" cy="4123177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6"/>
          <p:cNvSpPr txBox="1"/>
          <p:nvPr/>
        </p:nvSpPr>
        <p:spPr>
          <a:xfrm>
            <a:off x="14512795" y="3974374"/>
            <a:ext cx="22172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물체 검출</a:t>
            </a:r>
            <a:endParaRPr sz="20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7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모델 선택</a:t>
            </a:r>
            <a:endParaRPr/>
          </a:p>
        </p:txBody>
      </p:sp>
      <p:sp>
        <p:nvSpPr>
          <p:cNvPr id="540" name="Google Shape;540;p17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모든 모델이 지식 증류, 프루닝, 양자화에 동일한 방식으로 응답하는 것은 아님</a:t>
            </a:r>
            <a:endParaRPr/>
          </a:p>
        </p:txBody>
      </p:sp>
      <p:pic>
        <p:nvPicPr>
          <p:cNvPr id="541" name="Google Shape;541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665694" y="4255277"/>
            <a:ext cx="12741463" cy="5567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8117" y="2721709"/>
            <a:ext cx="6956613" cy="1559968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7"/>
          <p:cNvSpPr/>
          <p:nvPr/>
        </p:nvSpPr>
        <p:spPr>
          <a:xfrm>
            <a:off x="0" y="9722744"/>
            <a:ext cx="16685080" cy="502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https://bair.berkeley.edu/blog/2020/03/05/compress/</a:t>
            </a:r>
            <a:endParaRPr sz="13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Li, Z., Wallace, E., Shen, S., Lin, K., Keutzer, K., Klein, D., 및 Gonzalez, J. E. (2020). Train large, then compress: Rethinking model size for efficient training and inference of transformers. arXiv preprint arXiv:2002.11794.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8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모델 선택</a:t>
            </a:r>
            <a:endParaRPr/>
          </a:p>
        </p:txBody>
      </p:sp>
      <p:sp>
        <p:nvSpPr>
          <p:cNvPr id="549" name="Google Shape;549;p18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매우 큰 모델이 미래에도 NLP에서 주를 이룰 전망</a:t>
            </a:r>
            <a:endParaRPr/>
          </a:p>
        </p:txBody>
      </p:sp>
      <p:sp>
        <p:nvSpPr>
          <p:cNvPr id="550" name="Google Shape;550;p18"/>
          <p:cNvSpPr/>
          <p:nvPr/>
        </p:nvSpPr>
        <p:spPr>
          <a:xfrm>
            <a:off x="47839" y="9879928"/>
            <a:ext cx="13208681" cy="29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Brown, T. B., Mann, B., Ryder, N., Subbiah, M., Kaplan, J., Dhariwal, P., ... 및 Agarwal, S. (2020). Language Models are Few-Shot Learners. arXiv preprint arXiv:2005.14165.</a:t>
            </a:r>
            <a:endParaRPr/>
          </a:p>
        </p:txBody>
      </p:sp>
      <p:pic>
        <p:nvPicPr>
          <p:cNvPr id="551" name="Google Shape;551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714620" y="2798445"/>
            <a:ext cx="10368913" cy="6041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9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직접적인 결과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0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프루닝 및 양자화의 중요성 증가</a:t>
            </a:r>
            <a:endParaRPr/>
          </a:p>
        </p:txBody>
      </p:sp>
      <p:sp>
        <p:nvSpPr>
          <p:cNvPr id="563" name="Google Shape;563;p20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예: 대규모로 트레이닝한 후 압축</a:t>
            </a:r>
            <a:endParaRPr/>
          </a:p>
        </p:txBody>
      </p:sp>
      <p:pic>
        <p:nvPicPr>
          <p:cNvPr id="564" name="Google Shape;564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603501" y="5135564"/>
            <a:ext cx="13096875" cy="293687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20"/>
          <p:cNvSpPr/>
          <p:nvPr/>
        </p:nvSpPr>
        <p:spPr>
          <a:xfrm>
            <a:off x="11689977" y="6538259"/>
            <a:ext cx="3848847" cy="1446305"/>
          </a:xfrm>
          <a:prstGeom prst="ellipse">
            <a:avLst/>
          </a:prstGeom>
          <a:solidFill>
            <a:srgbClr val="76B900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0" y="9722744"/>
            <a:ext cx="16685080" cy="502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https://bair.berkeley.edu/blog/2020/03/05/compress/</a:t>
            </a:r>
            <a:endParaRPr sz="13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Li, Z., Wallace, E., Shen, S., Lin, K., Keutzer, K., Klein, D., 및 Gonzalez, J. E. (2020). Train large, then compress: Rethinking model size for efficient training and inference of transformers. arXiv preprint arXiv:2002.11794.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1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프루닝 및 양자화의 중요성 증가</a:t>
            </a:r>
            <a:endParaRPr/>
          </a:p>
        </p:txBody>
      </p:sp>
      <p:sp>
        <p:nvSpPr>
          <p:cNvPr id="572" name="Google Shape;572;p21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감소된 정밀도 산술 및 희소성을 위한 하드웨어 가속화</a:t>
            </a:r>
            <a:endParaRPr/>
          </a:p>
        </p:txBody>
      </p:sp>
      <p:sp>
        <p:nvSpPr>
          <p:cNvPr id="573" name="Google Shape;573;p21"/>
          <p:cNvSpPr/>
          <p:nvPr/>
        </p:nvSpPr>
        <p:spPr>
          <a:xfrm>
            <a:off x="1950553" y="2856765"/>
            <a:ext cx="14328588" cy="6564113"/>
          </a:xfrm>
          <a:prstGeom prst="rect">
            <a:avLst/>
          </a:prstGeom>
          <a:solidFill>
            <a:srgbClr val="E8E8E8">
              <a:alpha val="80784"/>
            </a:srgbClr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57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4" name="Google Shape;574;p21"/>
          <p:cNvSpPr txBox="1"/>
          <p:nvPr/>
        </p:nvSpPr>
        <p:spPr>
          <a:xfrm>
            <a:off x="7326649" y="8221363"/>
            <a:ext cx="1293393" cy="78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A100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SPARSE TF32</a:t>
            </a:r>
            <a:endParaRPr/>
          </a:p>
        </p:txBody>
      </p:sp>
      <p:sp>
        <p:nvSpPr>
          <p:cNvPr id="575" name="Google Shape;575;p21"/>
          <p:cNvSpPr txBox="1"/>
          <p:nvPr/>
        </p:nvSpPr>
        <p:spPr>
          <a:xfrm>
            <a:off x="10780698" y="8217176"/>
            <a:ext cx="1236920" cy="78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A100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SPARSE FP16</a:t>
            </a:r>
            <a:endParaRPr/>
          </a:p>
        </p:txBody>
      </p:sp>
      <p:sp>
        <p:nvSpPr>
          <p:cNvPr id="576" name="Google Shape;576;p21"/>
          <p:cNvSpPr txBox="1"/>
          <p:nvPr/>
        </p:nvSpPr>
        <p:spPr>
          <a:xfrm>
            <a:off x="3924183" y="8284777"/>
            <a:ext cx="1034757" cy="55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A100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FP64</a:t>
            </a:r>
            <a:endParaRPr/>
          </a:p>
        </p:txBody>
      </p:sp>
      <p:sp>
        <p:nvSpPr>
          <p:cNvPr id="577" name="Google Shape;577;p21"/>
          <p:cNvSpPr txBox="1"/>
          <p:nvPr/>
        </p:nvSpPr>
        <p:spPr>
          <a:xfrm>
            <a:off x="6380841" y="8284775"/>
            <a:ext cx="1158568" cy="55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A100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TF32</a:t>
            </a:r>
            <a:endParaRPr/>
          </a:p>
        </p:txBody>
      </p:sp>
      <p:sp>
        <p:nvSpPr>
          <p:cNvPr id="578" name="Google Shape;578;p21"/>
          <p:cNvSpPr txBox="1"/>
          <p:nvPr/>
        </p:nvSpPr>
        <p:spPr>
          <a:xfrm>
            <a:off x="9922736" y="8225144"/>
            <a:ext cx="1068672" cy="55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A100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FP16</a:t>
            </a:r>
            <a:endParaRPr/>
          </a:p>
        </p:txBody>
      </p:sp>
      <p:sp>
        <p:nvSpPr>
          <p:cNvPr id="579" name="Google Shape;579;p21"/>
          <p:cNvSpPr txBox="1"/>
          <p:nvPr/>
        </p:nvSpPr>
        <p:spPr>
          <a:xfrm>
            <a:off x="4006958" y="7233338"/>
            <a:ext cx="936255" cy="3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 b="0" i="0" u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20.</a:t>
            </a:r>
            <a:endParaRPr/>
          </a:p>
        </p:txBody>
      </p:sp>
      <p:sp>
        <p:nvSpPr>
          <p:cNvPr id="580" name="Google Shape;580;p21"/>
          <p:cNvSpPr txBox="1"/>
          <p:nvPr/>
        </p:nvSpPr>
        <p:spPr>
          <a:xfrm>
            <a:off x="6491998" y="5501007"/>
            <a:ext cx="936255" cy="3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 b="0" i="0" u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155</a:t>
            </a:r>
            <a:endParaRPr/>
          </a:p>
        </p:txBody>
      </p:sp>
      <p:sp>
        <p:nvSpPr>
          <p:cNvPr id="581" name="Google Shape;581;p21"/>
          <p:cNvSpPr txBox="1"/>
          <p:nvPr/>
        </p:nvSpPr>
        <p:spPr>
          <a:xfrm>
            <a:off x="9979799" y="7173752"/>
            <a:ext cx="936255" cy="3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 b="0" i="0" u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310</a:t>
            </a:r>
            <a:endParaRPr/>
          </a:p>
        </p:txBody>
      </p:sp>
      <p:sp>
        <p:nvSpPr>
          <p:cNvPr id="582" name="Google Shape;582;p21"/>
          <p:cNvSpPr txBox="1"/>
          <p:nvPr/>
        </p:nvSpPr>
        <p:spPr>
          <a:xfrm>
            <a:off x="5502918" y="8279407"/>
            <a:ext cx="1059757" cy="55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V100 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FP32</a:t>
            </a:r>
            <a:endParaRPr/>
          </a:p>
        </p:txBody>
      </p:sp>
      <p:sp>
        <p:nvSpPr>
          <p:cNvPr id="583" name="Google Shape;583;p21"/>
          <p:cNvSpPr txBox="1"/>
          <p:nvPr/>
        </p:nvSpPr>
        <p:spPr>
          <a:xfrm>
            <a:off x="8959679" y="8264143"/>
            <a:ext cx="1083113" cy="55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V100 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FP16</a:t>
            </a:r>
            <a:endParaRPr/>
          </a:p>
        </p:txBody>
      </p:sp>
      <p:sp>
        <p:nvSpPr>
          <p:cNvPr id="584" name="Google Shape;584;p21"/>
          <p:cNvSpPr txBox="1"/>
          <p:nvPr/>
        </p:nvSpPr>
        <p:spPr>
          <a:xfrm>
            <a:off x="5532234" y="7550257"/>
            <a:ext cx="936255" cy="3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 b="0" i="0" u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16</a:t>
            </a:r>
            <a:endParaRPr/>
          </a:p>
        </p:txBody>
      </p:sp>
      <p:sp>
        <p:nvSpPr>
          <p:cNvPr id="585" name="Google Shape;585;p21"/>
          <p:cNvSpPr txBox="1"/>
          <p:nvPr/>
        </p:nvSpPr>
        <p:spPr>
          <a:xfrm>
            <a:off x="2958953" y="8295758"/>
            <a:ext cx="1119765" cy="55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V100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FP64</a:t>
            </a:r>
            <a:endParaRPr/>
          </a:p>
        </p:txBody>
      </p:sp>
      <p:sp>
        <p:nvSpPr>
          <p:cNvPr id="586" name="Google Shape;586;p21"/>
          <p:cNvSpPr txBox="1"/>
          <p:nvPr/>
        </p:nvSpPr>
        <p:spPr>
          <a:xfrm>
            <a:off x="3021976" y="7565100"/>
            <a:ext cx="936255" cy="3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 b="0" i="0" u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endParaRPr/>
          </a:p>
        </p:txBody>
      </p:sp>
      <p:sp>
        <p:nvSpPr>
          <p:cNvPr id="587" name="Google Shape;587;p21"/>
          <p:cNvSpPr txBox="1"/>
          <p:nvPr/>
        </p:nvSpPr>
        <p:spPr>
          <a:xfrm>
            <a:off x="9024836" y="7572272"/>
            <a:ext cx="936255" cy="3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 b="0" i="0" u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125</a:t>
            </a:r>
            <a:endParaRPr/>
          </a:p>
        </p:txBody>
      </p:sp>
      <p:sp>
        <p:nvSpPr>
          <p:cNvPr id="588" name="Google Shape;588;p21"/>
          <p:cNvSpPr txBox="1"/>
          <p:nvPr/>
        </p:nvSpPr>
        <p:spPr>
          <a:xfrm>
            <a:off x="7405778" y="3338928"/>
            <a:ext cx="936255" cy="3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 b="0" i="0" u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310</a:t>
            </a:r>
            <a:endParaRPr/>
          </a:p>
        </p:txBody>
      </p:sp>
      <p:sp>
        <p:nvSpPr>
          <p:cNvPr id="589" name="Google Shape;589;p21"/>
          <p:cNvSpPr txBox="1"/>
          <p:nvPr/>
        </p:nvSpPr>
        <p:spPr>
          <a:xfrm>
            <a:off x="10915104" y="6559002"/>
            <a:ext cx="936255" cy="3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 b="0" i="0" u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625</a:t>
            </a:r>
            <a:endParaRPr/>
          </a:p>
        </p:txBody>
      </p:sp>
      <p:cxnSp>
        <p:nvCxnSpPr>
          <p:cNvPr id="590" name="Google Shape;590;p21"/>
          <p:cNvCxnSpPr/>
          <p:nvPr/>
        </p:nvCxnSpPr>
        <p:spPr>
          <a:xfrm>
            <a:off x="2548063" y="3472039"/>
            <a:ext cx="0" cy="4711162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1" name="Google Shape;591;p21"/>
          <p:cNvCxnSpPr/>
          <p:nvPr/>
        </p:nvCxnSpPr>
        <p:spPr>
          <a:xfrm rot="10800000">
            <a:off x="2372023" y="5849870"/>
            <a:ext cx="35073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2" name="Google Shape;592;p21"/>
          <p:cNvCxnSpPr/>
          <p:nvPr/>
        </p:nvCxnSpPr>
        <p:spPr>
          <a:xfrm rot="10800000">
            <a:off x="2372023" y="3556457"/>
            <a:ext cx="35073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3" name="Google Shape;593;p21"/>
          <p:cNvSpPr txBox="1"/>
          <p:nvPr/>
        </p:nvSpPr>
        <p:spPr>
          <a:xfrm>
            <a:off x="2580254" y="3405118"/>
            <a:ext cx="936255" cy="33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0" i="0" u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20X</a:t>
            </a:r>
            <a:endParaRPr/>
          </a:p>
        </p:txBody>
      </p:sp>
      <p:sp>
        <p:nvSpPr>
          <p:cNvPr id="594" name="Google Shape;594;p21"/>
          <p:cNvSpPr txBox="1"/>
          <p:nvPr/>
        </p:nvSpPr>
        <p:spPr>
          <a:xfrm>
            <a:off x="2594149" y="5693849"/>
            <a:ext cx="936255" cy="33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0" i="0" u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10X</a:t>
            </a:r>
            <a:endParaRPr/>
          </a:p>
        </p:txBody>
      </p:sp>
      <p:cxnSp>
        <p:nvCxnSpPr>
          <p:cNvPr id="595" name="Google Shape;595;p21"/>
          <p:cNvCxnSpPr/>
          <p:nvPr/>
        </p:nvCxnSpPr>
        <p:spPr>
          <a:xfrm>
            <a:off x="9044400" y="8174725"/>
            <a:ext cx="2805903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6" name="Google Shape;596;p21"/>
          <p:cNvSpPr txBox="1"/>
          <p:nvPr/>
        </p:nvSpPr>
        <p:spPr>
          <a:xfrm>
            <a:off x="13405895" y="8225144"/>
            <a:ext cx="1056015" cy="55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A100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INT8</a:t>
            </a:r>
            <a:endParaRPr/>
          </a:p>
        </p:txBody>
      </p:sp>
      <p:sp>
        <p:nvSpPr>
          <p:cNvPr id="597" name="Google Shape;597;p21"/>
          <p:cNvSpPr txBox="1"/>
          <p:nvPr/>
        </p:nvSpPr>
        <p:spPr>
          <a:xfrm>
            <a:off x="12442273" y="8225142"/>
            <a:ext cx="1132285" cy="55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V100 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INT8</a:t>
            </a:r>
            <a:endParaRPr/>
          </a:p>
        </p:txBody>
      </p:sp>
      <p:sp>
        <p:nvSpPr>
          <p:cNvPr id="598" name="Google Shape;598;p21"/>
          <p:cNvSpPr txBox="1"/>
          <p:nvPr/>
        </p:nvSpPr>
        <p:spPr>
          <a:xfrm>
            <a:off x="12521169" y="7576735"/>
            <a:ext cx="936255" cy="3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 b="0" i="0" u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60</a:t>
            </a:r>
            <a:endParaRPr/>
          </a:p>
        </p:txBody>
      </p:sp>
      <p:sp>
        <p:nvSpPr>
          <p:cNvPr id="599" name="Google Shape;599;p21"/>
          <p:cNvSpPr txBox="1"/>
          <p:nvPr/>
        </p:nvSpPr>
        <p:spPr>
          <a:xfrm>
            <a:off x="13455105" y="5440387"/>
            <a:ext cx="936255" cy="3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 b="0" i="0" u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625</a:t>
            </a:r>
            <a:endParaRPr/>
          </a:p>
        </p:txBody>
      </p:sp>
      <p:cxnSp>
        <p:nvCxnSpPr>
          <p:cNvPr id="600" name="Google Shape;600;p21"/>
          <p:cNvCxnSpPr/>
          <p:nvPr/>
        </p:nvCxnSpPr>
        <p:spPr>
          <a:xfrm>
            <a:off x="12528170" y="8174725"/>
            <a:ext cx="2805903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1" name="Google Shape;601;p21"/>
          <p:cNvSpPr txBox="1"/>
          <p:nvPr/>
        </p:nvSpPr>
        <p:spPr>
          <a:xfrm>
            <a:off x="14230877" y="8170005"/>
            <a:ext cx="1343282" cy="78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A100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SPARSE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INT8</a:t>
            </a:r>
            <a:endParaRPr/>
          </a:p>
        </p:txBody>
      </p:sp>
      <p:sp>
        <p:nvSpPr>
          <p:cNvPr id="602" name="Google Shape;602;p21"/>
          <p:cNvSpPr txBox="1"/>
          <p:nvPr/>
        </p:nvSpPr>
        <p:spPr>
          <a:xfrm>
            <a:off x="14197292" y="3121555"/>
            <a:ext cx="1182802" cy="3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 b="0" i="0" u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1250</a:t>
            </a:r>
            <a:endParaRPr/>
          </a:p>
        </p:txBody>
      </p:sp>
      <p:sp>
        <p:nvSpPr>
          <p:cNvPr id="603" name="Google Shape;603;p21"/>
          <p:cNvSpPr txBox="1"/>
          <p:nvPr/>
        </p:nvSpPr>
        <p:spPr>
          <a:xfrm rot="-5400000">
            <a:off x="662176" y="5964384"/>
            <a:ext cx="3161822" cy="348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상대 연산</a:t>
            </a:r>
            <a:endParaRPr/>
          </a:p>
        </p:txBody>
      </p:sp>
      <p:cxnSp>
        <p:nvCxnSpPr>
          <p:cNvPr id="604" name="Google Shape;604;p21"/>
          <p:cNvCxnSpPr/>
          <p:nvPr/>
        </p:nvCxnSpPr>
        <p:spPr>
          <a:xfrm>
            <a:off x="5561570" y="8174725"/>
            <a:ext cx="2805903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5" name="Google Shape;605;p21"/>
          <p:cNvCxnSpPr/>
          <p:nvPr/>
        </p:nvCxnSpPr>
        <p:spPr>
          <a:xfrm>
            <a:off x="3016090" y="8174725"/>
            <a:ext cx="1876893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06" name="Google Shape;60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4658" y="7033380"/>
            <a:ext cx="618695" cy="1136937"/>
          </a:xfrm>
          <a:prstGeom prst="rect">
            <a:avLst/>
          </a:prstGeom>
          <a:solidFill>
            <a:srgbClr val="588A00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07" name="Google Shape;607;p21" descr="A picture containing bird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33783" y="7595060"/>
            <a:ext cx="624318" cy="581180"/>
          </a:xfrm>
          <a:prstGeom prst="rect">
            <a:avLst/>
          </a:prstGeom>
          <a:solidFill>
            <a:srgbClr val="588A00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08" name="Google Shape;608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00773" y="3754857"/>
            <a:ext cx="618695" cy="4424460"/>
          </a:xfrm>
          <a:prstGeom prst="rect">
            <a:avLst/>
          </a:prstGeom>
          <a:solidFill>
            <a:srgbClr val="588A00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09" name="Google Shape;609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4753" y="5983626"/>
            <a:ext cx="618695" cy="2193055"/>
          </a:xfrm>
          <a:prstGeom prst="rect">
            <a:avLst/>
          </a:prstGeom>
          <a:solidFill>
            <a:srgbClr val="588A00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10" name="Google Shape;610;p21" descr="A picture containing player, white, woman, holding  Description automatically generated"/>
          <p:cNvPicPr preferRelativeResize="0"/>
          <p:nvPr/>
        </p:nvPicPr>
        <p:blipFill rotWithShape="1">
          <a:blip r:embed="rId7">
            <a:alphaModFix/>
          </a:blip>
          <a:srcRect t="-1"/>
          <a:stretch/>
        </p:blipFill>
        <p:spPr>
          <a:xfrm>
            <a:off x="5718034" y="7955059"/>
            <a:ext cx="624318" cy="226423"/>
          </a:xfrm>
          <a:prstGeom prst="rect">
            <a:avLst/>
          </a:prstGeom>
          <a:solidFill>
            <a:srgbClr val="CFFF7D"/>
          </a:solidFill>
          <a:ln>
            <a:noFill/>
          </a:ln>
        </p:spPr>
      </p:pic>
      <p:pic>
        <p:nvPicPr>
          <p:cNvPr id="611" name="Google Shape;611;p21" descr="A picture containing player, white, woman, holding  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72932" y="7949861"/>
            <a:ext cx="622843" cy="224072"/>
          </a:xfrm>
          <a:prstGeom prst="rect">
            <a:avLst/>
          </a:prstGeom>
          <a:solidFill>
            <a:srgbClr val="CFFF7D"/>
          </a:solidFill>
          <a:ln>
            <a:noFill/>
          </a:ln>
        </p:spPr>
      </p:pic>
      <p:pic>
        <p:nvPicPr>
          <p:cNvPr id="612" name="Google Shape;612;p21" descr="A picture containing player, white, woman, holding  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200573" y="7940894"/>
            <a:ext cx="624318" cy="235785"/>
          </a:xfrm>
          <a:prstGeom prst="rect">
            <a:avLst/>
          </a:prstGeom>
          <a:solidFill>
            <a:srgbClr val="CFFF7D"/>
          </a:solidFill>
          <a:ln>
            <a:noFill/>
          </a:ln>
        </p:spPr>
      </p:pic>
      <p:pic>
        <p:nvPicPr>
          <p:cNvPr id="613" name="Google Shape;613;p21" descr="A picture containing bird  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627184" y="5860522"/>
            <a:ext cx="624318" cy="2305217"/>
          </a:xfrm>
          <a:prstGeom prst="rect">
            <a:avLst/>
          </a:prstGeom>
          <a:solidFill>
            <a:srgbClr val="588A00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14" name="Google Shape;614;p21" descr="A picture containing player, white, woman, holding  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684578" y="7949455"/>
            <a:ext cx="624318" cy="227223"/>
          </a:xfrm>
          <a:prstGeom prst="rect">
            <a:avLst/>
          </a:prstGeom>
          <a:solidFill>
            <a:srgbClr val="CFFF7D"/>
          </a:solidFill>
          <a:ln>
            <a:noFill/>
          </a:ln>
        </p:spPr>
      </p:pic>
      <p:pic>
        <p:nvPicPr>
          <p:cNvPr id="615" name="Google Shape;615;p2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4558094" y="3552747"/>
            <a:ext cx="618695" cy="4618127"/>
          </a:xfrm>
          <a:prstGeom prst="rect">
            <a:avLst/>
          </a:prstGeom>
          <a:solidFill>
            <a:srgbClr val="588A00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16" name="Google Shape;616;p2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158186" y="7645967"/>
            <a:ext cx="618695" cy="546980"/>
          </a:xfrm>
          <a:prstGeom prst="rect">
            <a:avLst/>
          </a:prstGeom>
          <a:solidFill>
            <a:srgbClr val="588A00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A8794D80-9D71-435A-8AC4-ED7623213099}"/>
              </a:ext>
            </a:extLst>
          </p:cNvPr>
          <p:cNvSpPr/>
          <p:nvPr/>
        </p:nvSpPr>
        <p:spPr>
          <a:xfrm>
            <a:off x="6880123" y="1203106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2"/>
          <p:cNvSpPr txBox="1"/>
          <p:nvPr/>
        </p:nvSpPr>
        <p:spPr>
          <a:xfrm>
            <a:off x="7890840" y="1386578"/>
            <a:ext cx="8693721" cy="698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3부: 프로덕션 배포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강의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선택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rgbClr val="C785EA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C785EA"/>
                </a:solidFill>
                <a:latin typeface="Arial"/>
                <a:ea typeface="Arial"/>
                <a:cs typeface="Arial"/>
                <a:sym typeface="Arial"/>
              </a:rPr>
              <a:t>트레이닝 후 최적화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제품 양자화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지식 증류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코드 효율성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서빙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애플리케이션 구축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랩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내보내기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호스팅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서버 성능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사용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3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양자화</a:t>
            </a:r>
            <a:endParaRPr/>
          </a:p>
        </p:txBody>
      </p:sp>
      <p:sp>
        <p:nvSpPr>
          <p:cNvPr id="628" name="Google Shape;628;p23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기본 아이디어</a:t>
            </a:r>
            <a:endParaRPr/>
          </a:p>
        </p:txBody>
      </p:sp>
      <p:pic>
        <p:nvPicPr>
          <p:cNvPr id="629" name="Google Shape;62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669" y="3962111"/>
            <a:ext cx="15072663" cy="4029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4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양자화</a:t>
            </a:r>
            <a:endParaRPr/>
          </a:p>
        </p:txBody>
      </p:sp>
      <p:sp>
        <p:nvSpPr>
          <p:cNvPr id="635" name="Google Shape;635;p24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이유</a:t>
            </a:r>
            <a:endParaRPr/>
          </a:p>
        </p:txBody>
      </p:sp>
      <p:pic>
        <p:nvPicPr>
          <p:cNvPr id="636" name="Google Shape;63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8056" y="3505059"/>
            <a:ext cx="13051887" cy="5669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5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양자화</a:t>
            </a:r>
            <a:endParaRPr/>
          </a:p>
        </p:txBody>
      </p:sp>
      <p:sp>
        <p:nvSpPr>
          <p:cNvPr id="642" name="Google Shape;642;p25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이유</a:t>
            </a:r>
            <a:endParaRPr/>
          </a:p>
        </p:txBody>
      </p:sp>
      <p:pic>
        <p:nvPicPr>
          <p:cNvPr id="643" name="Google Shape;643;p25" descr="NVIDIA Ampere Architecture In-Depth | NVIDIA Developer Blo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0861" y="3112067"/>
            <a:ext cx="11686278" cy="6573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6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양자화</a:t>
            </a:r>
            <a:endParaRPr/>
          </a:p>
        </p:txBody>
      </p:sp>
      <p:sp>
        <p:nvSpPr>
          <p:cNvPr id="649" name="Google Shape;649;p26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결과(속도 증가 및 처리량)</a:t>
            </a:r>
            <a:endParaRPr/>
          </a:p>
        </p:txBody>
      </p:sp>
      <p:pic>
        <p:nvPicPr>
          <p:cNvPr id="650" name="Google Shape;65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0053" y="2759150"/>
            <a:ext cx="10555630" cy="3595733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26"/>
          <p:cNvSpPr/>
          <p:nvPr/>
        </p:nvSpPr>
        <p:spPr>
          <a:xfrm>
            <a:off x="-89831" y="9982598"/>
            <a:ext cx="11368369" cy="29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Tesla T4에서 실행된 TensorRT 최적화 모델, 입력 크기가 299x299인 Inception 네트워크를 제외하고 모두에 대해 입력 크기 224x224</a:t>
            </a:r>
            <a:endParaRPr/>
          </a:p>
        </p:txBody>
      </p:sp>
      <p:pic>
        <p:nvPicPr>
          <p:cNvPr id="652" name="Google Shape;65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0053" y="6386865"/>
            <a:ext cx="10498257" cy="3595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양자화</a:t>
            </a:r>
            <a:endParaRPr/>
          </a:p>
        </p:txBody>
      </p:sp>
      <p:sp>
        <p:nvSpPr>
          <p:cNvPr id="658" name="Google Shape;658;p27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INT8 이상</a:t>
            </a:r>
            <a:endParaRPr/>
          </a:p>
        </p:txBody>
      </p:sp>
      <p:sp>
        <p:nvSpPr>
          <p:cNvPr id="659" name="Google Shape;659;p27"/>
          <p:cNvSpPr/>
          <p:nvPr/>
        </p:nvSpPr>
        <p:spPr>
          <a:xfrm>
            <a:off x="3313955" y="3335032"/>
            <a:ext cx="11660090" cy="627870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19050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0" name="Google Shape;660;p27"/>
          <p:cNvSpPr txBox="1"/>
          <p:nvPr/>
        </p:nvSpPr>
        <p:spPr>
          <a:xfrm>
            <a:off x="4337778" y="9613738"/>
            <a:ext cx="9612445" cy="611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ResNet50에 대한 INT4 양자화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8C8C8C"/>
                </a:solidFill>
                <a:latin typeface="Trebuchet MS"/>
                <a:ea typeface="Trebuchet MS"/>
                <a:cs typeface="Trebuchet MS"/>
                <a:sym typeface="Trebuchet MS"/>
              </a:rPr>
              <a:t>"모든 추론에 대한 INT4 정밀도"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8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정확도에 미치는 영향</a:t>
            </a:r>
            <a:endParaRPr/>
          </a:p>
        </p:txBody>
      </p:sp>
      <p:sp>
        <p:nvSpPr>
          <p:cNvPr id="666" name="Google Shape;666;p28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대부분 경우에서 미비함</a:t>
            </a:r>
            <a:endParaRPr/>
          </a:p>
        </p:txBody>
      </p:sp>
      <p:pic>
        <p:nvPicPr>
          <p:cNvPr id="667" name="Google Shape;66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319" y="2826052"/>
            <a:ext cx="8541085" cy="5994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73599" y="2714282"/>
            <a:ext cx="8372038" cy="6217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9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모델 디자인에 미치는 영향</a:t>
            </a:r>
            <a:endParaRPr/>
          </a:p>
        </p:txBody>
      </p:sp>
      <p:sp>
        <p:nvSpPr>
          <p:cNvPr id="674" name="Google Shape;674;p29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모든 곳에서 다 잘 적용되는 것은 아님</a:t>
            </a:r>
            <a:endParaRPr/>
          </a:p>
        </p:txBody>
      </p:sp>
      <p:pic>
        <p:nvPicPr>
          <p:cNvPr id="675" name="Google Shape;67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5219" y="4923748"/>
            <a:ext cx="9380103" cy="16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0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모델 디자인에 미치는 영향</a:t>
            </a:r>
            <a:endParaRPr/>
          </a:p>
        </p:txBody>
      </p:sp>
      <p:sp>
        <p:nvSpPr>
          <p:cNvPr id="681" name="Google Shape;681;p30"/>
          <p:cNvSpPr txBox="1">
            <a:spLocks noGrp="1"/>
          </p:cNvSpPr>
          <p:nvPr>
            <p:ph type="body" idx="1"/>
          </p:nvPr>
        </p:nvSpPr>
        <p:spPr>
          <a:xfrm>
            <a:off x="9039174" y="3505059"/>
            <a:ext cx="8403195" cy="6198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11" lvl="0" indent="-57151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GeLU가 매우 비대칭적인 범위 생성</a:t>
            </a:r>
            <a:endParaRPr/>
          </a:p>
          <a:p>
            <a:pPr marL="571511" lvl="0" indent="-571511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[-0.17,0] 사이의 음수 값</a:t>
            </a:r>
            <a:endParaRPr/>
          </a:p>
          <a:p>
            <a:pPr marL="571511" lvl="0" indent="-571511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모든 음수 값이 0으로 잘림 </a:t>
            </a:r>
            <a:endParaRPr/>
          </a:p>
          <a:p>
            <a:pPr marL="571511" lvl="0" indent="-571511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GeLU10은 음수 값을 유지할 수 있음</a:t>
            </a:r>
            <a:endParaRPr/>
          </a:p>
        </p:txBody>
      </p:sp>
      <p:sp>
        <p:nvSpPr>
          <p:cNvPr id="682" name="Google Shape;682;p30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모델 변경 필요</a:t>
            </a:r>
            <a:endParaRPr/>
          </a:p>
        </p:txBody>
      </p:sp>
      <p:pic>
        <p:nvPicPr>
          <p:cNvPr id="683" name="Google Shape;68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4840" y="5143501"/>
            <a:ext cx="6373110" cy="508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494" y="2912134"/>
            <a:ext cx="7519805" cy="1189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247" y="4076218"/>
            <a:ext cx="7581052" cy="1189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1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정확도 손실</a:t>
            </a:r>
            <a:endParaRPr/>
          </a:p>
        </p:txBody>
      </p:sp>
      <p:sp>
        <p:nvSpPr>
          <p:cNvPr id="691" name="Google Shape;691;p31"/>
          <p:cNvSpPr txBox="1">
            <a:spLocks noGrp="1"/>
          </p:cNvSpPr>
          <p:nvPr>
            <p:ph type="body" idx="1"/>
          </p:nvPr>
        </p:nvSpPr>
        <p:spPr>
          <a:xfrm>
            <a:off x="861250" y="3505059"/>
            <a:ext cx="16581120" cy="6198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/>
              <a:t>텐서 Outlier:</a:t>
            </a:r>
            <a:endParaRPr/>
          </a:p>
          <a:p>
            <a:pPr marL="571511" lvl="0" indent="-571511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예: BERT, Inception V4</a:t>
            </a:r>
            <a:endParaRPr/>
          </a:p>
          <a:p>
            <a:pPr marL="571511" lvl="0" indent="-571511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솔루션: 자르기. 범위 축소, 비트를 보다 효율적으로 사용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/>
              <a:t>양자화된 표현의 정밀도가 충분하지 않음</a:t>
            </a:r>
            <a:endParaRPr/>
          </a:p>
          <a:p>
            <a:pPr marL="571511" lvl="0" indent="-571511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예: MobileNet V1용 Int8</a:t>
            </a:r>
            <a:endParaRPr/>
          </a:p>
          <a:p>
            <a:pPr marL="571511" lvl="0" indent="-571511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예: Resnet50용 Int4</a:t>
            </a:r>
            <a:endParaRPr/>
          </a:p>
          <a:p>
            <a:pPr marL="571511" lvl="0" indent="-571511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솔루션: 양자화를 위한 트레이닝/파인튜닝</a:t>
            </a:r>
            <a:endParaRPr/>
          </a:p>
        </p:txBody>
      </p:sp>
      <p:sp>
        <p:nvSpPr>
          <p:cNvPr id="692" name="Google Shape;692;p31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원인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2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자세히 알아보기</a:t>
            </a:r>
            <a:endParaRPr/>
          </a:p>
        </p:txBody>
      </p:sp>
      <p:sp>
        <p:nvSpPr>
          <p:cNvPr id="698" name="Google Shape;698;p32"/>
          <p:cNvSpPr txBox="1">
            <a:spLocks noGrp="1"/>
          </p:cNvSpPr>
          <p:nvPr>
            <p:ph type="body" idx="1"/>
          </p:nvPr>
        </p:nvSpPr>
        <p:spPr>
          <a:xfrm>
            <a:off x="861250" y="3505059"/>
            <a:ext cx="16581120" cy="6198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11" lvl="0" indent="-57151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S9659: GPU에서 감소된 정밀도로 추론</a:t>
            </a:r>
            <a:endParaRPr/>
          </a:p>
          <a:p>
            <a:pPr marL="571511" lvl="0" indent="-571511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S21664: INT8 추론을 향해: TensorRT를 사용해 양자화 인식 트레이닝된 네트워크 배포</a:t>
            </a:r>
            <a:endParaRPr/>
          </a:p>
        </p:txBody>
      </p:sp>
      <p:sp>
        <p:nvSpPr>
          <p:cNvPr id="699" name="Google Shape;699;p32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GTC 강연 세션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3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양자화 도구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4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NVIDIA TENSORRT</a:t>
            </a:r>
            <a:endParaRPr/>
          </a:p>
        </p:txBody>
      </p:sp>
      <p:sp>
        <p:nvSpPr>
          <p:cNvPr id="712" name="Google Shape;712;p34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모든 프레임워크에서 각 대상 플랫폼에 최적화됨</a:t>
            </a:r>
            <a:endParaRPr/>
          </a:p>
        </p:txBody>
      </p:sp>
      <p:pic>
        <p:nvPicPr>
          <p:cNvPr id="713" name="Google Shape;713;p34" descr="A picture containing clock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8169" y="3084108"/>
            <a:ext cx="14531663" cy="5609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5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INT8 양자화 예</a:t>
            </a:r>
            <a:endParaRPr/>
          </a:p>
        </p:txBody>
      </p:sp>
      <p:sp>
        <p:nvSpPr>
          <p:cNvPr id="719" name="Google Shape;719;p35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TF-TRT</a:t>
            </a:r>
            <a:endParaRPr/>
          </a:p>
        </p:txBody>
      </p:sp>
      <p:pic>
        <p:nvPicPr>
          <p:cNvPr id="720" name="Google Shape;72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2549" y="3091059"/>
            <a:ext cx="12722902" cy="6520235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35"/>
          <p:cNvSpPr/>
          <p:nvPr/>
        </p:nvSpPr>
        <p:spPr>
          <a:xfrm>
            <a:off x="-2" y="9825335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https://docs.nvidia.com/deeplearning/dgx/tf-trt-user-guide/index.html</a:t>
            </a: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6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프루닝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7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프루닝</a:t>
            </a:r>
            <a:endParaRPr/>
          </a:p>
        </p:txBody>
      </p:sp>
      <p:sp>
        <p:nvSpPr>
          <p:cNvPr id="732" name="Google Shape;732;p37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아이디어 </a:t>
            </a:r>
            <a:endParaRPr/>
          </a:p>
        </p:txBody>
      </p:sp>
      <p:sp>
        <p:nvSpPr>
          <p:cNvPr id="733" name="Google Shape;733;p37"/>
          <p:cNvSpPr txBox="1">
            <a:spLocks noGrp="1"/>
          </p:cNvSpPr>
          <p:nvPr>
            <p:ph type="body" idx="1"/>
          </p:nvPr>
        </p:nvSpPr>
        <p:spPr>
          <a:xfrm>
            <a:off x="861251" y="2846105"/>
            <a:ext cx="6319772" cy="68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None/>
            </a:pPr>
            <a:r>
              <a:rPr lang="en-US"/>
              <a:t>기회:</a:t>
            </a:r>
            <a:endParaRPr/>
          </a:p>
          <a:p>
            <a:pPr marL="476259" lvl="0" indent="-476259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감소된 메모리 대역폭</a:t>
            </a:r>
            <a:endParaRPr/>
          </a:p>
          <a:p>
            <a:pPr marL="476259" lvl="0" indent="-476259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감소된 메모리 사용량</a:t>
            </a:r>
            <a:endParaRPr/>
          </a:p>
          <a:p>
            <a:pPr marL="476259" lvl="0" indent="-476259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가속화</a:t>
            </a:r>
            <a:br>
              <a:rPr lang="en-US"/>
            </a:br>
            <a:r>
              <a:rPr lang="en-US"/>
              <a:t>(특히 하드웨어 가속화가 있는 경우)</a:t>
            </a:r>
            <a:endParaRPr/>
          </a:p>
        </p:txBody>
      </p:sp>
      <p:pic>
        <p:nvPicPr>
          <p:cNvPr id="734" name="Google Shape;73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9857" y="6336425"/>
            <a:ext cx="4112030" cy="3473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37" descr="Histogram of the weight distribution for (a) ResNet-50, (b) Inception-v3, (c) DenseNet-201 and (d) Transformer whose weight values are more than 10× higher than the maximum weight value from popular CNNs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2207" y="3232573"/>
            <a:ext cx="9115097" cy="633642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37"/>
          <p:cNvSpPr/>
          <p:nvPr/>
        </p:nvSpPr>
        <p:spPr>
          <a:xfrm>
            <a:off x="-78152" y="9953575"/>
            <a:ext cx="1581312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Tambe, T., Yang, E. Y., Wan, Z., Deng, Y., Reddi, V. J., Rush, A., ... &amp; Wei, G. Y. (2019). AdaptivFloat: A Floating-point based Data Type for Resilient Deep Learning Inference. </a:t>
            </a:r>
            <a:r>
              <a:rPr lang="en-US" sz="1167" i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arXiv preprint arXiv:1909.13271</a:t>
            </a:r>
            <a:r>
              <a:rPr lang="en-US" sz="1167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8"/>
          <p:cNvSpPr txBox="1">
            <a:spLocks noGrp="1"/>
          </p:cNvSpPr>
          <p:nvPr>
            <p:ph type="title"/>
          </p:nvPr>
        </p:nvSpPr>
        <p:spPr>
          <a:xfrm>
            <a:off x="7587049" y="7040881"/>
            <a:ext cx="9664631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안정적으로 작동하기 어려움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9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구조적 희소성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0"/>
          <p:cNvSpPr txBox="1">
            <a:spLocks noGrp="1"/>
          </p:cNvSpPr>
          <p:nvPr>
            <p:ph type="title"/>
          </p:nvPr>
        </p:nvSpPr>
        <p:spPr>
          <a:xfrm>
            <a:off x="830580" y="54463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A100 GPU의 희소성</a:t>
            </a:r>
            <a:endParaRPr/>
          </a:p>
        </p:txBody>
      </p:sp>
      <p:sp>
        <p:nvSpPr>
          <p:cNvPr id="752" name="Google Shape;752;p40"/>
          <p:cNvSpPr txBox="1">
            <a:spLocks noGrp="1"/>
          </p:cNvSpPr>
          <p:nvPr>
            <p:ph type="body" idx="1"/>
          </p:nvPr>
        </p:nvSpPr>
        <p:spPr>
          <a:xfrm>
            <a:off x="861250" y="2835966"/>
            <a:ext cx="16581120" cy="630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Tensor 코어의 세분화된 구조적 희소성</a:t>
            </a:r>
            <a:endParaRPr/>
          </a:p>
          <a:p>
            <a:pPr marL="516742" lvl="1" indent="-342907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50% 세분화된 희소성</a:t>
            </a:r>
            <a:endParaRPr/>
          </a:p>
          <a:p>
            <a:pPr marL="516742" lvl="1" indent="-342907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2:4 패턴: 각 인접 블록에서 4개 중 2개의 값이 0이어야 함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3가지 문제 해결:</a:t>
            </a:r>
            <a:endParaRPr/>
          </a:p>
          <a:p>
            <a:pPr marL="516742" lvl="1" indent="-342907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solidFill>
                  <a:srgbClr val="580000"/>
                </a:solidFill>
              </a:rPr>
              <a:t>정확도: </a:t>
            </a:r>
            <a:r>
              <a:rPr lang="en-US"/>
              <a:t>프루닝되지 않은 원래 네트워크의 정확도 유지</a:t>
            </a:r>
            <a:endParaRPr/>
          </a:p>
          <a:p>
            <a:pPr marL="854886" lvl="2" indent="-338176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중간 희소성 수준(50%), 세분화됨</a:t>
            </a:r>
            <a:endParaRPr/>
          </a:p>
          <a:p>
            <a:pPr marL="516742" lvl="1" indent="-342907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solidFill>
                  <a:srgbClr val="580000"/>
                </a:solidFill>
              </a:rPr>
              <a:t>트레이닝: </a:t>
            </a:r>
            <a:r>
              <a:rPr lang="en-US"/>
              <a:t>작업 및 네트워크 전반에서 작동하는 것으로 나타난 레시피</a:t>
            </a:r>
            <a:endParaRPr/>
          </a:p>
          <a:p>
            <a:pPr marL="516742" lvl="1" indent="-342907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solidFill>
                  <a:srgbClr val="580000"/>
                </a:solidFill>
              </a:rPr>
              <a:t>속도 증가: </a:t>
            </a:r>
            <a:endParaRPr/>
          </a:p>
          <a:p>
            <a:pPr marL="854886" lvl="2" indent="-338176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희소 계산을 위한 전문화된 Tensor 코어 지원</a:t>
            </a:r>
            <a:endParaRPr/>
          </a:p>
          <a:p>
            <a:pPr marL="854886" lvl="2" indent="-338176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구조화됨: 효율적인 메모리 활용에 적합</a:t>
            </a:r>
            <a:endParaRPr/>
          </a:p>
        </p:txBody>
      </p:sp>
      <p:graphicFrame>
        <p:nvGraphicFramePr>
          <p:cNvPr id="753" name="Google Shape;753;p40"/>
          <p:cNvGraphicFramePr/>
          <p:nvPr/>
        </p:nvGraphicFramePr>
        <p:xfrm>
          <a:off x="12849467" y="3534817"/>
          <a:ext cx="3429000" cy="3429000"/>
        </p:xfrm>
        <a:graphic>
          <a:graphicData uri="http://schemas.openxmlformats.org/drawingml/2006/table">
            <a:tbl>
              <a:tblPr>
                <a:noFill/>
                <a:tableStyleId>{990E7882-7590-479E-8E46-6FDCD1065B28}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7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9803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7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8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7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7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7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9803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7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7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1490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7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/>
                    </a:p>
                  </a:txBody>
                  <a:tcPr marL="43900" marR="43900" marT="43900" marB="43900" anchor="ctr">
                    <a:lnL w="38100" cap="flat" cmpd="sng">
                      <a:solidFill>
                        <a:srgbClr val="42424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7E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051">
                        <a:alpha val="8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54" name="Google Shape;754;p40"/>
          <p:cNvSpPr/>
          <p:nvPr/>
        </p:nvSpPr>
        <p:spPr>
          <a:xfrm>
            <a:off x="13814516" y="7107953"/>
            <a:ext cx="346067" cy="3429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24242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5" name="Google Shape;755;p40"/>
          <p:cNvSpPr txBox="1"/>
          <p:nvPr/>
        </p:nvSpPr>
        <p:spPr>
          <a:xfrm>
            <a:off x="14236031" y="7049535"/>
            <a:ext cx="1625451" cy="47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0 값</a:t>
            </a:r>
            <a:endParaRPr/>
          </a:p>
        </p:txBody>
      </p:sp>
      <p:sp>
        <p:nvSpPr>
          <p:cNvPr id="756" name="Google Shape;756;p40"/>
          <p:cNvSpPr txBox="1"/>
          <p:nvPr/>
        </p:nvSpPr>
        <p:spPr>
          <a:xfrm>
            <a:off x="12790774" y="3027415"/>
            <a:ext cx="3502567" cy="47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2:4 구조화된 희소 행렬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Google Shape;76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690" y="3008982"/>
            <a:ext cx="16564620" cy="5763787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41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프루닝</a:t>
            </a:r>
            <a:endParaRPr/>
          </a:p>
        </p:txBody>
      </p:sp>
      <p:sp>
        <p:nvSpPr>
          <p:cNvPr id="763" name="Google Shape;763;p41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구조적 희소성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2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신뢰할 수 있는 접근 방식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3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프루닝</a:t>
            </a:r>
            <a:endParaRPr/>
          </a:p>
        </p:txBody>
      </p:sp>
      <p:sp>
        <p:nvSpPr>
          <p:cNvPr id="774" name="Google Shape;774;p43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모델 성능</a:t>
            </a:r>
            <a:endParaRPr/>
          </a:p>
        </p:txBody>
      </p:sp>
      <p:pic>
        <p:nvPicPr>
          <p:cNvPr id="775" name="Google Shape;775;p4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031414" y="2798447"/>
            <a:ext cx="14225172" cy="6197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4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프루닝</a:t>
            </a:r>
            <a:endParaRPr/>
          </a:p>
        </p:txBody>
      </p:sp>
      <p:sp>
        <p:nvSpPr>
          <p:cNvPr id="781" name="Google Shape;781;p44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모델 성능</a:t>
            </a:r>
            <a:endParaRPr/>
          </a:p>
        </p:txBody>
      </p:sp>
      <p:pic>
        <p:nvPicPr>
          <p:cNvPr id="782" name="Google Shape;782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9535" y="4213794"/>
            <a:ext cx="14408930" cy="3268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5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프루닝</a:t>
            </a:r>
            <a:endParaRPr/>
          </a:p>
        </p:txBody>
      </p:sp>
      <p:sp>
        <p:nvSpPr>
          <p:cNvPr id="788" name="Google Shape;788;p45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모델 성능</a:t>
            </a:r>
            <a:endParaRPr/>
          </a:p>
        </p:txBody>
      </p:sp>
      <p:pic>
        <p:nvPicPr>
          <p:cNvPr id="789" name="Google Shape;789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2468" y="3053317"/>
            <a:ext cx="13923064" cy="6451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6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NLP에 미치는 영향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7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네트워크 성능</a:t>
            </a:r>
            <a:endParaRPr/>
          </a:p>
        </p:txBody>
      </p:sp>
      <p:sp>
        <p:nvSpPr>
          <p:cNvPr id="801" name="Google Shape;801;p47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BERT-Large</a:t>
            </a:r>
            <a:endParaRPr/>
          </a:p>
        </p:txBody>
      </p:sp>
      <p:pic>
        <p:nvPicPr>
          <p:cNvPr id="802" name="Google Shape;802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30555" y="5483014"/>
            <a:ext cx="10726937" cy="278377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47"/>
          <p:cNvSpPr txBox="1"/>
          <p:nvPr/>
        </p:nvSpPr>
        <p:spPr>
          <a:xfrm>
            <a:off x="1753940" y="3067913"/>
            <a:ext cx="14780120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1.8배 GEMM 성능 -&gt; 1.5배 네트워크 성능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일부 작업은 고밀도로 유지됨: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비 GEMM 레이어(Softmax, 잔차 추가, 정규화, 활성화 함수 등)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프루닝할 가중치가 없는 GEMM – 어텐션 배치 행렬 곱셈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48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트레이닝 기술들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9"/>
          <p:cNvSpPr txBox="1"/>
          <p:nvPr/>
        </p:nvSpPr>
        <p:spPr>
          <a:xfrm>
            <a:off x="1193110" y="3532809"/>
            <a:ext cx="10673617" cy="514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75" rIns="137150" bIns="685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Trebuchet MS"/>
              <a:buNone/>
            </a:pPr>
            <a:endParaRPr sz="4200" b="1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37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Trebuchet MS"/>
              <a:buNone/>
            </a:pPr>
            <a:r>
              <a:rPr lang="en-US" sz="4200" b="1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2) 2:4 희소성을 위한 프루닝</a:t>
            </a:r>
            <a:endParaRPr/>
          </a:p>
        </p:txBody>
      </p:sp>
      <p:sp>
        <p:nvSpPr>
          <p:cNvPr id="814" name="Google Shape;814;p49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2:4 희소 네트워크 트레이닝을 위한 제작법</a:t>
            </a:r>
            <a:endParaRPr/>
          </a:p>
        </p:txBody>
      </p:sp>
      <p:sp>
        <p:nvSpPr>
          <p:cNvPr id="815" name="Google Shape;815;p49"/>
          <p:cNvSpPr txBox="1"/>
          <p:nvPr/>
        </p:nvSpPr>
        <p:spPr>
          <a:xfrm>
            <a:off x="1193110" y="3532811"/>
            <a:ext cx="10673617" cy="514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75" rIns="137150" bIns="685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Trebuchet MS"/>
              <a:buNone/>
            </a:pPr>
            <a:r>
              <a:rPr lang="en-US" sz="4200" b="1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1) 밀집 네트워크 트레이닝 또는 획득</a:t>
            </a:r>
            <a:endParaRPr/>
          </a:p>
        </p:txBody>
      </p:sp>
      <p:grpSp>
        <p:nvGrpSpPr>
          <p:cNvPr id="816" name="Google Shape;816;p49"/>
          <p:cNvGrpSpPr/>
          <p:nvPr/>
        </p:nvGrpSpPr>
        <p:grpSpPr>
          <a:xfrm>
            <a:off x="13571320" y="2186666"/>
            <a:ext cx="4229457" cy="2082612"/>
            <a:chOff x="3682782" y="4549511"/>
            <a:chExt cx="2819638" cy="1388408"/>
          </a:xfrm>
        </p:grpSpPr>
        <p:pic>
          <p:nvPicPr>
            <p:cNvPr id="817" name="Google Shape;817;p4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682782" y="4549511"/>
              <a:ext cx="1321038" cy="13884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49"/>
            <p:cNvSpPr txBox="1"/>
            <p:nvPr/>
          </p:nvSpPr>
          <p:spPr>
            <a:xfrm>
              <a:off x="5003820" y="4989880"/>
              <a:ext cx="1498600" cy="22775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밀집 가중치</a:t>
              </a:r>
              <a:endParaRPr/>
            </a:p>
          </p:txBody>
        </p:sp>
      </p:grpSp>
      <p:grpSp>
        <p:nvGrpSpPr>
          <p:cNvPr id="819" name="Google Shape;819;p49"/>
          <p:cNvGrpSpPr/>
          <p:nvPr/>
        </p:nvGrpSpPr>
        <p:grpSpPr>
          <a:xfrm>
            <a:off x="13516730" y="4142106"/>
            <a:ext cx="4483107" cy="3146388"/>
            <a:chOff x="9097590" y="3429000"/>
            <a:chExt cx="2988738" cy="2097592"/>
          </a:xfrm>
        </p:grpSpPr>
        <p:grpSp>
          <p:nvGrpSpPr>
            <p:cNvPr id="820" name="Google Shape;820;p49"/>
            <p:cNvGrpSpPr/>
            <p:nvPr/>
          </p:nvGrpSpPr>
          <p:grpSpPr>
            <a:xfrm>
              <a:off x="9106052" y="3429000"/>
              <a:ext cx="2980276" cy="2097592"/>
              <a:chOff x="9097985" y="3451971"/>
              <a:chExt cx="2980276" cy="2097592"/>
            </a:xfrm>
          </p:grpSpPr>
          <p:grpSp>
            <p:nvGrpSpPr>
              <p:cNvPr id="821" name="Google Shape;821;p49"/>
              <p:cNvGrpSpPr/>
              <p:nvPr/>
            </p:nvGrpSpPr>
            <p:grpSpPr>
              <a:xfrm>
                <a:off x="9097985" y="3451971"/>
                <a:ext cx="2980276" cy="2097592"/>
                <a:chOff x="6019472" y="4314994"/>
                <a:chExt cx="2980276" cy="2097592"/>
              </a:xfrm>
            </p:grpSpPr>
            <p:sp>
              <p:nvSpPr>
                <p:cNvPr id="822" name="Google Shape;822;p49"/>
                <p:cNvSpPr/>
                <p:nvPr/>
              </p:nvSpPr>
              <p:spPr>
                <a:xfrm>
                  <a:off x="6028175" y="5921209"/>
                  <a:ext cx="1312338" cy="49137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3" name="Google Shape;823;p49"/>
                <p:cNvSpPr/>
                <p:nvPr/>
              </p:nvSpPr>
              <p:spPr>
                <a:xfrm>
                  <a:off x="6055691" y="5944981"/>
                  <a:ext cx="1284822" cy="268682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824" name="Google Shape;824;p4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019472" y="4314994"/>
                  <a:ext cx="1348363" cy="208841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25" name="Google Shape;825;p49"/>
                <p:cNvSpPr txBox="1"/>
                <p:nvPr/>
              </p:nvSpPr>
              <p:spPr>
                <a:xfrm>
                  <a:off x="7383723" y="4975679"/>
                  <a:ext cx="1616025" cy="227755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sp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b="1">
                      <a:solidFill>
                        <a:schemeClr val="dk2"/>
                      </a:solidFill>
                      <a:latin typeface="Trebuchet MS"/>
                      <a:ea typeface="Trebuchet MS"/>
                      <a:cs typeface="Trebuchet MS"/>
                      <a:sym typeface="Trebuchet MS"/>
                    </a:rPr>
                    <a:t>2:4 희소 가중치</a:t>
                  </a:r>
                  <a:endParaRPr/>
                </a:p>
              </p:txBody>
            </p:sp>
          </p:grpSp>
          <p:sp>
            <p:nvSpPr>
              <p:cNvPr id="826" name="Google Shape;826;p49"/>
              <p:cNvSpPr/>
              <p:nvPr/>
            </p:nvSpPr>
            <p:spPr>
              <a:xfrm>
                <a:off x="9134204" y="5084979"/>
                <a:ext cx="1498600" cy="35242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7" name="Google Shape;827;p49"/>
            <p:cNvSpPr/>
            <p:nvPr/>
          </p:nvSpPr>
          <p:spPr>
            <a:xfrm>
              <a:off x="9097590" y="3512024"/>
              <a:ext cx="1498600" cy="1962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8" name="Google Shape;828;p49"/>
          <p:cNvGrpSpPr/>
          <p:nvPr/>
        </p:nvGrpSpPr>
        <p:grpSpPr>
          <a:xfrm>
            <a:off x="13542477" y="6459079"/>
            <a:ext cx="4483107" cy="3146388"/>
            <a:chOff x="9087459" y="4610848"/>
            <a:chExt cx="2988738" cy="2097592"/>
          </a:xfrm>
        </p:grpSpPr>
        <p:grpSp>
          <p:nvGrpSpPr>
            <p:cNvPr id="829" name="Google Shape;829;p49"/>
            <p:cNvGrpSpPr/>
            <p:nvPr/>
          </p:nvGrpSpPr>
          <p:grpSpPr>
            <a:xfrm>
              <a:off x="9087459" y="4610848"/>
              <a:ext cx="2988738" cy="2097592"/>
              <a:chOff x="9097590" y="3429000"/>
              <a:chExt cx="2988738" cy="2097592"/>
            </a:xfrm>
          </p:grpSpPr>
          <p:grpSp>
            <p:nvGrpSpPr>
              <p:cNvPr id="830" name="Google Shape;830;p49"/>
              <p:cNvGrpSpPr/>
              <p:nvPr/>
            </p:nvGrpSpPr>
            <p:grpSpPr>
              <a:xfrm>
                <a:off x="9106052" y="3429000"/>
                <a:ext cx="2980276" cy="2097592"/>
                <a:chOff x="9097985" y="3451971"/>
                <a:chExt cx="2980276" cy="2097592"/>
              </a:xfrm>
            </p:grpSpPr>
            <p:grpSp>
              <p:nvGrpSpPr>
                <p:cNvPr id="831" name="Google Shape;831;p49"/>
                <p:cNvGrpSpPr/>
                <p:nvPr/>
              </p:nvGrpSpPr>
              <p:grpSpPr>
                <a:xfrm>
                  <a:off x="9097985" y="3451971"/>
                  <a:ext cx="2980276" cy="2097592"/>
                  <a:chOff x="6019472" y="4314994"/>
                  <a:chExt cx="2980276" cy="2097592"/>
                </a:xfrm>
              </p:grpSpPr>
              <p:sp>
                <p:nvSpPr>
                  <p:cNvPr id="832" name="Google Shape;832;p49"/>
                  <p:cNvSpPr/>
                  <p:nvPr/>
                </p:nvSpPr>
                <p:spPr>
                  <a:xfrm>
                    <a:off x="6028175" y="5921209"/>
                    <a:ext cx="1312338" cy="491377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3" name="Google Shape;833;p49"/>
                  <p:cNvSpPr/>
                  <p:nvPr/>
                </p:nvSpPr>
                <p:spPr>
                  <a:xfrm>
                    <a:off x="6055691" y="5944981"/>
                    <a:ext cx="1284822" cy="268682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pic>
                <p:nvPicPr>
                  <p:cNvPr id="834" name="Google Shape;834;p49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6019472" y="4314994"/>
                    <a:ext cx="1348363" cy="208841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35" name="Google Shape;835;p49"/>
                  <p:cNvSpPr txBox="1"/>
                  <p:nvPr/>
                </p:nvSpPr>
                <p:spPr>
                  <a:xfrm>
                    <a:off x="7383723" y="4892579"/>
                    <a:ext cx="1616025" cy="393954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 b="1">
                        <a:solidFill>
                          <a:schemeClr val="dk2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rPr>
                      <a:t>재트레이닝된 2:4 희소 가중치</a:t>
                    </a:r>
                    <a:endParaRPr/>
                  </a:p>
                </p:txBody>
              </p:sp>
            </p:grpSp>
            <p:sp>
              <p:nvSpPr>
                <p:cNvPr id="836" name="Google Shape;836;p49"/>
                <p:cNvSpPr/>
                <p:nvPr/>
              </p:nvSpPr>
              <p:spPr>
                <a:xfrm>
                  <a:off x="9134204" y="5084979"/>
                  <a:ext cx="1498600" cy="352425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7" name="Google Shape;837;p49"/>
              <p:cNvSpPr/>
              <p:nvPr/>
            </p:nvSpPr>
            <p:spPr>
              <a:xfrm>
                <a:off x="9097590" y="3512024"/>
                <a:ext cx="1498600" cy="196213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38" name="Google Shape;838;p4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132765" y="4944673"/>
              <a:ext cx="1287080" cy="12893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9" name="Google Shape;839;p49"/>
          <p:cNvSpPr txBox="1"/>
          <p:nvPr/>
        </p:nvSpPr>
        <p:spPr>
          <a:xfrm>
            <a:off x="1193107" y="3532806"/>
            <a:ext cx="10673617" cy="514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75" rIns="137150" bIns="685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Trebuchet MS"/>
              <a:buNone/>
            </a:pPr>
            <a:r>
              <a:rPr lang="en-US" sz="4200" b="1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1) 밀집 네트워크 트레이닝 또는 획득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7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Trebuchet MS"/>
              <a:buNone/>
            </a:pPr>
            <a:r>
              <a:rPr lang="en-US" sz="4200" b="1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2) 2:4 희소성을 위한 프루닝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7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Trebuchet MS"/>
              <a:buNone/>
            </a:pPr>
            <a:r>
              <a:rPr lang="en-US" sz="4200" b="1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3) 원래 트레이닝 절차 반복</a:t>
            </a:r>
            <a:endParaRPr/>
          </a:p>
          <a:p>
            <a:pPr marL="940614" marR="0" lvl="0" indent="-428634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1단계와 동일한 하이퍼 매개변수</a:t>
            </a:r>
            <a:endParaRPr/>
          </a:p>
          <a:p>
            <a:pPr marL="940614" marR="0" lvl="0" indent="-428634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2단계의 가중치로 초기화</a:t>
            </a:r>
            <a:endParaRPr/>
          </a:p>
          <a:p>
            <a:pPr marL="940614" marR="0" lvl="0" indent="-428634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2단계의 0 패턴 유지: 마스크 재연산이 필요하지 않음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0"/>
          <p:cNvSpPr txBox="1">
            <a:spLocks noGrp="1"/>
          </p:cNvSpPr>
          <p:nvPr>
            <p:ph type="title"/>
          </p:nvPr>
        </p:nvSpPr>
        <p:spPr>
          <a:xfrm>
            <a:off x="830580" y="54463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LEARNING RATE SCHEDULING 예제</a:t>
            </a:r>
            <a:endParaRPr/>
          </a:p>
        </p:txBody>
      </p:sp>
      <p:grpSp>
        <p:nvGrpSpPr>
          <p:cNvPr id="845" name="Google Shape;845;p50"/>
          <p:cNvGrpSpPr/>
          <p:nvPr/>
        </p:nvGrpSpPr>
        <p:grpSpPr>
          <a:xfrm>
            <a:off x="4826320" y="-2057913"/>
            <a:ext cx="14463049" cy="9247088"/>
            <a:chOff x="3627031" y="360872"/>
            <a:chExt cx="9642033" cy="6164726"/>
          </a:xfrm>
        </p:grpSpPr>
        <p:grpSp>
          <p:nvGrpSpPr>
            <p:cNvPr id="846" name="Google Shape;846;p50"/>
            <p:cNvGrpSpPr/>
            <p:nvPr/>
          </p:nvGrpSpPr>
          <p:grpSpPr>
            <a:xfrm>
              <a:off x="3669223" y="360872"/>
              <a:ext cx="9599841" cy="6164725"/>
              <a:chOff x="5229425" y="271772"/>
              <a:chExt cx="9599841" cy="6164725"/>
            </a:xfrm>
          </p:grpSpPr>
          <p:cxnSp>
            <p:nvCxnSpPr>
              <p:cNvPr id="847" name="Google Shape;847;p50"/>
              <p:cNvCxnSpPr/>
              <p:nvPr/>
            </p:nvCxnSpPr>
            <p:spPr>
              <a:xfrm rot="10800000" flipH="1">
                <a:off x="8168816" y="4344485"/>
                <a:ext cx="307214" cy="1319245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48" name="Google Shape;848;p50"/>
              <p:cNvCxnSpPr/>
              <p:nvPr/>
            </p:nvCxnSpPr>
            <p:spPr>
              <a:xfrm>
                <a:off x="8131774" y="5693532"/>
                <a:ext cx="256765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49" name="Google Shape;849;p50"/>
              <p:cNvCxnSpPr/>
              <p:nvPr/>
            </p:nvCxnSpPr>
            <p:spPr>
              <a:xfrm>
                <a:off x="10714294" y="5592109"/>
                <a:ext cx="0" cy="202707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50" name="Google Shape;850;p50"/>
              <p:cNvCxnSpPr/>
              <p:nvPr/>
            </p:nvCxnSpPr>
            <p:spPr>
              <a:xfrm>
                <a:off x="5579394" y="5693464"/>
                <a:ext cx="256765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51" name="Google Shape;851;p50"/>
              <p:cNvCxnSpPr/>
              <p:nvPr/>
            </p:nvCxnSpPr>
            <p:spPr>
              <a:xfrm>
                <a:off x="8140962" y="5592110"/>
                <a:ext cx="0" cy="202707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852" name="Google Shape;852;p50"/>
              <p:cNvSpPr txBox="1"/>
              <p:nvPr/>
            </p:nvSpPr>
            <p:spPr>
              <a:xfrm rot="-5400000">
                <a:off x="4720532" y="4871696"/>
                <a:ext cx="132556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학습률</a:t>
                </a:r>
                <a:endParaRPr/>
              </a:p>
            </p:txBody>
          </p:sp>
          <p:cxnSp>
            <p:nvCxnSpPr>
              <p:cNvPr id="853" name="Google Shape;853;p50"/>
              <p:cNvCxnSpPr/>
              <p:nvPr/>
            </p:nvCxnSpPr>
            <p:spPr>
              <a:xfrm rot="10800000" flipH="1">
                <a:off x="5586170" y="4392597"/>
                <a:ext cx="307214" cy="1319245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54" name="Google Shape;854;p50"/>
              <p:cNvCxnSpPr/>
              <p:nvPr/>
            </p:nvCxnSpPr>
            <p:spPr>
              <a:xfrm rot="10800000">
                <a:off x="5579394" y="4323804"/>
                <a:ext cx="0" cy="1458483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sp>
            <p:nvSpPr>
              <p:cNvPr id="855" name="Google Shape;855;p50"/>
              <p:cNvSpPr txBox="1"/>
              <p:nvPr/>
            </p:nvSpPr>
            <p:spPr>
              <a:xfrm>
                <a:off x="6215581" y="4245204"/>
                <a:ext cx="231914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i="1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밀집 트레이닝</a:t>
                </a:r>
                <a:endParaRPr/>
              </a:p>
            </p:txBody>
          </p:sp>
          <p:sp>
            <p:nvSpPr>
              <p:cNvPr id="856" name="Google Shape;856;p50"/>
              <p:cNvSpPr txBox="1"/>
              <p:nvPr/>
            </p:nvSpPr>
            <p:spPr>
              <a:xfrm>
                <a:off x="8868246" y="4250684"/>
                <a:ext cx="272618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 i="1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희소</a:t>
                </a:r>
                <a:r>
                  <a:rPr lang="en-US" sz="2400" i="1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재트레이닝</a:t>
                </a:r>
                <a:endParaRPr/>
              </a:p>
            </p:txBody>
          </p:sp>
          <p:sp>
            <p:nvSpPr>
              <p:cNvPr id="857" name="Google Shape;857;p50"/>
              <p:cNvSpPr/>
              <p:nvPr/>
            </p:nvSpPr>
            <p:spPr>
              <a:xfrm rot="9650108">
                <a:off x="8338308" y="1119941"/>
                <a:ext cx="5921593" cy="4468388"/>
              </a:xfrm>
              <a:prstGeom prst="arc">
                <a:avLst>
                  <a:gd name="adj1" fmla="val 18230918"/>
                  <a:gd name="adj2" fmla="val 0"/>
                </a:avLst>
              </a:prstGeom>
              <a:noFill/>
              <a:ln w="19050" cap="flat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58" name="Google Shape;858;p50"/>
            <p:cNvSpPr/>
            <p:nvPr/>
          </p:nvSpPr>
          <p:spPr>
            <a:xfrm rot="9650108">
              <a:off x="4196395" y="1209042"/>
              <a:ext cx="5921593" cy="4468388"/>
            </a:xfrm>
            <a:prstGeom prst="arc">
              <a:avLst>
                <a:gd name="adj1" fmla="val 18230918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9" name="Google Shape;859;p50"/>
          <p:cNvSpPr/>
          <p:nvPr/>
        </p:nvSpPr>
        <p:spPr>
          <a:xfrm rot="5400000">
            <a:off x="11040231" y="4664277"/>
            <a:ext cx="460072" cy="3776940"/>
          </a:xfrm>
          <a:prstGeom prst="rightBrace">
            <a:avLst>
              <a:gd name="adj1" fmla="val 87823"/>
              <a:gd name="adj2" fmla="val 50000"/>
            </a:avLst>
          </a:prstGeom>
          <a:noFill/>
          <a:ln w="28575" cap="flat" cmpd="sng">
            <a:solidFill>
              <a:srgbClr val="008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4E8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50"/>
          <p:cNvSpPr/>
          <p:nvPr/>
        </p:nvSpPr>
        <p:spPr>
          <a:xfrm rot="5400000">
            <a:off x="7041951" y="4655118"/>
            <a:ext cx="460072" cy="3795257"/>
          </a:xfrm>
          <a:prstGeom prst="rightBrace">
            <a:avLst>
              <a:gd name="adj1" fmla="val 87823"/>
              <a:gd name="adj2" fmla="val 49410"/>
            </a:avLst>
          </a:prstGeom>
          <a:noFill/>
          <a:ln w="28575" cap="flat" cmpd="sng">
            <a:solidFill>
              <a:srgbClr val="008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50"/>
          <p:cNvSpPr txBox="1"/>
          <p:nvPr/>
        </p:nvSpPr>
        <p:spPr>
          <a:xfrm>
            <a:off x="6753306" y="6856214"/>
            <a:ext cx="1093569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8F00"/>
                </a:solidFill>
                <a:latin typeface="Trebuchet MS"/>
                <a:ea typeface="Trebuchet MS"/>
                <a:cs typeface="Trebuchet MS"/>
                <a:sym typeface="Trebuchet MS"/>
              </a:rPr>
              <a:t>1단계</a:t>
            </a:r>
            <a:endParaRPr/>
          </a:p>
        </p:txBody>
      </p:sp>
      <p:sp>
        <p:nvSpPr>
          <p:cNvPr id="862" name="Google Shape;862;p50"/>
          <p:cNvSpPr txBox="1"/>
          <p:nvPr/>
        </p:nvSpPr>
        <p:spPr>
          <a:xfrm>
            <a:off x="10686224" y="6856214"/>
            <a:ext cx="1093569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8F00"/>
                </a:solidFill>
                <a:latin typeface="Trebuchet MS"/>
                <a:ea typeface="Trebuchet MS"/>
                <a:cs typeface="Trebuchet MS"/>
                <a:sym typeface="Trebuchet MS"/>
              </a:rPr>
              <a:t>3단계</a:t>
            </a:r>
            <a:endParaRPr/>
          </a:p>
        </p:txBody>
      </p:sp>
      <p:sp>
        <p:nvSpPr>
          <p:cNvPr id="863" name="Google Shape;863;p50"/>
          <p:cNvSpPr txBox="1"/>
          <p:nvPr/>
        </p:nvSpPr>
        <p:spPr>
          <a:xfrm>
            <a:off x="8728581" y="6847034"/>
            <a:ext cx="1093569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8F00"/>
                </a:solidFill>
                <a:latin typeface="Trebuchet MS"/>
                <a:ea typeface="Trebuchet MS"/>
                <a:cs typeface="Trebuchet MS"/>
                <a:sym typeface="Trebuchet MS"/>
              </a:rPr>
              <a:t>2단계</a:t>
            </a:r>
            <a:endParaRPr/>
          </a:p>
        </p:txBody>
      </p:sp>
      <p:cxnSp>
        <p:nvCxnSpPr>
          <p:cNvPr id="864" name="Google Shape;864;p50"/>
          <p:cNvCxnSpPr>
            <a:stCxn id="863" idx="0"/>
          </p:cNvCxnSpPr>
          <p:nvPr/>
        </p:nvCxnSpPr>
        <p:spPr>
          <a:xfrm rot="10800000">
            <a:off x="9275366" y="6226634"/>
            <a:ext cx="0" cy="620400"/>
          </a:xfrm>
          <a:prstGeom prst="straightConnector1">
            <a:avLst/>
          </a:prstGeom>
          <a:noFill/>
          <a:ln w="28575" cap="flat" cmpd="sng">
            <a:solidFill>
              <a:srgbClr val="008F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1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BERT SQUAD 예</a:t>
            </a:r>
            <a:endParaRPr/>
          </a:p>
        </p:txBody>
      </p:sp>
      <p:sp>
        <p:nvSpPr>
          <p:cNvPr id="870" name="Google Shape;870;p51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SQuAD 데이터세트와 파인튜닝이 너무 작아 자체적으로 프루닝을 보조할 수 없음</a:t>
            </a:r>
            <a:endParaRPr/>
          </a:p>
        </p:txBody>
      </p:sp>
      <p:sp>
        <p:nvSpPr>
          <p:cNvPr id="871" name="Google Shape;871;p51"/>
          <p:cNvSpPr/>
          <p:nvPr/>
        </p:nvSpPr>
        <p:spPr>
          <a:xfrm>
            <a:off x="6161683" y="6599001"/>
            <a:ext cx="1764425" cy="5286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872" name="Google Shape;872;p51"/>
          <p:cNvCxnSpPr/>
          <p:nvPr/>
        </p:nvCxnSpPr>
        <p:spPr>
          <a:xfrm>
            <a:off x="4896332" y="7655745"/>
            <a:ext cx="0" cy="30406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73" name="Google Shape;873;p51"/>
          <p:cNvCxnSpPr/>
          <p:nvPr/>
        </p:nvCxnSpPr>
        <p:spPr>
          <a:xfrm>
            <a:off x="1039737" y="7815422"/>
            <a:ext cx="3851487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74" name="Google Shape;874;p51"/>
          <p:cNvSpPr txBox="1"/>
          <p:nvPr/>
        </p:nvSpPr>
        <p:spPr>
          <a:xfrm rot="-5400000">
            <a:off x="-248554" y="6582769"/>
            <a:ext cx="198834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학습률</a:t>
            </a:r>
            <a:endParaRPr/>
          </a:p>
        </p:txBody>
      </p:sp>
      <p:cxnSp>
        <p:nvCxnSpPr>
          <p:cNvPr id="875" name="Google Shape;875;p51"/>
          <p:cNvCxnSpPr/>
          <p:nvPr/>
        </p:nvCxnSpPr>
        <p:spPr>
          <a:xfrm rot="10800000" flipH="1">
            <a:off x="1049901" y="5864123"/>
            <a:ext cx="460822" cy="197886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76" name="Google Shape;876;p51"/>
          <p:cNvCxnSpPr/>
          <p:nvPr/>
        </p:nvCxnSpPr>
        <p:spPr>
          <a:xfrm rot="10800000">
            <a:off x="1039737" y="5760933"/>
            <a:ext cx="0" cy="2187725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877" name="Google Shape;877;p51"/>
          <p:cNvCxnSpPr/>
          <p:nvPr/>
        </p:nvCxnSpPr>
        <p:spPr>
          <a:xfrm>
            <a:off x="5923073" y="7662888"/>
            <a:ext cx="0" cy="30406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78" name="Google Shape;878;p51"/>
          <p:cNvSpPr/>
          <p:nvPr/>
        </p:nvSpPr>
        <p:spPr>
          <a:xfrm rot="9650108">
            <a:off x="1300644" y="959364"/>
            <a:ext cx="8882390" cy="6702582"/>
          </a:xfrm>
          <a:prstGeom prst="arc">
            <a:avLst>
              <a:gd name="adj1" fmla="val 18230918"/>
              <a:gd name="adj2" fmla="val 0"/>
            </a:avLst>
          </a:prstGeom>
          <a:noFill/>
          <a:ln w="19050" cap="flat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51"/>
          <p:cNvSpPr txBox="1"/>
          <p:nvPr/>
        </p:nvSpPr>
        <p:spPr>
          <a:xfrm>
            <a:off x="1086016" y="5010867"/>
            <a:ext cx="347871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1단계: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언어 모델 사전 트레이닝</a:t>
            </a:r>
            <a:endParaRPr/>
          </a:p>
        </p:txBody>
      </p:sp>
      <p:cxnSp>
        <p:nvCxnSpPr>
          <p:cNvPr id="880" name="Google Shape;880;p51"/>
          <p:cNvCxnSpPr>
            <a:endCxn id="881" idx="2"/>
          </p:cNvCxnSpPr>
          <p:nvPr/>
        </p:nvCxnSpPr>
        <p:spPr>
          <a:xfrm rot="10800000" flipH="1">
            <a:off x="4918755" y="7197548"/>
            <a:ext cx="154800" cy="57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82" name="Google Shape;882;p51"/>
          <p:cNvCxnSpPr/>
          <p:nvPr/>
        </p:nvCxnSpPr>
        <p:spPr>
          <a:xfrm>
            <a:off x="4863151" y="7814918"/>
            <a:ext cx="1051778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1" name="Google Shape;881;p51"/>
          <p:cNvSpPr/>
          <p:nvPr/>
        </p:nvSpPr>
        <p:spPr>
          <a:xfrm rot="9650108">
            <a:off x="4864844" y="4711856"/>
            <a:ext cx="4662375" cy="3091898"/>
          </a:xfrm>
          <a:prstGeom prst="arc">
            <a:avLst>
              <a:gd name="adj1" fmla="val 19786170"/>
              <a:gd name="adj2" fmla="val 21316987"/>
            </a:avLst>
          </a:prstGeom>
          <a:noFill/>
          <a:ln w="19050" cap="flat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3" name="Google Shape;883;p51"/>
          <p:cNvCxnSpPr/>
          <p:nvPr/>
        </p:nvCxnSpPr>
        <p:spPr>
          <a:xfrm>
            <a:off x="12478733" y="7689937"/>
            <a:ext cx="0" cy="30406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84" name="Google Shape;884;p51"/>
          <p:cNvCxnSpPr/>
          <p:nvPr/>
        </p:nvCxnSpPr>
        <p:spPr>
          <a:xfrm rot="10800000" flipH="1">
            <a:off x="12465321" y="5864123"/>
            <a:ext cx="460822" cy="197886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885" name="Google Shape;885;p51"/>
          <p:cNvSpPr/>
          <p:nvPr/>
        </p:nvSpPr>
        <p:spPr>
          <a:xfrm rot="9650108">
            <a:off x="12716062" y="959364"/>
            <a:ext cx="8882390" cy="6702582"/>
          </a:xfrm>
          <a:prstGeom prst="arc">
            <a:avLst>
              <a:gd name="adj1" fmla="val 18230918"/>
              <a:gd name="adj2" fmla="val 0"/>
            </a:avLst>
          </a:prstGeom>
          <a:noFill/>
          <a:ln w="19050" cap="flat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6" name="Google Shape;886;p51"/>
          <p:cNvCxnSpPr/>
          <p:nvPr/>
        </p:nvCxnSpPr>
        <p:spPr>
          <a:xfrm>
            <a:off x="12450710" y="7849717"/>
            <a:ext cx="3851487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87" name="Google Shape;887;p51"/>
          <p:cNvCxnSpPr/>
          <p:nvPr/>
        </p:nvCxnSpPr>
        <p:spPr>
          <a:xfrm>
            <a:off x="16324491" y="7697583"/>
            <a:ext cx="0" cy="30406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88" name="Google Shape;888;p51"/>
          <p:cNvCxnSpPr/>
          <p:nvPr/>
        </p:nvCxnSpPr>
        <p:spPr>
          <a:xfrm>
            <a:off x="8622140" y="7849613"/>
            <a:ext cx="3851487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9" name="Google Shape;889;p51"/>
          <p:cNvSpPr txBox="1"/>
          <p:nvPr/>
        </p:nvSpPr>
        <p:spPr>
          <a:xfrm rot="-5400000">
            <a:off x="7333848" y="6616963"/>
            <a:ext cx="198834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학습률</a:t>
            </a:r>
            <a:endParaRPr/>
          </a:p>
        </p:txBody>
      </p:sp>
      <p:cxnSp>
        <p:nvCxnSpPr>
          <p:cNvPr id="890" name="Google Shape;890;p51"/>
          <p:cNvCxnSpPr/>
          <p:nvPr/>
        </p:nvCxnSpPr>
        <p:spPr>
          <a:xfrm rot="10800000" flipH="1">
            <a:off x="8632304" y="5898314"/>
            <a:ext cx="460822" cy="197886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91" name="Google Shape;891;p51"/>
          <p:cNvCxnSpPr/>
          <p:nvPr/>
        </p:nvCxnSpPr>
        <p:spPr>
          <a:xfrm rot="10800000">
            <a:off x="8622140" y="5795126"/>
            <a:ext cx="0" cy="2187725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892" name="Google Shape;892;p51"/>
          <p:cNvCxnSpPr/>
          <p:nvPr/>
        </p:nvCxnSpPr>
        <p:spPr>
          <a:xfrm>
            <a:off x="17365092" y="7689937"/>
            <a:ext cx="0" cy="30406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93" name="Google Shape;893;p51"/>
          <p:cNvSpPr/>
          <p:nvPr/>
        </p:nvSpPr>
        <p:spPr>
          <a:xfrm rot="9650108">
            <a:off x="8883045" y="993556"/>
            <a:ext cx="8882390" cy="6702582"/>
          </a:xfrm>
          <a:prstGeom prst="arc">
            <a:avLst>
              <a:gd name="adj1" fmla="val 18230918"/>
              <a:gd name="adj2" fmla="val 0"/>
            </a:avLst>
          </a:prstGeom>
          <a:noFill/>
          <a:ln w="19050" cap="flat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4" name="Google Shape;894;p51"/>
          <p:cNvCxnSpPr>
            <a:endCxn id="895" idx="2"/>
          </p:cNvCxnSpPr>
          <p:nvPr/>
        </p:nvCxnSpPr>
        <p:spPr>
          <a:xfrm rot="10800000" flipH="1">
            <a:off x="16360775" y="7224596"/>
            <a:ext cx="154800" cy="57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96" name="Google Shape;896;p51"/>
          <p:cNvCxnSpPr/>
          <p:nvPr/>
        </p:nvCxnSpPr>
        <p:spPr>
          <a:xfrm>
            <a:off x="16305169" y="7841967"/>
            <a:ext cx="1051778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95" name="Google Shape;895;p51"/>
          <p:cNvSpPr/>
          <p:nvPr/>
        </p:nvSpPr>
        <p:spPr>
          <a:xfrm rot="9650108">
            <a:off x="16306863" y="4738904"/>
            <a:ext cx="4662375" cy="3091898"/>
          </a:xfrm>
          <a:prstGeom prst="arc">
            <a:avLst>
              <a:gd name="adj1" fmla="val 19786170"/>
              <a:gd name="adj2" fmla="val 21316987"/>
            </a:avLst>
          </a:prstGeom>
          <a:noFill/>
          <a:ln w="19050" cap="flat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51"/>
          <p:cNvSpPr txBox="1"/>
          <p:nvPr/>
        </p:nvSpPr>
        <p:spPr>
          <a:xfrm>
            <a:off x="4699892" y="5007871"/>
            <a:ext cx="281473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2단계: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SQuAD 파인튜닝</a:t>
            </a:r>
            <a:endParaRPr/>
          </a:p>
        </p:txBody>
      </p:sp>
      <p:sp>
        <p:nvSpPr>
          <p:cNvPr id="898" name="Google Shape;898;p51"/>
          <p:cNvSpPr txBox="1"/>
          <p:nvPr/>
        </p:nvSpPr>
        <p:spPr>
          <a:xfrm>
            <a:off x="12184959" y="4946972"/>
            <a:ext cx="347871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1단계: </a:t>
            </a:r>
            <a:r>
              <a:rPr lang="en-US" sz="24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희소</a:t>
            </a: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언어 모델 사전 트레이닝</a:t>
            </a:r>
            <a:endParaRPr/>
          </a:p>
        </p:txBody>
      </p:sp>
      <p:sp>
        <p:nvSpPr>
          <p:cNvPr id="899" name="Google Shape;899;p51"/>
          <p:cNvSpPr txBox="1"/>
          <p:nvPr/>
        </p:nvSpPr>
        <p:spPr>
          <a:xfrm>
            <a:off x="15671028" y="4942267"/>
            <a:ext cx="281473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2단계: </a:t>
            </a:r>
            <a:r>
              <a:rPr lang="en-US" sz="24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희소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SQuAD 파인튜닝</a:t>
            </a:r>
            <a:endParaRPr/>
          </a:p>
        </p:txBody>
      </p:sp>
      <p:sp>
        <p:nvSpPr>
          <p:cNvPr id="900" name="Google Shape;900;p51"/>
          <p:cNvSpPr txBox="1"/>
          <p:nvPr/>
        </p:nvSpPr>
        <p:spPr>
          <a:xfrm>
            <a:off x="8662348" y="4942267"/>
            <a:ext cx="347871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1단계: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언어 모델 사전 트레이닝</a:t>
            </a:r>
            <a:endParaRPr/>
          </a:p>
        </p:txBody>
      </p:sp>
      <p:sp>
        <p:nvSpPr>
          <p:cNvPr id="901" name="Google Shape;901;p51"/>
          <p:cNvSpPr/>
          <p:nvPr/>
        </p:nvSpPr>
        <p:spPr>
          <a:xfrm rot="5400000">
            <a:off x="14751277" y="6114581"/>
            <a:ext cx="460072" cy="4765828"/>
          </a:xfrm>
          <a:prstGeom prst="rightBrace">
            <a:avLst>
              <a:gd name="adj1" fmla="val 87823"/>
              <a:gd name="adj2" fmla="val 50000"/>
            </a:avLst>
          </a:prstGeom>
          <a:noFill/>
          <a:ln w="28575" cap="flat" cmpd="sng">
            <a:solidFill>
              <a:srgbClr val="008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51"/>
          <p:cNvSpPr/>
          <p:nvPr/>
        </p:nvSpPr>
        <p:spPr>
          <a:xfrm rot="5400000">
            <a:off x="10299861" y="6640642"/>
            <a:ext cx="460072" cy="3735100"/>
          </a:xfrm>
          <a:prstGeom prst="rightBrace">
            <a:avLst>
              <a:gd name="adj1" fmla="val 87823"/>
              <a:gd name="adj2" fmla="val 49410"/>
            </a:avLst>
          </a:prstGeom>
          <a:noFill/>
          <a:ln w="28575" cap="flat" cmpd="sng">
            <a:solidFill>
              <a:srgbClr val="008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51"/>
          <p:cNvSpPr txBox="1"/>
          <p:nvPr/>
        </p:nvSpPr>
        <p:spPr>
          <a:xfrm>
            <a:off x="10092321" y="8842034"/>
            <a:ext cx="1093569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8F00"/>
                </a:solidFill>
                <a:latin typeface="Trebuchet MS"/>
                <a:ea typeface="Trebuchet MS"/>
                <a:cs typeface="Trebuchet MS"/>
                <a:sym typeface="Trebuchet MS"/>
              </a:rPr>
              <a:t>1단계</a:t>
            </a:r>
            <a:endParaRPr/>
          </a:p>
        </p:txBody>
      </p:sp>
      <p:sp>
        <p:nvSpPr>
          <p:cNvPr id="904" name="Google Shape;904;p51"/>
          <p:cNvSpPr txBox="1"/>
          <p:nvPr/>
        </p:nvSpPr>
        <p:spPr>
          <a:xfrm>
            <a:off x="14541292" y="8827647"/>
            <a:ext cx="1093569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8F00"/>
                </a:solidFill>
                <a:latin typeface="Trebuchet MS"/>
                <a:ea typeface="Trebuchet MS"/>
                <a:cs typeface="Trebuchet MS"/>
                <a:sym typeface="Trebuchet MS"/>
              </a:rPr>
              <a:t>3단계</a:t>
            </a:r>
            <a:endParaRPr/>
          </a:p>
        </p:txBody>
      </p:sp>
      <p:sp>
        <p:nvSpPr>
          <p:cNvPr id="905" name="Google Shape;905;p51"/>
          <p:cNvSpPr txBox="1"/>
          <p:nvPr/>
        </p:nvSpPr>
        <p:spPr>
          <a:xfrm>
            <a:off x="11953442" y="8827647"/>
            <a:ext cx="1093569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8F00"/>
                </a:solidFill>
                <a:latin typeface="Trebuchet MS"/>
                <a:ea typeface="Trebuchet MS"/>
                <a:cs typeface="Trebuchet MS"/>
                <a:sym typeface="Trebuchet MS"/>
              </a:rPr>
              <a:t>2단계</a:t>
            </a:r>
            <a:endParaRPr/>
          </a:p>
        </p:txBody>
      </p:sp>
      <p:cxnSp>
        <p:nvCxnSpPr>
          <p:cNvPr id="906" name="Google Shape;906;p51"/>
          <p:cNvCxnSpPr>
            <a:stCxn id="905" idx="0"/>
          </p:cNvCxnSpPr>
          <p:nvPr/>
        </p:nvCxnSpPr>
        <p:spPr>
          <a:xfrm rot="10800000">
            <a:off x="12500227" y="8207247"/>
            <a:ext cx="0" cy="620400"/>
          </a:xfrm>
          <a:prstGeom prst="straightConnector1">
            <a:avLst/>
          </a:prstGeom>
          <a:noFill/>
          <a:ln w="28575" cap="flat" cmpd="sng">
            <a:solidFill>
              <a:srgbClr val="008F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2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APEX: 자동 희소성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3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구조적 희소성 활용</a:t>
            </a:r>
            <a:endParaRPr/>
          </a:p>
        </p:txBody>
      </p:sp>
      <p:pic>
        <p:nvPicPr>
          <p:cNvPr id="917" name="Google Shape;917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957" y="2154667"/>
            <a:ext cx="17211262" cy="7441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D8CDB4F5-DB62-437E-B3B7-37FB54763E60}"/>
              </a:ext>
            </a:extLst>
          </p:cNvPr>
          <p:cNvSpPr/>
          <p:nvPr/>
        </p:nvSpPr>
        <p:spPr>
          <a:xfrm>
            <a:off x="6880123" y="1203106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54"/>
          <p:cNvSpPr txBox="1"/>
          <p:nvPr/>
        </p:nvSpPr>
        <p:spPr>
          <a:xfrm>
            <a:off x="7890840" y="1386578"/>
            <a:ext cx="8693721" cy="698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3부: 프로덕션 배포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강의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선택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트레이닝 후 최적화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rgbClr val="C785EA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C785EA"/>
                </a:solidFill>
                <a:latin typeface="Arial"/>
                <a:ea typeface="Arial"/>
                <a:cs typeface="Arial"/>
                <a:sym typeface="Arial"/>
              </a:rPr>
              <a:t>제품 양자화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지식 증류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코드 효율성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서빙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애플리케이션 구축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랩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내보내기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호스팅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서버 성능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사용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5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양자화</a:t>
            </a:r>
            <a:endParaRPr/>
          </a:p>
        </p:txBody>
      </p:sp>
      <p:sp>
        <p:nvSpPr>
          <p:cNvPr id="929" name="Google Shape;929;p55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접근 방식</a:t>
            </a:r>
            <a:endParaRPr/>
          </a:p>
        </p:txBody>
      </p:sp>
      <p:pic>
        <p:nvPicPr>
          <p:cNvPr id="930" name="Google Shape;930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3669" y="3412250"/>
            <a:ext cx="2617145" cy="6829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32503" y="3392659"/>
            <a:ext cx="2382288" cy="6440715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55"/>
          <p:cNvSpPr/>
          <p:nvPr/>
        </p:nvSpPr>
        <p:spPr>
          <a:xfrm>
            <a:off x="12534098" y="2774140"/>
            <a:ext cx="5485797" cy="50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양자화 인식 트레이닝(QAT)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55"/>
          <p:cNvSpPr/>
          <p:nvPr/>
        </p:nvSpPr>
        <p:spPr>
          <a:xfrm>
            <a:off x="681212" y="2847994"/>
            <a:ext cx="5046574" cy="50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트레이닝 후 양자화(PTQ)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4" name="Google Shape;934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8774" y="4173316"/>
            <a:ext cx="7670453" cy="5347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6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극도의 모델 압축</a:t>
            </a:r>
            <a:endParaRPr/>
          </a:p>
        </p:txBody>
      </p:sp>
      <p:pic>
        <p:nvPicPr>
          <p:cNvPr id="940" name="Google Shape;940;p5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361713" y="3559916"/>
            <a:ext cx="8174845" cy="5357335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56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양자화 노이즈를 이용한 트레이닝</a:t>
            </a:r>
            <a:endParaRPr/>
          </a:p>
        </p:txBody>
      </p:sp>
      <p:sp>
        <p:nvSpPr>
          <p:cNvPr id="942" name="Google Shape;942;p56"/>
          <p:cNvSpPr/>
          <p:nvPr/>
        </p:nvSpPr>
        <p:spPr>
          <a:xfrm>
            <a:off x="1" y="9902280"/>
            <a:ext cx="1387170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Polino, A., Pascanu, R., 및 Alistarh, D. (2018). Model compression via distillation and quantization. </a:t>
            </a:r>
            <a:r>
              <a:rPr lang="en-US" sz="1500" i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arXiv preprint arXiv:1802.05668</a:t>
            </a:r>
            <a:r>
              <a:rPr lang="en-US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3" name="Google Shape;943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998" y="4635438"/>
            <a:ext cx="8631865" cy="3011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57"/>
          <p:cNvSpPr/>
          <p:nvPr/>
        </p:nvSpPr>
        <p:spPr>
          <a:xfrm>
            <a:off x="2893786" y="3835451"/>
            <a:ext cx="12037786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"우리는 양자화 노이즈(Quant-Noise)를 사용해 Facebook AI의 최첨단 RoBERTa 기본 모델을 480MB에서 14MB로 압축하는 동시에 원래 모델에 대해 84.8%였던 것에 비해 MNLI에서 82.5%를 달성했습니다."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51F655F3-3D29-4515-AFD5-631049F0FC89}"/>
              </a:ext>
            </a:extLst>
          </p:cNvPr>
          <p:cNvSpPr/>
          <p:nvPr/>
        </p:nvSpPr>
        <p:spPr>
          <a:xfrm>
            <a:off x="6880123" y="1203106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58"/>
          <p:cNvSpPr txBox="1"/>
          <p:nvPr/>
        </p:nvSpPr>
        <p:spPr>
          <a:xfrm>
            <a:off x="7890840" y="1386578"/>
            <a:ext cx="8693721" cy="698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3부: 프로덕션 배포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강의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선택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트레이닝 후 최적화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제품 양자화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rgbClr val="C785EA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C785EA"/>
                </a:solidFill>
                <a:latin typeface="Arial"/>
                <a:ea typeface="Arial"/>
                <a:cs typeface="Arial"/>
                <a:sym typeface="Arial"/>
              </a:rPr>
              <a:t>지식 증류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코드 효율성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서빙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애플리케이션 구축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랩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내보내기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호스팅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서버 성능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사용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59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지식 증류(KNOWLEDGE DISTILLATION)</a:t>
            </a:r>
            <a:endParaRPr/>
          </a:p>
        </p:txBody>
      </p:sp>
      <p:sp>
        <p:nvSpPr>
          <p:cNvPr id="960" name="Google Shape;960;p59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아이디어</a:t>
            </a:r>
            <a:endParaRPr/>
          </a:p>
        </p:txBody>
      </p:sp>
      <p:pic>
        <p:nvPicPr>
          <p:cNvPr id="961" name="Google Shape;961;p5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871358" y="2739657"/>
            <a:ext cx="8545285" cy="7190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0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지식 증류</a:t>
            </a:r>
            <a:endParaRPr/>
          </a:p>
        </p:txBody>
      </p:sp>
      <p:sp>
        <p:nvSpPr>
          <p:cNvPr id="967" name="Google Shape;967;p60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DistillBERT</a:t>
            </a:r>
            <a:endParaRPr/>
          </a:p>
        </p:txBody>
      </p:sp>
      <p:sp>
        <p:nvSpPr>
          <p:cNvPr id="968" name="Google Shape;968;p60"/>
          <p:cNvSpPr/>
          <p:nvPr/>
        </p:nvSpPr>
        <p:spPr>
          <a:xfrm>
            <a:off x="0" y="9902280"/>
            <a:ext cx="1436914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Sanh, V., Debut, L., Chaumond, J., 및 Wolf, T. (2019). DistilBERT, a distilled version of BERT: smaller, faster, cheaper and lighter. arXiv preprint arXiv:1910.01108.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9" name="Google Shape;969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1482" y="3505059"/>
            <a:ext cx="9625037" cy="5896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5FA66249-183D-4F6E-8444-6D863DC0FA97}"/>
              </a:ext>
            </a:extLst>
          </p:cNvPr>
          <p:cNvSpPr/>
          <p:nvPr/>
        </p:nvSpPr>
        <p:spPr>
          <a:xfrm>
            <a:off x="6880123" y="1203106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61"/>
          <p:cNvSpPr txBox="1"/>
          <p:nvPr/>
        </p:nvSpPr>
        <p:spPr>
          <a:xfrm>
            <a:off x="7890840" y="1386578"/>
            <a:ext cx="8693721" cy="698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3부: 프로덕션 배포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강의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선택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트레이닝 후 최적화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제품 양자화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지식 증류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rgbClr val="C785EA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C785EA"/>
                </a:solidFill>
                <a:latin typeface="Arial"/>
                <a:ea typeface="Arial"/>
                <a:cs typeface="Arial"/>
                <a:sym typeface="Arial"/>
              </a:rPr>
              <a:t>모델 코드 효율성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서빙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애플리케이션 구축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랩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내보내기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호스팅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서버 성능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사용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2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모든 모델의 코드 품질이 동일하지는 않음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63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연산량은 중요함</a:t>
            </a:r>
            <a:endParaRPr/>
          </a:p>
        </p:txBody>
      </p:sp>
      <p:sp>
        <p:nvSpPr>
          <p:cNvPr id="986" name="Google Shape;986;p63"/>
          <p:cNvSpPr txBox="1">
            <a:spLocks noGrp="1"/>
          </p:cNvSpPr>
          <p:nvPr>
            <p:ph type="body" idx="2"/>
          </p:nvPr>
        </p:nvSpPr>
        <p:spPr>
          <a:xfrm>
            <a:off x="0" y="2099224"/>
            <a:ext cx="1828800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33"/>
              <a:buFont typeface="Trebuchet MS"/>
              <a:buNone/>
            </a:pPr>
            <a:r>
              <a:rPr lang="en-US" sz="3333"/>
              <a:t>하지만 코드 품질도 마찬가지로 중요함</a:t>
            </a:r>
            <a:endParaRPr/>
          </a:p>
        </p:txBody>
      </p:sp>
      <p:sp>
        <p:nvSpPr>
          <p:cNvPr id="987" name="Google Shape;987;p63"/>
          <p:cNvSpPr txBox="1"/>
          <p:nvPr/>
        </p:nvSpPr>
        <p:spPr>
          <a:xfrm>
            <a:off x="947895" y="3348175"/>
            <a:ext cx="15599999" cy="665500"/>
          </a:xfrm>
          <a:prstGeom prst="rect">
            <a:avLst/>
          </a:prstGeom>
          <a:solidFill>
            <a:srgbClr val="73B9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월별 DL 프레임워크 </a:t>
            </a: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업데이트 및 최적화로 성능 향상</a:t>
            </a:r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8" name="Google Shape;988;p63"/>
          <p:cNvSpPr/>
          <p:nvPr/>
        </p:nvSpPr>
        <p:spPr>
          <a:xfrm>
            <a:off x="6891069" y="9165854"/>
            <a:ext cx="4505862" cy="29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ResNet-50 v1.5 트레이닝 | 8x V100 | DGX-1</a:t>
            </a:r>
            <a:endParaRPr sz="13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9" name="Google Shape;989;p63"/>
          <p:cNvGrpSpPr/>
          <p:nvPr/>
        </p:nvGrpSpPr>
        <p:grpSpPr>
          <a:xfrm>
            <a:off x="1547895" y="4366468"/>
            <a:ext cx="14400000" cy="4687018"/>
            <a:chOff x="1255395" y="2699250"/>
            <a:chExt cx="8640000" cy="2812211"/>
          </a:xfrm>
        </p:grpSpPr>
        <p:graphicFrame>
          <p:nvGraphicFramePr>
            <p:cNvPr id="990" name="Google Shape;990;p63"/>
            <p:cNvGraphicFramePr/>
            <p:nvPr/>
          </p:nvGraphicFramePr>
          <p:xfrm>
            <a:off x="1255395" y="2700700"/>
            <a:ext cx="2880000" cy="2808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991" name="Google Shape;991;p63"/>
            <p:cNvGraphicFramePr/>
            <p:nvPr/>
          </p:nvGraphicFramePr>
          <p:xfrm>
            <a:off x="4135395" y="2699250"/>
            <a:ext cx="2880000" cy="2808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992" name="Google Shape;992;p63"/>
            <p:cNvGraphicFramePr/>
            <p:nvPr/>
          </p:nvGraphicFramePr>
          <p:xfrm>
            <a:off x="7015395" y="2703461"/>
            <a:ext cx="2880000" cy="2808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64"/>
          <p:cNvSpPr txBox="1">
            <a:spLocks noGrp="1"/>
          </p:cNvSpPr>
          <p:nvPr>
            <p:ph type="title"/>
          </p:nvPr>
        </p:nvSpPr>
        <p:spPr>
          <a:xfrm>
            <a:off x="830580" y="1102044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NGC: GPU 최적화 소프트웨어 허브</a:t>
            </a:r>
            <a:endParaRPr/>
          </a:p>
        </p:txBody>
      </p:sp>
      <p:sp>
        <p:nvSpPr>
          <p:cNvPr id="999" name="Google Shape;999;p64"/>
          <p:cNvSpPr txBox="1">
            <a:spLocks noGrp="1"/>
          </p:cNvSpPr>
          <p:nvPr>
            <p:ph type="body" idx="2"/>
          </p:nvPr>
        </p:nvSpPr>
        <p:spPr>
          <a:xfrm>
            <a:off x="830580" y="1972222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Trebuchet MS"/>
              <a:buNone/>
            </a:pPr>
            <a:r>
              <a:rPr lang="en-US"/>
              <a:t>DL, ML 및 HPC 워크플로우 간소화</a:t>
            </a:r>
            <a:endParaRPr/>
          </a:p>
        </p:txBody>
      </p:sp>
      <p:cxnSp>
        <p:nvCxnSpPr>
          <p:cNvPr id="1000" name="Google Shape;1000;p64"/>
          <p:cNvCxnSpPr>
            <a:stCxn id="1001" idx="2"/>
            <a:endCxn id="1002" idx="6"/>
          </p:cNvCxnSpPr>
          <p:nvPr/>
        </p:nvCxnSpPr>
        <p:spPr>
          <a:xfrm rot="10800000">
            <a:off x="6470979" y="6105982"/>
            <a:ext cx="1373100" cy="681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3" name="Google Shape;1003;p64"/>
          <p:cNvCxnSpPr>
            <a:stCxn id="1001" idx="0"/>
            <a:endCxn id="1004" idx="2"/>
          </p:cNvCxnSpPr>
          <p:nvPr/>
        </p:nvCxnSpPr>
        <p:spPr>
          <a:xfrm rot="10800000" flipH="1">
            <a:off x="8983200" y="5009014"/>
            <a:ext cx="18600" cy="633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5" name="Google Shape;1005;p64"/>
          <p:cNvCxnSpPr>
            <a:stCxn id="1001" idx="3"/>
            <a:endCxn id="1006" idx="7"/>
          </p:cNvCxnSpPr>
          <p:nvPr/>
        </p:nvCxnSpPr>
        <p:spPr>
          <a:xfrm flipH="1">
            <a:off x="6434613" y="7578483"/>
            <a:ext cx="1761600" cy="6057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7" name="Google Shape;1007;p64"/>
          <p:cNvCxnSpPr>
            <a:stCxn id="1001" idx="5"/>
            <a:endCxn id="1008" idx="0"/>
          </p:cNvCxnSpPr>
          <p:nvPr/>
        </p:nvCxnSpPr>
        <p:spPr>
          <a:xfrm>
            <a:off x="9833326" y="7551594"/>
            <a:ext cx="1826700" cy="729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09" name="Google Shape;1009;p64"/>
          <p:cNvGrpSpPr/>
          <p:nvPr/>
        </p:nvGrpSpPr>
        <p:grpSpPr>
          <a:xfrm>
            <a:off x="4457275" y="4270962"/>
            <a:ext cx="2565661" cy="2565661"/>
            <a:chOff x="2653271" y="2007591"/>
            <a:chExt cx="1539397" cy="1539397"/>
          </a:xfrm>
        </p:grpSpPr>
        <p:sp>
          <p:nvSpPr>
            <p:cNvPr id="1002" name="Google Shape;1002;p64"/>
            <p:cNvSpPr/>
            <p:nvPr/>
          </p:nvSpPr>
          <p:spPr>
            <a:xfrm rot="2224253">
              <a:off x="2873457" y="2227777"/>
              <a:ext cx="1099025" cy="1099025"/>
            </a:xfrm>
            <a:prstGeom prst="ellipse">
              <a:avLst/>
            </a:prstGeom>
            <a:noFill/>
            <a:ln w="57150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1010" name="Google Shape;1010;p64"/>
            <p:cNvGrpSpPr/>
            <p:nvPr/>
          </p:nvGrpSpPr>
          <p:grpSpPr>
            <a:xfrm>
              <a:off x="3048303" y="2650524"/>
              <a:ext cx="643616" cy="354945"/>
              <a:chOff x="678362" y="4849058"/>
              <a:chExt cx="643616" cy="354945"/>
            </a:xfrm>
          </p:grpSpPr>
          <p:sp>
            <p:nvSpPr>
              <p:cNvPr id="1011" name="Google Shape;1011;p64"/>
              <p:cNvSpPr/>
              <p:nvPr/>
            </p:nvSpPr>
            <p:spPr>
              <a:xfrm>
                <a:off x="764697" y="4849058"/>
                <a:ext cx="286466" cy="245671"/>
              </a:xfrm>
              <a:prstGeom prst="cube">
                <a:avLst>
                  <a:gd name="adj" fmla="val 25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1012" name="Google Shape;1012;p64"/>
              <p:cNvSpPr/>
              <p:nvPr/>
            </p:nvSpPr>
            <p:spPr>
              <a:xfrm>
                <a:off x="1035512" y="4849058"/>
                <a:ext cx="286466" cy="245671"/>
              </a:xfrm>
              <a:prstGeom prst="cube">
                <a:avLst>
                  <a:gd name="adj" fmla="val 25000"/>
                </a:avLst>
              </a:prstGeom>
              <a:solidFill>
                <a:srgbClr val="46464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1013" name="Google Shape;1013;p64"/>
              <p:cNvSpPr/>
              <p:nvPr/>
            </p:nvSpPr>
            <p:spPr>
              <a:xfrm>
                <a:off x="678362" y="4958332"/>
                <a:ext cx="286466" cy="245671"/>
              </a:xfrm>
              <a:prstGeom prst="cube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1014" name="Google Shape;1014;p64"/>
              <p:cNvSpPr/>
              <p:nvPr/>
            </p:nvSpPr>
            <p:spPr>
              <a:xfrm>
                <a:off x="949177" y="4958332"/>
                <a:ext cx="286466" cy="245671"/>
              </a:xfrm>
              <a:prstGeom prst="cube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sp>
        <p:nvSpPr>
          <p:cNvPr id="1015" name="Google Shape;1015;p64"/>
          <p:cNvSpPr txBox="1"/>
          <p:nvPr/>
        </p:nvSpPr>
        <p:spPr>
          <a:xfrm>
            <a:off x="2327425" y="9623716"/>
            <a:ext cx="47492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사전 트레이닝된 모델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NLP, 분류, 물체 검출 등</a:t>
            </a:r>
            <a:endParaRPr/>
          </a:p>
        </p:txBody>
      </p:sp>
      <p:grpSp>
        <p:nvGrpSpPr>
          <p:cNvPr id="1016" name="Google Shape;1016;p64"/>
          <p:cNvGrpSpPr/>
          <p:nvPr/>
        </p:nvGrpSpPr>
        <p:grpSpPr>
          <a:xfrm>
            <a:off x="11016887" y="7628932"/>
            <a:ext cx="2590361" cy="2590361"/>
            <a:chOff x="5907765" y="4540462"/>
            <a:chExt cx="1554217" cy="1554217"/>
          </a:xfrm>
        </p:grpSpPr>
        <p:sp>
          <p:nvSpPr>
            <p:cNvPr id="1008" name="Google Shape;1008;p64"/>
            <p:cNvSpPr/>
            <p:nvPr/>
          </p:nvSpPr>
          <p:spPr>
            <a:xfrm rot="-2724369">
              <a:off x="6135361" y="4768058"/>
              <a:ext cx="1099025" cy="1099025"/>
            </a:xfrm>
            <a:prstGeom prst="ellipse">
              <a:avLst/>
            </a:prstGeom>
            <a:noFill/>
            <a:ln w="57150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1017" name="Google Shape;1017;p6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68521" y="4988972"/>
              <a:ext cx="598699" cy="72000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8" name="Google Shape;1018;p64"/>
          <p:cNvGrpSpPr/>
          <p:nvPr/>
        </p:nvGrpSpPr>
        <p:grpSpPr>
          <a:xfrm>
            <a:off x="8085841" y="3177184"/>
            <a:ext cx="1831708" cy="1831708"/>
            <a:chOff x="4886498" y="2246286"/>
            <a:chExt cx="1099025" cy="1099025"/>
          </a:xfrm>
        </p:grpSpPr>
        <p:sp>
          <p:nvSpPr>
            <p:cNvPr id="1004" name="Google Shape;1004;p64"/>
            <p:cNvSpPr/>
            <p:nvPr/>
          </p:nvSpPr>
          <p:spPr>
            <a:xfrm rot="-5400000">
              <a:off x="4886498" y="2246286"/>
              <a:ext cx="1099025" cy="1099025"/>
            </a:xfrm>
            <a:prstGeom prst="ellipse">
              <a:avLst/>
            </a:prstGeom>
            <a:noFill/>
            <a:ln w="57150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1019" name="Google Shape;1019;p64"/>
            <p:cNvGrpSpPr/>
            <p:nvPr/>
          </p:nvGrpSpPr>
          <p:grpSpPr>
            <a:xfrm>
              <a:off x="5152693" y="2445792"/>
              <a:ext cx="605446" cy="617007"/>
              <a:chOff x="5158047" y="1909980"/>
              <a:chExt cx="677046" cy="684322"/>
            </a:xfrm>
          </p:grpSpPr>
          <p:grpSp>
            <p:nvGrpSpPr>
              <p:cNvPr id="1020" name="Google Shape;1020;p64"/>
              <p:cNvGrpSpPr/>
              <p:nvPr/>
            </p:nvGrpSpPr>
            <p:grpSpPr>
              <a:xfrm>
                <a:off x="5412651" y="1909980"/>
                <a:ext cx="422442" cy="525463"/>
                <a:chOff x="4162579" y="2419946"/>
                <a:chExt cx="422442" cy="525463"/>
              </a:xfrm>
            </p:grpSpPr>
            <p:sp>
              <p:nvSpPr>
                <p:cNvPr id="1021" name="Google Shape;1021;p64"/>
                <p:cNvSpPr/>
                <p:nvPr/>
              </p:nvSpPr>
              <p:spPr>
                <a:xfrm>
                  <a:off x="4162579" y="2419946"/>
                  <a:ext cx="422442" cy="525463"/>
                </a:xfrm>
                <a:prstGeom prst="snip1Rect">
                  <a:avLst>
                    <a:gd name="adj" fmla="val 16667"/>
                  </a:avLst>
                </a:prstGeom>
                <a:solidFill>
                  <a:srgbClr val="7F7F7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0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</p:txBody>
            </p:sp>
            <p:cxnSp>
              <p:nvCxnSpPr>
                <p:cNvPr id="1022" name="Google Shape;1022;p64"/>
                <p:cNvCxnSpPr/>
                <p:nvPr/>
              </p:nvCxnSpPr>
              <p:spPr>
                <a:xfrm>
                  <a:off x="4309561" y="2518996"/>
                  <a:ext cx="219018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3" name="Google Shape;1023;p64"/>
                <p:cNvCxnSpPr/>
                <p:nvPr/>
              </p:nvCxnSpPr>
              <p:spPr>
                <a:xfrm>
                  <a:off x="4211104" y="2560412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4" name="Google Shape;1024;p64"/>
                <p:cNvCxnSpPr/>
                <p:nvPr/>
              </p:nvCxnSpPr>
              <p:spPr>
                <a:xfrm>
                  <a:off x="4211104" y="2608037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5" name="Google Shape;1025;p64"/>
                <p:cNvCxnSpPr/>
                <p:nvPr/>
              </p:nvCxnSpPr>
              <p:spPr>
                <a:xfrm>
                  <a:off x="4211104" y="2650900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6" name="Google Shape;1026;p64"/>
                <p:cNvCxnSpPr/>
                <p:nvPr/>
              </p:nvCxnSpPr>
              <p:spPr>
                <a:xfrm>
                  <a:off x="4211104" y="2698525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7" name="Google Shape;1027;p64"/>
                <p:cNvCxnSpPr/>
                <p:nvPr/>
              </p:nvCxnSpPr>
              <p:spPr>
                <a:xfrm>
                  <a:off x="4211104" y="2742975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8" name="Google Shape;1028;p64"/>
                <p:cNvCxnSpPr/>
                <p:nvPr/>
              </p:nvCxnSpPr>
              <p:spPr>
                <a:xfrm>
                  <a:off x="4211104" y="2790600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9" name="Google Shape;1029;p64"/>
                <p:cNvCxnSpPr/>
                <p:nvPr/>
              </p:nvCxnSpPr>
              <p:spPr>
                <a:xfrm>
                  <a:off x="4211104" y="2833463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0" name="Google Shape;1030;p64"/>
                <p:cNvCxnSpPr/>
                <p:nvPr/>
              </p:nvCxnSpPr>
              <p:spPr>
                <a:xfrm>
                  <a:off x="4211104" y="2881088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031" name="Google Shape;1031;p64"/>
              <p:cNvGrpSpPr/>
              <p:nvPr/>
            </p:nvGrpSpPr>
            <p:grpSpPr>
              <a:xfrm>
                <a:off x="5312777" y="1949000"/>
                <a:ext cx="422442" cy="525463"/>
                <a:chOff x="4162579" y="2419946"/>
                <a:chExt cx="422442" cy="525463"/>
              </a:xfrm>
            </p:grpSpPr>
            <p:sp>
              <p:nvSpPr>
                <p:cNvPr id="1032" name="Google Shape;1032;p64"/>
                <p:cNvSpPr/>
                <p:nvPr/>
              </p:nvSpPr>
              <p:spPr>
                <a:xfrm>
                  <a:off x="4162579" y="2419946"/>
                  <a:ext cx="422442" cy="525463"/>
                </a:xfrm>
                <a:prstGeom prst="snip1Rect">
                  <a:avLst>
                    <a:gd name="adj" fmla="val 16667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0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</p:txBody>
            </p:sp>
            <p:cxnSp>
              <p:nvCxnSpPr>
                <p:cNvPr id="1033" name="Google Shape;1033;p64"/>
                <p:cNvCxnSpPr/>
                <p:nvPr/>
              </p:nvCxnSpPr>
              <p:spPr>
                <a:xfrm>
                  <a:off x="4309561" y="2518996"/>
                  <a:ext cx="219018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4" name="Google Shape;1034;p64"/>
                <p:cNvCxnSpPr/>
                <p:nvPr/>
              </p:nvCxnSpPr>
              <p:spPr>
                <a:xfrm>
                  <a:off x="4211104" y="2560412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5" name="Google Shape;1035;p64"/>
                <p:cNvCxnSpPr/>
                <p:nvPr/>
              </p:nvCxnSpPr>
              <p:spPr>
                <a:xfrm>
                  <a:off x="4211104" y="2608037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6" name="Google Shape;1036;p64"/>
                <p:cNvCxnSpPr/>
                <p:nvPr/>
              </p:nvCxnSpPr>
              <p:spPr>
                <a:xfrm>
                  <a:off x="4211104" y="2650900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7" name="Google Shape;1037;p64"/>
                <p:cNvCxnSpPr/>
                <p:nvPr/>
              </p:nvCxnSpPr>
              <p:spPr>
                <a:xfrm>
                  <a:off x="4211104" y="2698525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8" name="Google Shape;1038;p64"/>
                <p:cNvCxnSpPr/>
                <p:nvPr/>
              </p:nvCxnSpPr>
              <p:spPr>
                <a:xfrm>
                  <a:off x="4211104" y="2742975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9" name="Google Shape;1039;p64"/>
                <p:cNvCxnSpPr/>
                <p:nvPr/>
              </p:nvCxnSpPr>
              <p:spPr>
                <a:xfrm>
                  <a:off x="4211104" y="2790600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40" name="Google Shape;1040;p64"/>
                <p:cNvCxnSpPr/>
                <p:nvPr/>
              </p:nvCxnSpPr>
              <p:spPr>
                <a:xfrm>
                  <a:off x="4211104" y="2833463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41" name="Google Shape;1041;p64"/>
                <p:cNvCxnSpPr/>
                <p:nvPr/>
              </p:nvCxnSpPr>
              <p:spPr>
                <a:xfrm>
                  <a:off x="4211104" y="2881088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042" name="Google Shape;1042;p64"/>
              <p:cNvGrpSpPr/>
              <p:nvPr/>
            </p:nvGrpSpPr>
            <p:grpSpPr>
              <a:xfrm>
                <a:off x="5247830" y="2009297"/>
                <a:ext cx="422442" cy="525463"/>
                <a:chOff x="4162579" y="2419946"/>
                <a:chExt cx="422442" cy="525463"/>
              </a:xfrm>
            </p:grpSpPr>
            <p:sp>
              <p:nvSpPr>
                <p:cNvPr id="1043" name="Google Shape;1043;p64"/>
                <p:cNvSpPr/>
                <p:nvPr/>
              </p:nvSpPr>
              <p:spPr>
                <a:xfrm>
                  <a:off x="4162579" y="2419946"/>
                  <a:ext cx="422442" cy="525463"/>
                </a:xfrm>
                <a:prstGeom prst="snip1Rect">
                  <a:avLst>
                    <a:gd name="adj" fmla="val 16667"/>
                  </a:avLst>
                </a:prstGeom>
                <a:solidFill>
                  <a:srgbClr val="1BFFC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0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</p:txBody>
            </p:sp>
            <p:cxnSp>
              <p:nvCxnSpPr>
                <p:cNvPr id="1044" name="Google Shape;1044;p64"/>
                <p:cNvCxnSpPr/>
                <p:nvPr/>
              </p:nvCxnSpPr>
              <p:spPr>
                <a:xfrm>
                  <a:off x="4309561" y="2518996"/>
                  <a:ext cx="219018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45" name="Google Shape;1045;p64"/>
                <p:cNvCxnSpPr/>
                <p:nvPr/>
              </p:nvCxnSpPr>
              <p:spPr>
                <a:xfrm>
                  <a:off x="4211104" y="2560412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46" name="Google Shape;1046;p64"/>
                <p:cNvCxnSpPr/>
                <p:nvPr/>
              </p:nvCxnSpPr>
              <p:spPr>
                <a:xfrm>
                  <a:off x="4211104" y="2608037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47" name="Google Shape;1047;p64"/>
                <p:cNvCxnSpPr/>
                <p:nvPr/>
              </p:nvCxnSpPr>
              <p:spPr>
                <a:xfrm>
                  <a:off x="4211104" y="2650900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48" name="Google Shape;1048;p64"/>
                <p:cNvCxnSpPr/>
                <p:nvPr/>
              </p:nvCxnSpPr>
              <p:spPr>
                <a:xfrm>
                  <a:off x="4211104" y="2698525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49" name="Google Shape;1049;p64"/>
                <p:cNvCxnSpPr/>
                <p:nvPr/>
              </p:nvCxnSpPr>
              <p:spPr>
                <a:xfrm>
                  <a:off x="4211104" y="2742975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0" name="Google Shape;1050;p64"/>
                <p:cNvCxnSpPr/>
                <p:nvPr/>
              </p:nvCxnSpPr>
              <p:spPr>
                <a:xfrm>
                  <a:off x="4211104" y="2790600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1" name="Google Shape;1051;p64"/>
                <p:cNvCxnSpPr/>
                <p:nvPr/>
              </p:nvCxnSpPr>
              <p:spPr>
                <a:xfrm>
                  <a:off x="4211104" y="2833463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2" name="Google Shape;1052;p64"/>
                <p:cNvCxnSpPr/>
                <p:nvPr/>
              </p:nvCxnSpPr>
              <p:spPr>
                <a:xfrm>
                  <a:off x="4211104" y="2881088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053" name="Google Shape;1053;p64"/>
              <p:cNvGrpSpPr/>
              <p:nvPr/>
            </p:nvGrpSpPr>
            <p:grpSpPr>
              <a:xfrm>
                <a:off x="5158047" y="2068839"/>
                <a:ext cx="422442" cy="525463"/>
                <a:chOff x="4162579" y="2419946"/>
                <a:chExt cx="422442" cy="525463"/>
              </a:xfrm>
            </p:grpSpPr>
            <p:sp>
              <p:nvSpPr>
                <p:cNvPr id="1054" name="Google Shape;1054;p64"/>
                <p:cNvSpPr/>
                <p:nvPr/>
              </p:nvSpPr>
              <p:spPr>
                <a:xfrm>
                  <a:off x="4162579" y="2419946"/>
                  <a:ext cx="422442" cy="525463"/>
                </a:xfrm>
                <a:prstGeom prst="snip1Rect">
                  <a:avLst>
                    <a:gd name="adj" fmla="val 16667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0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</p:txBody>
            </p:sp>
            <p:cxnSp>
              <p:nvCxnSpPr>
                <p:cNvPr id="1055" name="Google Shape;1055;p64"/>
                <p:cNvCxnSpPr/>
                <p:nvPr/>
              </p:nvCxnSpPr>
              <p:spPr>
                <a:xfrm>
                  <a:off x="4309561" y="2518996"/>
                  <a:ext cx="219018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6" name="Google Shape;1056;p64"/>
                <p:cNvCxnSpPr/>
                <p:nvPr/>
              </p:nvCxnSpPr>
              <p:spPr>
                <a:xfrm>
                  <a:off x="4211104" y="2560412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7" name="Google Shape;1057;p64"/>
                <p:cNvCxnSpPr/>
                <p:nvPr/>
              </p:nvCxnSpPr>
              <p:spPr>
                <a:xfrm>
                  <a:off x="4211104" y="2608037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8" name="Google Shape;1058;p64"/>
                <p:cNvCxnSpPr/>
                <p:nvPr/>
              </p:nvCxnSpPr>
              <p:spPr>
                <a:xfrm>
                  <a:off x="4211104" y="2650900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9" name="Google Shape;1059;p64"/>
                <p:cNvCxnSpPr/>
                <p:nvPr/>
              </p:nvCxnSpPr>
              <p:spPr>
                <a:xfrm>
                  <a:off x="4211104" y="2698525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0" name="Google Shape;1060;p64"/>
                <p:cNvCxnSpPr/>
                <p:nvPr/>
              </p:nvCxnSpPr>
              <p:spPr>
                <a:xfrm>
                  <a:off x="4211104" y="2742975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1" name="Google Shape;1061;p64"/>
                <p:cNvCxnSpPr/>
                <p:nvPr/>
              </p:nvCxnSpPr>
              <p:spPr>
                <a:xfrm>
                  <a:off x="4211104" y="2790600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2" name="Google Shape;1062;p64"/>
                <p:cNvCxnSpPr/>
                <p:nvPr/>
              </p:nvCxnSpPr>
              <p:spPr>
                <a:xfrm>
                  <a:off x="4211104" y="2833463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3" name="Google Shape;1063;p64"/>
                <p:cNvCxnSpPr/>
                <p:nvPr/>
              </p:nvCxnSpPr>
              <p:spPr>
                <a:xfrm>
                  <a:off x="4211104" y="2881088"/>
                  <a:ext cx="31585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</p:grpSp>
      </p:grpSp>
      <p:sp>
        <p:nvSpPr>
          <p:cNvPr id="1064" name="Google Shape;1064;p64"/>
          <p:cNvSpPr txBox="1"/>
          <p:nvPr/>
        </p:nvSpPr>
        <p:spPr>
          <a:xfrm>
            <a:off x="7416228" y="2825419"/>
            <a:ext cx="5279635" cy="877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모델 트레이닝 스크립트</a:t>
            </a:r>
            <a:endParaRPr/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NLP, 이미지 분류, </a:t>
            </a:r>
            <a:endParaRPr/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물체 검출 등</a:t>
            </a:r>
            <a:endParaRPr/>
          </a:p>
        </p:txBody>
      </p:sp>
      <p:grpSp>
        <p:nvGrpSpPr>
          <p:cNvPr id="1065" name="Google Shape;1065;p64"/>
          <p:cNvGrpSpPr/>
          <p:nvPr/>
        </p:nvGrpSpPr>
        <p:grpSpPr>
          <a:xfrm>
            <a:off x="4871133" y="7916019"/>
            <a:ext cx="1831708" cy="1831708"/>
            <a:chOff x="3538931" y="4524761"/>
            <a:chExt cx="1099025" cy="1099025"/>
          </a:xfrm>
        </p:grpSpPr>
        <p:grpSp>
          <p:nvGrpSpPr>
            <p:cNvPr id="1066" name="Google Shape;1066;p64"/>
            <p:cNvGrpSpPr/>
            <p:nvPr/>
          </p:nvGrpSpPr>
          <p:grpSpPr>
            <a:xfrm>
              <a:off x="3538931" y="4524761"/>
              <a:ext cx="1099025" cy="1099025"/>
              <a:chOff x="3538931" y="4524761"/>
              <a:chExt cx="1099025" cy="1099025"/>
            </a:xfrm>
          </p:grpSpPr>
          <p:sp>
            <p:nvSpPr>
              <p:cNvPr id="1006" name="Google Shape;1006;p64"/>
              <p:cNvSpPr/>
              <p:nvPr/>
            </p:nvSpPr>
            <p:spPr>
              <a:xfrm>
                <a:off x="3538931" y="4524761"/>
                <a:ext cx="1099025" cy="1099025"/>
              </a:xfrm>
              <a:prstGeom prst="ellipse">
                <a:avLst/>
              </a:prstGeom>
              <a:noFill/>
              <a:ln w="5715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grpSp>
            <p:nvGrpSpPr>
              <p:cNvPr id="1067" name="Google Shape;1067;p64"/>
              <p:cNvGrpSpPr/>
              <p:nvPr/>
            </p:nvGrpSpPr>
            <p:grpSpPr>
              <a:xfrm>
                <a:off x="3839459" y="4776858"/>
                <a:ext cx="531523" cy="636060"/>
                <a:chOff x="832172" y="4796287"/>
                <a:chExt cx="712849" cy="832080"/>
              </a:xfrm>
            </p:grpSpPr>
            <p:sp>
              <p:nvSpPr>
                <p:cNvPr id="1068" name="Google Shape;1068;p64"/>
                <p:cNvSpPr/>
                <p:nvPr/>
              </p:nvSpPr>
              <p:spPr>
                <a:xfrm>
                  <a:off x="1067551" y="4796287"/>
                  <a:ext cx="477470" cy="676600"/>
                </a:xfrm>
                <a:prstGeom prst="rect">
                  <a:avLst/>
                </a:prstGeom>
                <a:solidFill>
                  <a:srgbClr val="000000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0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</p:txBody>
            </p:sp>
            <p:sp>
              <p:nvSpPr>
                <p:cNvPr id="1069" name="Google Shape;1069;p64"/>
                <p:cNvSpPr/>
                <p:nvPr/>
              </p:nvSpPr>
              <p:spPr>
                <a:xfrm>
                  <a:off x="981216" y="4848111"/>
                  <a:ext cx="477470" cy="6766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0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</p:txBody>
            </p:sp>
            <p:sp>
              <p:nvSpPr>
                <p:cNvPr id="1070" name="Google Shape;1070;p64"/>
                <p:cNvSpPr/>
                <p:nvPr/>
              </p:nvSpPr>
              <p:spPr>
                <a:xfrm>
                  <a:off x="906694" y="4882574"/>
                  <a:ext cx="477470" cy="6766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0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</p:txBody>
            </p:sp>
            <p:sp>
              <p:nvSpPr>
                <p:cNvPr id="1071" name="Google Shape;1071;p64"/>
                <p:cNvSpPr/>
                <p:nvPr/>
              </p:nvSpPr>
              <p:spPr>
                <a:xfrm>
                  <a:off x="832172" y="4951767"/>
                  <a:ext cx="477470" cy="676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0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</p:txBody>
            </p:sp>
          </p:grpSp>
        </p:grpSp>
        <p:grpSp>
          <p:nvGrpSpPr>
            <p:cNvPr id="1072" name="Google Shape;1072;p64"/>
            <p:cNvGrpSpPr/>
            <p:nvPr/>
          </p:nvGrpSpPr>
          <p:grpSpPr>
            <a:xfrm>
              <a:off x="3927105" y="5047562"/>
              <a:ext cx="147604" cy="152380"/>
              <a:chOff x="3535" y="4418821"/>
              <a:chExt cx="935204" cy="1246259"/>
            </a:xfrm>
          </p:grpSpPr>
          <p:sp>
            <p:nvSpPr>
              <p:cNvPr id="1073" name="Google Shape;1073;p64"/>
              <p:cNvSpPr/>
              <p:nvPr/>
            </p:nvSpPr>
            <p:spPr>
              <a:xfrm rot="845561">
                <a:off x="602628" y="4450719"/>
                <a:ext cx="301624" cy="32055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1074" name="Google Shape;1074;p64"/>
              <p:cNvSpPr/>
              <p:nvPr/>
            </p:nvSpPr>
            <p:spPr>
              <a:xfrm>
                <a:off x="3535" y="4905080"/>
                <a:ext cx="301623" cy="320551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1075" name="Google Shape;1075;p64"/>
              <p:cNvSpPr/>
              <p:nvPr/>
            </p:nvSpPr>
            <p:spPr>
              <a:xfrm rot="-577228">
                <a:off x="602628" y="5321581"/>
                <a:ext cx="301624" cy="32055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cxnSp>
            <p:nvCxnSpPr>
              <p:cNvPr id="1076" name="Google Shape;1076;p64"/>
              <p:cNvCxnSpPr>
                <a:stCxn id="1074" idx="7"/>
                <a:endCxn id="1073" idx="3"/>
              </p:cNvCxnSpPr>
              <p:nvPr/>
            </p:nvCxnSpPr>
            <p:spPr>
              <a:xfrm rot="10800000" flipH="1">
                <a:off x="260986" y="4694924"/>
                <a:ext cx="361500" cy="257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7" name="Google Shape;1077;p64"/>
              <p:cNvCxnSpPr>
                <a:stCxn id="1074" idx="5"/>
                <a:endCxn id="1075" idx="1"/>
              </p:cNvCxnSpPr>
              <p:nvPr/>
            </p:nvCxnSpPr>
            <p:spPr>
              <a:xfrm>
                <a:off x="260986" y="5178687"/>
                <a:ext cx="368400" cy="20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1001" name="Google Shape;1001;p64"/>
          <p:cNvSpPr/>
          <p:nvPr/>
        </p:nvSpPr>
        <p:spPr>
          <a:xfrm rot="-56458">
            <a:off x="7843923" y="5642762"/>
            <a:ext cx="2315540" cy="2252213"/>
          </a:xfrm>
          <a:prstGeom prst="ellipse">
            <a:avLst/>
          </a:prstGeom>
          <a:noFill/>
          <a:ln w="571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 b="1">
                <a:solidFill>
                  <a:srgbClr val="3B5C00"/>
                </a:solidFill>
                <a:latin typeface="Trebuchet MS"/>
                <a:ea typeface="Trebuchet MS"/>
                <a:cs typeface="Trebuchet MS"/>
                <a:sym typeface="Trebuchet MS"/>
              </a:rPr>
              <a:t>NGC</a:t>
            </a:r>
            <a:endParaRPr sz="3000" b="1">
              <a:solidFill>
                <a:srgbClr val="3B5C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078" name="Google Shape;1078;p64"/>
          <p:cNvCxnSpPr>
            <a:stCxn id="1001" idx="6"/>
            <a:endCxn id="1079" idx="2"/>
          </p:cNvCxnSpPr>
          <p:nvPr/>
        </p:nvCxnSpPr>
        <p:spPr>
          <a:xfrm rot="10800000" flipH="1">
            <a:off x="10159307" y="5871755"/>
            <a:ext cx="1286700" cy="87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80" name="Google Shape;1080;p64"/>
          <p:cNvGrpSpPr/>
          <p:nvPr/>
        </p:nvGrpSpPr>
        <p:grpSpPr>
          <a:xfrm>
            <a:off x="11261814" y="4606267"/>
            <a:ext cx="2162602" cy="2162602"/>
            <a:chOff x="7022973" y="2889435"/>
            <a:chExt cx="1297562" cy="1297562"/>
          </a:xfrm>
        </p:grpSpPr>
        <p:sp>
          <p:nvSpPr>
            <p:cNvPr id="1079" name="Google Shape;1079;p64"/>
            <p:cNvSpPr/>
            <p:nvPr/>
          </p:nvSpPr>
          <p:spPr>
            <a:xfrm rot="-695977">
              <a:off x="7122241" y="2988703"/>
              <a:ext cx="1099025" cy="1099025"/>
            </a:xfrm>
            <a:prstGeom prst="ellipse">
              <a:avLst/>
            </a:prstGeom>
            <a:noFill/>
            <a:ln w="57150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1081" name="Google Shape;1081;p6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22091" y="3193050"/>
              <a:ext cx="689061" cy="7406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2" name="Google Shape;1082;p64"/>
          <p:cNvSpPr txBox="1"/>
          <p:nvPr/>
        </p:nvSpPr>
        <p:spPr>
          <a:xfrm>
            <a:off x="10397794" y="6362678"/>
            <a:ext cx="47492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Helm 차트</a:t>
            </a:r>
            <a:endParaRPr/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AI 애플리케이션, K8s 클러스터, 레지스트리</a:t>
            </a:r>
            <a:endParaRPr/>
          </a:p>
        </p:txBody>
      </p:sp>
      <p:sp>
        <p:nvSpPr>
          <p:cNvPr id="1083" name="Google Shape;1083;p64"/>
          <p:cNvSpPr txBox="1"/>
          <p:nvPr/>
        </p:nvSpPr>
        <p:spPr>
          <a:xfrm>
            <a:off x="3454545" y="6305506"/>
            <a:ext cx="29531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컨테이너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DL, ML, HPC</a:t>
            </a:r>
            <a:endParaRPr/>
          </a:p>
        </p:txBody>
      </p:sp>
      <p:sp>
        <p:nvSpPr>
          <p:cNvPr id="1084" name="Google Shape;1084;p64"/>
          <p:cNvSpPr txBox="1"/>
          <p:nvPr/>
        </p:nvSpPr>
        <p:spPr>
          <a:xfrm>
            <a:off x="10321230" y="9653398"/>
            <a:ext cx="47492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업계 SDK</a:t>
            </a:r>
            <a:endParaRPr/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메디컬 이미징, 인텔리전트 비디오 분석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65"/>
          <p:cNvSpPr txBox="1">
            <a:spLocks noGrp="1"/>
          </p:cNvSpPr>
          <p:nvPr>
            <p:ph type="title"/>
          </p:nvPr>
        </p:nvSpPr>
        <p:spPr>
          <a:xfrm>
            <a:off x="830580" y="1090588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사전 트레이닝된 모델 및 모델 스크립트</a:t>
            </a:r>
            <a:endParaRPr/>
          </a:p>
        </p:txBody>
      </p:sp>
      <p:sp>
        <p:nvSpPr>
          <p:cNvPr id="1090" name="Google Shape;1090;p65"/>
          <p:cNvSpPr txBox="1">
            <a:spLocks noGrp="1"/>
          </p:cNvSpPr>
          <p:nvPr>
            <p:ph type="body" idx="1"/>
          </p:nvPr>
        </p:nvSpPr>
        <p:spPr>
          <a:xfrm>
            <a:off x="525324" y="3720413"/>
            <a:ext cx="8241772" cy="615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ebuchet MS"/>
              <a:buNone/>
            </a:pPr>
            <a:r>
              <a:rPr lang="en-US" sz="20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사전 트레이닝된 모델</a:t>
            </a:r>
            <a:endParaRPr sz="3000">
              <a:solidFill>
                <a:srgbClr val="000000"/>
              </a:solidFill>
            </a:endParaRPr>
          </a:p>
          <a:p>
            <a:pPr marL="386299" lvl="0" indent="-386299" algn="l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33"/>
              <a:buFont typeface="Trebuchet MS"/>
              <a:buChar char="•"/>
            </a:pPr>
            <a:r>
              <a:rPr lang="en-US" sz="1833">
                <a:latin typeface="Trebuchet MS"/>
                <a:ea typeface="Trebuchet MS"/>
                <a:cs typeface="Trebuchet MS"/>
                <a:sym typeface="Trebuchet MS"/>
              </a:rPr>
              <a:t>업계별 사용 사례에 적합한 모델로 AI를 빠르게 배포</a:t>
            </a:r>
            <a:endParaRPr sz="1833"/>
          </a:p>
          <a:p>
            <a:pPr marL="386299" lvl="0" indent="-38629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33"/>
              <a:buFont typeface="Trebuchet MS"/>
              <a:buChar char="•"/>
            </a:pPr>
            <a:r>
              <a:rPr lang="en-US" sz="1833">
                <a:latin typeface="Trebuchet MS"/>
                <a:ea typeface="Trebuchet MS"/>
                <a:cs typeface="Trebuchet MS"/>
                <a:sym typeface="Trebuchet MS"/>
              </a:rPr>
              <a:t>음성에서 물체 검출에 이르기까지 모든 기능 포함</a:t>
            </a:r>
            <a:endParaRPr/>
          </a:p>
          <a:p>
            <a:pPr marL="386299" lvl="0" indent="-38629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33"/>
              <a:buFont typeface="Trebuchet MS"/>
              <a:buChar char="•"/>
            </a:pPr>
            <a:r>
              <a:rPr lang="en-US" sz="1833">
                <a:latin typeface="Trebuchet MS"/>
                <a:ea typeface="Trebuchet MS"/>
                <a:cs typeface="Trebuchet MS"/>
                <a:sym typeface="Trebuchet MS"/>
              </a:rPr>
              <a:t>코드 샘플을 사용해 기존 워크플로우에 통합</a:t>
            </a:r>
            <a:endParaRPr sz="1833"/>
          </a:p>
          <a:p>
            <a:pPr marL="386299" lvl="0" indent="-38629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33"/>
              <a:buFont typeface="Trebuchet MS"/>
              <a:buChar char="•"/>
            </a:pPr>
            <a:r>
              <a:rPr lang="en-US" sz="1833">
                <a:latin typeface="Trebuchet MS"/>
                <a:ea typeface="Trebuchet MS"/>
                <a:cs typeface="Trebuchet MS"/>
                <a:sym typeface="Trebuchet MS"/>
              </a:rPr>
              <a:t>간편하게 전이 학습(Transfer Learning)을 사용해 맞춤형 사용 사례에 맞게 조정</a:t>
            </a:r>
            <a:endParaRPr sz="183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Font typeface="Trebuchet MS"/>
              <a:buNone/>
            </a:pPr>
            <a:r>
              <a:rPr lang="en-US" sz="20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모델 스크립트</a:t>
            </a:r>
            <a:endParaRPr sz="2000">
              <a:solidFill>
                <a:schemeClr val="lt2"/>
              </a:solidFill>
            </a:endParaRPr>
          </a:p>
          <a:p>
            <a:pPr marL="386299" lvl="0" indent="-386299" algn="l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33"/>
              <a:buFont typeface="Trebuchet MS"/>
              <a:buChar char="•"/>
            </a:pPr>
            <a:r>
              <a:rPr lang="en-US" sz="1833">
                <a:latin typeface="Trebuchet MS"/>
                <a:ea typeface="Trebuchet MS"/>
                <a:cs typeface="Trebuchet MS"/>
                <a:sym typeface="Trebuchet MS"/>
              </a:rPr>
              <a:t>최신 SOTA를 사용하는 모든 분야와 인기 있는 프레임워크 전반의 레퍼런스 뉴럴 네트워크 아키텍처</a:t>
            </a:r>
            <a:endParaRPr/>
          </a:p>
          <a:p>
            <a:pPr marL="386299" lvl="0" indent="-38629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33"/>
              <a:buFont typeface="Trebuchet MS"/>
              <a:buChar char="•"/>
            </a:pPr>
            <a:r>
              <a:rPr lang="en-US" sz="1833">
                <a:latin typeface="Trebuchet MS"/>
                <a:ea typeface="Trebuchet MS"/>
                <a:cs typeface="Trebuchet MS"/>
                <a:sym typeface="Trebuchet MS"/>
              </a:rPr>
              <a:t>Jupyter 노트북 스타터 키트</a:t>
            </a:r>
            <a:endParaRPr/>
          </a:p>
        </p:txBody>
      </p:sp>
      <p:sp>
        <p:nvSpPr>
          <p:cNvPr id="1091" name="Google Shape;1091;p65"/>
          <p:cNvSpPr txBox="1">
            <a:spLocks noGrp="1"/>
          </p:cNvSpPr>
          <p:nvPr>
            <p:ph type="body" idx="3"/>
          </p:nvPr>
        </p:nvSpPr>
        <p:spPr>
          <a:xfrm>
            <a:off x="830580" y="1967614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Trebuchet MS"/>
              <a:buNone/>
            </a:pPr>
            <a:r>
              <a:rPr lang="en-US"/>
              <a:t>AI 솔루션을 더 빠르게 구축</a:t>
            </a:r>
            <a:endParaRPr/>
          </a:p>
        </p:txBody>
      </p:sp>
      <p:graphicFrame>
        <p:nvGraphicFramePr>
          <p:cNvPr id="1092" name="Google Shape;1092;p65"/>
          <p:cNvGraphicFramePr/>
          <p:nvPr/>
        </p:nvGraphicFramePr>
        <p:xfrm>
          <a:off x="9144000" y="4029769"/>
          <a:ext cx="8268650" cy="3725350"/>
        </p:xfrm>
        <a:graphic>
          <a:graphicData uri="http://schemas.openxmlformats.org/drawingml/2006/table">
            <a:tbl>
              <a:tblPr bandRow="1">
                <a:noFill/>
                <a:tableStyleId>{0A23F515-CC6A-4A18-8405-56566E1998A5}</a:tableStyleId>
              </a:tblPr>
              <a:tblGrid>
                <a:gridCol w="336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US" sz="1800" u="none" strike="noStrike" cap="none">
                          <a:solidFill>
                            <a:srgbClr val="595959"/>
                          </a:solidFill>
                        </a:rPr>
                        <a:t>헬스케어(최대 30개 모델)</a:t>
                      </a:r>
                      <a:endParaRPr/>
                    </a:p>
                  </a:txBody>
                  <a:tcPr marL="152400" marR="1524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F3F3F"/>
                          </a:solidFill>
                        </a:rPr>
                        <a:t>BioBERT(NLP), Clara(컴퓨터 비전)</a:t>
                      </a:r>
                      <a:endParaRPr/>
                    </a:p>
                  </a:txBody>
                  <a:tcPr marL="152400" marR="152400" marT="76200" marB="76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US" sz="1800">
                          <a:solidFill>
                            <a:srgbClr val="595959"/>
                          </a:solidFill>
                        </a:rPr>
                        <a:t>제조(최대 25개 모델)</a:t>
                      </a:r>
                      <a:endParaRPr/>
                    </a:p>
                  </a:txBody>
                  <a:tcPr marL="152400" marR="1524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US" sz="1800">
                          <a:solidFill>
                            <a:srgbClr val="3F3F3F"/>
                          </a:solidFill>
                        </a:rPr>
                        <a:t>물체 검출, 이미지 분류</a:t>
                      </a:r>
                      <a:endParaRPr sz="5000"/>
                    </a:p>
                  </a:txBody>
                  <a:tcPr marL="152400" marR="1524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US" sz="1800">
                          <a:solidFill>
                            <a:srgbClr val="595959"/>
                          </a:solidFill>
                        </a:rPr>
                        <a:t>소매(최대 25개 모델)</a:t>
                      </a:r>
                      <a:endParaRPr/>
                    </a:p>
                  </a:txBody>
                  <a:tcPr marL="152400" marR="1524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3F3F3F"/>
                          </a:solidFill>
                        </a:rPr>
                        <a:t>BERT, Transformer</a:t>
                      </a:r>
                      <a:endParaRPr/>
                    </a:p>
                  </a:txBody>
                  <a:tcPr marL="152400" marR="1524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US" sz="1800">
                          <a:solidFill>
                            <a:srgbClr val="595959"/>
                          </a:solidFill>
                        </a:rPr>
                        <a:t>70개 TensorRT 플랜</a:t>
                      </a:r>
                      <a:endParaRPr sz="5000"/>
                    </a:p>
                  </a:txBody>
                  <a:tcPr marL="152400" marR="1524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US" sz="1800">
                          <a:solidFill>
                            <a:srgbClr val="3F3F3F"/>
                          </a:solidFill>
                        </a:rPr>
                        <a:t>v5, v6, v7의 분류/분할</a:t>
                      </a:r>
                      <a:endParaRPr sz="5000"/>
                    </a:p>
                  </a:txBody>
                  <a:tcPr marL="152400" marR="1524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US" sz="1800">
                          <a:solidFill>
                            <a:srgbClr val="595959"/>
                          </a:solidFill>
                        </a:rPr>
                        <a:t>자연어 처리</a:t>
                      </a:r>
                      <a:endParaRPr/>
                    </a:p>
                  </a:txBody>
                  <a:tcPr marL="152400" marR="1524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3F3F3F"/>
                          </a:solidFill>
                        </a:rPr>
                        <a:t>25개 Bert 구성</a:t>
                      </a:r>
                      <a:endParaRPr/>
                    </a:p>
                  </a:txBody>
                  <a:tcPr marL="152400" marR="1524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US" sz="1800">
                          <a:solidFill>
                            <a:srgbClr val="595959"/>
                          </a:solidFill>
                        </a:rPr>
                        <a:t>추천 엔진</a:t>
                      </a:r>
                      <a:endParaRPr/>
                    </a:p>
                  </a:txBody>
                  <a:tcPr marL="152400" marR="1524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3F3F3F"/>
                          </a:solidFill>
                        </a:rPr>
                        <a:t>신경 협업 필터링, VAE</a:t>
                      </a:r>
                      <a:endParaRPr/>
                    </a:p>
                  </a:txBody>
                  <a:tcPr marL="152400" marR="1524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US" sz="1800">
                          <a:solidFill>
                            <a:srgbClr val="595959"/>
                          </a:solidFill>
                        </a:rPr>
                        <a:t>음성</a:t>
                      </a:r>
                      <a:endParaRPr/>
                    </a:p>
                  </a:txBody>
                  <a:tcPr marL="152400" marR="1524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3F3F3F"/>
                          </a:solidFill>
                        </a:rPr>
                        <a:t>Jasper, Tacotron, WaveGlow</a:t>
                      </a:r>
                      <a:endParaRPr/>
                    </a:p>
                  </a:txBody>
                  <a:tcPr marL="152400" marR="152400" marT="76200" marB="762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US" sz="1800">
                          <a:solidFill>
                            <a:srgbClr val="595959"/>
                          </a:solidFill>
                        </a:rPr>
                        <a:t>번역</a:t>
                      </a:r>
                      <a:endParaRPr/>
                    </a:p>
                  </a:txBody>
                  <a:tcPr marL="152400" marR="1524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3F3F3F"/>
                          </a:solidFill>
                        </a:rPr>
                        <a:t>GNMT</a:t>
                      </a:r>
                      <a:endParaRPr/>
                    </a:p>
                  </a:txBody>
                  <a:tcPr marL="152400" marR="152400" marT="76200" marB="762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66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이는 트레이닝뿐 아니라 추론에도 적용됨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67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코드 품질이 핵심</a:t>
            </a:r>
            <a:endParaRPr/>
          </a:p>
        </p:txBody>
      </p:sp>
      <p:sp>
        <p:nvSpPr>
          <p:cNvPr id="1103" name="Google Shape;1103;p67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급격한 모델 성능 차이</a:t>
            </a:r>
            <a:endParaRPr/>
          </a:p>
        </p:txBody>
      </p:sp>
      <p:pic>
        <p:nvPicPr>
          <p:cNvPr id="1104" name="Google Shape;1104;p6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36634" y="4034543"/>
            <a:ext cx="10214728" cy="4967710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67"/>
          <p:cNvSpPr/>
          <p:nvPr/>
        </p:nvSpPr>
        <p:spPr>
          <a:xfrm>
            <a:off x="-95623" y="9902280"/>
            <a:ext cx="1218602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https://cloudblogs.microsoft.com/opensource/2020/01/21/microsoft-onnx-open-source-optimizations-transformer-inference-gpu-cpu</a:t>
            </a:r>
            <a:r>
              <a:rPr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06" name="Google Shape;1106;p67"/>
          <p:cNvSpPr/>
          <p:nvPr/>
        </p:nvSpPr>
        <p:spPr>
          <a:xfrm>
            <a:off x="5626478" y="3410395"/>
            <a:ext cx="4221027" cy="4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128 시퀀스 길이의 3레이어 BERT</a:t>
            </a:r>
            <a:endParaRPr sz="23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68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TENSORRT를 사용한 추론 최적화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69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NVIDIA TENSORRT</a:t>
            </a:r>
            <a:endParaRPr/>
          </a:p>
        </p:txBody>
      </p:sp>
      <p:sp>
        <p:nvSpPr>
          <p:cNvPr id="1118" name="Google Shape;1118;p69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모든 프레임워크에서 각 대상 플랫폼에 최적화됨</a:t>
            </a:r>
            <a:endParaRPr/>
          </a:p>
        </p:txBody>
      </p:sp>
      <p:pic>
        <p:nvPicPr>
          <p:cNvPr id="1119" name="Google Shape;1119;p69" descr="A picture containing clock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4949" y="3306339"/>
            <a:ext cx="14531663" cy="5609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70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cap="none"/>
              <a:t>TENSORRT</a:t>
            </a:r>
            <a:endParaRPr b="1" cap="none"/>
          </a:p>
        </p:txBody>
      </p:sp>
      <p:sp>
        <p:nvSpPr>
          <p:cNvPr id="1126" name="Google Shape;1126;p70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최적화</a:t>
            </a:r>
            <a:endParaRPr/>
          </a:p>
        </p:txBody>
      </p:sp>
      <p:sp>
        <p:nvSpPr>
          <p:cNvPr id="1127" name="Google Shape;1127;p70"/>
          <p:cNvSpPr txBox="1"/>
          <p:nvPr/>
        </p:nvSpPr>
        <p:spPr>
          <a:xfrm>
            <a:off x="1080472" y="9817870"/>
            <a:ext cx="8665397" cy="407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0" tIns="76125" rIns="152250" bIns="76125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3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developer.nvidia.com/tensorrt</a:t>
            </a:r>
            <a:endParaRPr/>
          </a:p>
        </p:txBody>
      </p:sp>
      <p:pic>
        <p:nvPicPr>
          <p:cNvPr id="1128" name="Google Shape;1128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9722" y="2847994"/>
            <a:ext cx="13108557" cy="666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71"/>
          <p:cNvSpPr txBox="1">
            <a:spLocks noGrp="1"/>
          </p:cNvSpPr>
          <p:nvPr>
            <p:ph type="title"/>
          </p:nvPr>
        </p:nvSpPr>
        <p:spPr>
          <a:xfrm>
            <a:off x="865387" y="2997651"/>
            <a:ext cx="7007337" cy="1031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TENSORRT ONNX 구문 분석기</a:t>
            </a:r>
            <a:endParaRPr/>
          </a:p>
        </p:txBody>
      </p:sp>
      <p:sp>
        <p:nvSpPr>
          <p:cNvPr id="1135" name="Google Shape;1135;p71"/>
          <p:cNvSpPr txBox="1">
            <a:spLocks noGrp="1"/>
          </p:cNvSpPr>
          <p:nvPr>
            <p:ph type="body" idx="1"/>
          </p:nvPr>
        </p:nvSpPr>
        <p:spPr>
          <a:xfrm>
            <a:off x="865386" y="5119299"/>
            <a:ext cx="6988068" cy="419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</a:pPr>
            <a:r>
              <a:rPr lang="en-US"/>
              <a:t>ONNX 지원 프레임워크에서 모델을 최적화하고 프로덕션에 배포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666"/>
              </a:spcBef>
              <a:spcAft>
                <a:spcPts val="0"/>
              </a:spcAft>
              <a:buClr>
                <a:schemeClr val="dk1"/>
              </a:buClr>
              <a:buSzPts val="2340"/>
              <a:buFont typeface="Trebuchet MS"/>
              <a:buNone/>
            </a:pPr>
            <a:r>
              <a:rPr lang="en-US" sz="2340"/>
              <a:t>TensorRT 최적화를 ONNX 프레임워크에 적용(Caffe 2, Microsoft Cognitive Toolkit, MxNet 및 PyTorch)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666"/>
              </a:spcBef>
              <a:spcAft>
                <a:spcPts val="0"/>
              </a:spcAft>
              <a:buClr>
                <a:srgbClr val="B3B3B3"/>
              </a:buClr>
              <a:buSzPts val="2400"/>
              <a:buFont typeface="Trebuchet MS"/>
              <a:buNone/>
            </a:pPr>
            <a:r>
              <a:rPr lang="en-US" sz="2400">
                <a:solidFill>
                  <a:srgbClr val="000000"/>
                </a:solidFill>
              </a:rPr>
              <a:t>컨버터(tf2onnx, keras2onnx)를 통해 TensorFlow 및 Keras 가져오기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666"/>
              </a:spcBef>
              <a:spcAft>
                <a:spcPts val="0"/>
              </a:spcAft>
              <a:buClr>
                <a:schemeClr val="dk1"/>
              </a:buClr>
              <a:buSzPts val="2340"/>
              <a:buFont typeface="Trebuchet MS"/>
              <a:buNone/>
            </a:pPr>
            <a:r>
              <a:rPr lang="en-US" sz="2340"/>
              <a:t>C++ 및 Python 앱에 사용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666"/>
              </a:spcBef>
              <a:spcAft>
                <a:spcPts val="0"/>
              </a:spcAft>
              <a:buClr>
                <a:schemeClr val="dk1"/>
              </a:buClr>
              <a:buSzPts val="2340"/>
              <a:buFont typeface="Trebuchet MS"/>
              <a:buNone/>
            </a:pPr>
            <a:r>
              <a:rPr lang="en-US" sz="2340"/>
              <a:t>TensorRT 7의 20개 이상의 새로운 Ops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666"/>
              </a:spcBef>
              <a:spcAft>
                <a:spcPts val="0"/>
              </a:spcAft>
              <a:buClr>
                <a:schemeClr val="dk1"/>
              </a:buClr>
              <a:buSzPts val="2340"/>
              <a:buFont typeface="Trebuchet MS"/>
              <a:buNone/>
            </a:pPr>
            <a:r>
              <a:rPr lang="en-US" sz="2340"/>
              <a:t>Opset 11 지원(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지원되는 Ops</a:t>
            </a:r>
            <a:r>
              <a:rPr lang="en-US" sz="2400"/>
              <a:t> 목록 참조)</a:t>
            </a:r>
            <a:endParaRPr/>
          </a:p>
        </p:txBody>
      </p:sp>
      <p:sp>
        <p:nvSpPr>
          <p:cNvPr id="1136" name="Google Shape;1136;p71"/>
          <p:cNvSpPr txBox="1">
            <a:spLocks noGrp="1"/>
          </p:cNvSpPr>
          <p:nvPr>
            <p:ph type="body" idx="2"/>
          </p:nvPr>
        </p:nvSpPr>
        <p:spPr>
          <a:xfrm>
            <a:off x="865387" y="3913996"/>
            <a:ext cx="7007337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ONNX 모델을 위한 고성능 추론</a:t>
            </a:r>
            <a:endParaRPr/>
          </a:p>
        </p:txBody>
      </p:sp>
      <p:cxnSp>
        <p:nvCxnSpPr>
          <p:cNvPr id="1137" name="Google Shape;1137;p71"/>
          <p:cNvCxnSpPr/>
          <p:nvPr/>
        </p:nvCxnSpPr>
        <p:spPr>
          <a:xfrm>
            <a:off x="9996753" y="1459680"/>
            <a:ext cx="0" cy="77724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pic>
        <p:nvPicPr>
          <p:cNvPr id="1138" name="Google Shape;1138;p71" descr="Image result for onnx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10806" y="2257780"/>
            <a:ext cx="5473018" cy="14081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9" name="Google Shape;1139;p71"/>
          <p:cNvGrpSpPr/>
          <p:nvPr/>
        </p:nvGrpSpPr>
        <p:grpSpPr>
          <a:xfrm>
            <a:off x="10197542" y="4520717"/>
            <a:ext cx="7908432" cy="2431570"/>
            <a:chOff x="6798361" y="3013810"/>
            <a:chExt cx="5272288" cy="1621047"/>
          </a:xfrm>
        </p:grpSpPr>
        <p:pic>
          <p:nvPicPr>
            <p:cNvPr id="1140" name="Google Shape;1140;p71" descr="https://onnx.ai/assets/og_image_caffe2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798361" y="3031642"/>
              <a:ext cx="1420884" cy="4131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1" name="Google Shape;1141;p71" descr="https://onnx.ai/assets/chainer_logo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07223" y="3101682"/>
              <a:ext cx="1526167" cy="319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2" name="Google Shape;1142;p71" descr="https://onnx.ai/assets/pytorch-logo-dark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280343" y="3736437"/>
              <a:ext cx="1790306" cy="3598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3" name="Google Shape;1143;p71" descr="https://onnx.ai/assets/PaddlePaddle_510x120.gif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259577" y="4118747"/>
              <a:ext cx="2193469" cy="5161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4" name="Google Shape;1144;p71" descr="https://onnx.ai/assets/Matlab-ONNX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656372" y="3489750"/>
              <a:ext cx="1426732" cy="570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5" name="Google Shape;1145;p71" descr="https://onnx.ai/assets/ms_cntk_horizontal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0412415" y="3013810"/>
              <a:ext cx="1526163" cy="4860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6" name="Google Shape;1146;p71" descr="https://onnx.ai/assets/mxnet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832033" y="3671194"/>
              <a:ext cx="1420882" cy="49030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47" name="Google Shape;1147;p71"/>
          <p:cNvCxnSpPr/>
          <p:nvPr/>
        </p:nvCxnSpPr>
        <p:spPr>
          <a:xfrm>
            <a:off x="10197542" y="4035207"/>
            <a:ext cx="7908432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8" name="Google Shape;1148;p71"/>
          <p:cNvSpPr txBox="1"/>
          <p:nvPr/>
        </p:nvSpPr>
        <p:spPr>
          <a:xfrm>
            <a:off x="1" y="9894650"/>
            <a:ext cx="9628218" cy="39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25" tIns="68550" rIns="137125" bIns="6855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3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developer.nvidia.com/tensorrt</a:t>
            </a:r>
            <a:endParaRPr sz="27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72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TENSORRT</a:t>
            </a:r>
            <a:endParaRPr/>
          </a:p>
        </p:txBody>
      </p:sp>
      <p:pic>
        <p:nvPicPr>
          <p:cNvPr id="1154" name="Google Shape;1154;p7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41642" y="3139108"/>
            <a:ext cx="7924950" cy="551666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55" name="Google Shape;1155;p72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DL 프레임워크와의 통합</a:t>
            </a:r>
            <a:endParaRPr/>
          </a:p>
        </p:txBody>
      </p:sp>
      <p:pic>
        <p:nvPicPr>
          <p:cNvPr id="1156" name="Google Shape;1156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9034" y="3139109"/>
            <a:ext cx="8077613" cy="549965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57" name="Google Shape;1157;p72"/>
          <p:cNvSpPr/>
          <p:nvPr/>
        </p:nvSpPr>
        <p:spPr>
          <a:xfrm>
            <a:off x="3816088" y="8867019"/>
            <a:ext cx="2762295" cy="41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Pytorch -&gt; TRTorch</a:t>
            </a:r>
            <a:endParaRPr sz="2333">
              <a:solidFill>
                <a:srgbClr val="76B9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58" name="Google Shape;1158;p72"/>
          <p:cNvSpPr/>
          <p:nvPr/>
        </p:nvSpPr>
        <p:spPr>
          <a:xfrm>
            <a:off x="12624248" y="8756302"/>
            <a:ext cx="3121367" cy="41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TensorFlow -&gt; TF-TRT</a:t>
            </a:r>
            <a:endParaRPr sz="2333">
              <a:solidFill>
                <a:srgbClr val="76B9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73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광범위하게 채택됨</a:t>
            </a:r>
            <a:endParaRPr/>
          </a:p>
        </p:txBody>
      </p:sp>
      <p:sp>
        <p:nvSpPr>
          <p:cNvPr id="1165" name="Google Shape;1165;p73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가장 까다로운 애플리케이션 가속화</a:t>
            </a:r>
            <a:endParaRPr/>
          </a:p>
        </p:txBody>
      </p:sp>
      <p:pic>
        <p:nvPicPr>
          <p:cNvPr id="1166" name="Google Shape;1166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7935" y="7174172"/>
            <a:ext cx="3168033" cy="173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" name="Google Shape;1167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7087" y="3636327"/>
            <a:ext cx="1878310" cy="48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7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32973" y="4707088"/>
            <a:ext cx="2206538" cy="107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73" descr="Image result for sktelecom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18767" y="6130117"/>
            <a:ext cx="1737307" cy="6840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0" name="Google Shape;1170;p73"/>
          <p:cNvGrpSpPr/>
          <p:nvPr/>
        </p:nvGrpSpPr>
        <p:grpSpPr>
          <a:xfrm>
            <a:off x="4698803" y="3309470"/>
            <a:ext cx="2034358" cy="5139167"/>
            <a:chOff x="3132534" y="2206313"/>
            <a:chExt cx="1356239" cy="3426111"/>
          </a:xfrm>
        </p:grpSpPr>
        <p:pic>
          <p:nvPicPr>
            <p:cNvPr id="1171" name="Google Shape;1171;p73" descr="Image result for searidge logo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299004" y="3911145"/>
              <a:ext cx="1023298" cy="10232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2" name="Google Shape;1172;p73" descr="Image result for baidu company logo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132534" y="2206313"/>
              <a:ext cx="1356239" cy="753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3" name="Google Shape;1173;p73" descr="Image result for ibm logo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26943" y="3387838"/>
              <a:ext cx="767421" cy="306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4" name="Google Shape;1174;p7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542610" y="5092563"/>
              <a:ext cx="536086" cy="53986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5" name="Google Shape;1175;p73"/>
          <p:cNvGrpSpPr/>
          <p:nvPr/>
        </p:nvGrpSpPr>
        <p:grpSpPr>
          <a:xfrm>
            <a:off x="1893134" y="3756913"/>
            <a:ext cx="2181773" cy="4827005"/>
            <a:chOff x="1262089" y="2504607"/>
            <a:chExt cx="1454515" cy="3218003"/>
          </a:xfrm>
        </p:grpSpPr>
        <p:pic>
          <p:nvPicPr>
            <p:cNvPr id="1176" name="Google Shape;1176;p73" descr="Image result for verizon logo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448432" y="5001392"/>
              <a:ext cx="1081829" cy="7212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7" name="Google Shape;1177;p73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682850" y="4210078"/>
              <a:ext cx="612993" cy="344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8" name="Google Shape;1178;p73" descr="Image result for ford logo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498281" y="3285871"/>
              <a:ext cx="982131" cy="374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9" name="Google Shape;1179;p73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1262089" y="2504607"/>
              <a:ext cx="1454515" cy="2529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80" name="Google Shape;1180;p7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665994" y="7655870"/>
            <a:ext cx="804128" cy="8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73" descr="Image result for bytedance logo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436178" y="3636325"/>
            <a:ext cx="1925828" cy="49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73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1354439" y="6467881"/>
            <a:ext cx="2144228" cy="42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73" descr="Image result for kla logo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1436177" y="5081758"/>
            <a:ext cx="1779607" cy="6049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4" name="Google Shape;1184;p73"/>
          <p:cNvGrpSpPr/>
          <p:nvPr/>
        </p:nvGrpSpPr>
        <p:grpSpPr>
          <a:xfrm>
            <a:off x="14225669" y="3711757"/>
            <a:ext cx="2753200" cy="4844247"/>
            <a:chOff x="9483778" y="2474504"/>
            <a:chExt cx="1835467" cy="3229498"/>
          </a:xfrm>
        </p:grpSpPr>
        <p:pic>
          <p:nvPicPr>
            <p:cNvPr id="1185" name="Google Shape;1185;p73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9483778" y="3168800"/>
              <a:ext cx="1835467" cy="685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6" name="Google Shape;1186;p73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9889862" y="5032463"/>
              <a:ext cx="1023298" cy="6715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7" name="Google Shape;1187;p73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9742027" y="4255406"/>
              <a:ext cx="1318969" cy="334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8" name="Google Shape;1188;p73" descr="Image result for criteo logo"/>
            <p:cNvPicPr preferRelativeResize="0"/>
            <p:nvPr/>
          </p:nvPicPr>
          <p:blipFill rotWithShape="1">
            <a:blip r:embed="rId22">
              <a:alphaModFix/>
            </a:blip>
            <a:srcRect/>
            <a:stretch/>
          </p:blipFill>
          <p:spPr>
            <a:xfrm>
              <a:off x="9811573" y="2474504"/>
              <a:ext cx="1179877" cy="2841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74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NLP에 미치는 영향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75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TENSORRT</a:t>
            </a:r>
            <a:endParaRPr/>
          </a:p>
        </p:txBody>
      </p:sp>
      <p:sp>
        <p:nvSpPr>
          <p:cNvPr id="1199" name="Google Shape;1199;p75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BERT 인코더 최적화</a:t>
            </a:r>
            <a:endParaRPr/>
          </a:p>
        </p:txBody>
      </p:sp>
      <p:pic>
        <p:nvPicPr>
          <p:cNvPr id="1200" name="Google Shape;1200;p7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528887" y="3556000"/>
            <a:ext cx="132461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5" name="Google Shape;1205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2380" y="6042366"/>
            <a:ext cx="9223240" cy="4244635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76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맞춤형 플러그인</a:t>
            </a:r>
            <a:endParaRPr/>
          </a:p>
        </p:txBody>
      </p:sp>
      <p:sp>
        <p:nvSpPr>
          <p:cNvPr id="1207" name="Google Shape;1207;p76"/>
          <p:cNvSpPr txBox="1">
            <a:spLocks noGrp="1"/>
          </p:cNvSpPr>
          <p:nvPr>
            <p:ph type="body" idx="1"/>
          </p:nvPr>
        </p:nvSpPr>
        <p:spPr>
          <a:xfrm>
            <a:off x="882465" y="3142203"/>
            <a:ext cx="9316893" cy="6198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11" lvl="0" indent="-57151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US" sz="3000"/>
              <a:t>단순 구현에는 많은 수의 TensorRT 기본 레이어가 필요함</a:t>
            </a:r>
            <a:endParaRPr/>
          </a:p>
          <a:p>
            <a:pPr marL="571511" lvl="0" indent="-57151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US" sz="3000"/>
              <a:t>k 레이어의 경우 단순 구현에 k-1 메모리 왕복이 필요함</a:t>
            </a:r>
            <a:endParaRPr/>
          </a:p>
          <a:p>
            <a:pPr marL="571511" lvl="0" indent="-57151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US" sz="3000"/>
              <a:t>건너뛰기 및 레이어 정규화(LN) 레이어는 Transformer 레이어당 2번 발생하며 단일 커널에서 융합됨</a:t>
            </a:r>
            <a:endParaRPr sz="3000"/>
          </a:p>
        </p:txBody>
      </p:sp>
      <p:sp>
        <p:nvSpPr>
          <p:cNvPr id="1208" name="Google Shape;1208;p76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최적화된 GeLU와 건너뛰기 및 레이어 정규화 작업</a:t>
            </a:r>
            <a:endParaRPr/>
          </a:p>
        </p:txBody>
      </p:sp>
      <p:sp>
        <p:nvSpPr>
          <p:cNvPr id="1209" name="Google Shape;1209;p76"/>
          <p:cNvSpPr/>
          <p:nvPr/>
        </p:nvSpPr>
        <p:spPr>
          <a:xfrm>
            <a:off x="10293010" y="3423089"/>
            <a:ext cx="9144000" cy="260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결과 = x^3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결과 = c * 결과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결과 = x + 결과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결과 = b * 결과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결과 = tanh(결과)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결과 = x * 결과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결과 = a * 결과</a:t>
            </a:r>
            <a:endParaRPr sz="23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76"/>
          <p:cNvSpPr/>
          <p:nvPr/>
        </p:nvSpPr>
        <p:spPr>
          <a:xfrm>
            <a:off x="10293010" y="2957107"/>
            <a:ext cx="6966972" cy="50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gelu(x) = a * x * (1 + tanh(b * (x + c * x^3)))</a:t>
            </a:r>
            <a:endParaRPr sz="2667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77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맞춤형 플러그인</a:t>
            </a:r>
            <a:endParaRPr/>
          </a:p>
        </p:txBody>
      </p:sp>
      <p:sp>
        <p:nvSpPr>
          <p:cNvPr id="1216" name="Google Shape;1216;p77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Self-Attention Layer</a:t>
            </a:r>
            <a:endParaRPr/>
          </a:p>
        </p:txBody>
      </p:sp>
      <p:pic>
        <p:nvPicPr>
          <p:cNvPr id="1217" name="Google Shape;1217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0393" y="2904528"/>
            <a:ext cx="14938647" cy="3647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91722" y="6552339"/>
            <a:ext cx="14735991" cy="3734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78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결과</a:t>
            </a:r>
            <a:endParaRPr/>
          </a:p>
        </p:txBody>
      </p:sp>
      <p:sp>
        <p:nvSpPr>
          <p:cNvPr id="1224" name="Google Shape;1224;p78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지연 시간 및 처리량에 상당한 영향을 미침(배치 1)</a:t>
            </a:r>
            <a:endParaRPr/>
          </a:p>
        </p:txBody>
      </p:sp>
      <p:pic>
        <p:nvPicPr>
          <p:cNvPr id="1225" name="Google Shape;1225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6964" y="3873636"/>
            <a:ext cx="8034073" cy="4916578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78"/>
          <p:cNvSpPr/>
          <p:nvPr/>
        </p:nvSpPr>
        <p:spPr>
          <a:xfrm>
            <a:off x="1" y="9815855"/>
            <a:ext cx="16373928" cy="36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Tesla T4 GPU를 사용하면 TensorRT로 최적화된 BERT가 Tesla T4 GPU를 사용하여 배치 크기 =1, 시퀀스 길이 = 128인 SQuAD에서 사용할 수 있는 작업과 유사한 QA 작업에 대해 2.2ms로 추론을 수행할 수 있습니다.</a:t>
            </a:r>
            <a:endParaRPr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79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결과</a:t>
            </a:r>
            <a:endParaRPr/>
          </a:p>
        </p:txBody>
      </p:sp>
      <p:sp>
        <p:nvSpPr>
          <p:cNvPr id="1232" name="Google Shape;1232;p79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지연 시간 및 처리량에 상당한 영향을 미침</a:t>
            </a:r>
            <a:endParaRPr/>
          </a:p>
        </p:txBody>
      </p:sp>
      <p:pic>
        <p:nvPicPr>
          <p:cNvPr id="1233" name="Google Shape;1233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6063" y="4939716"/>
            <a:ext cx="16301358" cy="1924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80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BEYOND BERT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81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FASTER TRANSFORMER</a:t>
            </a:r>
            <a:endParaRPr/>
          </a:p>
        </p:txBody>
      </p:sp>
      <p:sp>
        <p:nvSpPr>
          <p:cNvPr id="1244" name="Google Shape;1244;p81"/>
          <p:cNvSpPr txBox="1">
            <a:spLocks noGrp="1"/>
          </p:cNvSpPr>
          <p:nvPr>
            <p:ph type="body" idx="1"/>
          </p:nvPr>
        </p:nvSpPr>
        <p:spPr>
          <a:xfrm>
            <a:off x="876300" y="2689333"/>
            <a:ext cx="16581120" cy="65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11" lvl="0" indent="-57151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US" sz="3600"/>
              <a:t>인코더:</a:t>
            </a:r>
            <a:endParaRPr/>
          </a:p>
          <a:p>
            <a:pPr marL="1524030" lvl="1" indent="-57151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/>
              <a:t>FP16에서 XLA를 사용하는 TensorFlow와 비교 시 1.5배</a:t>
            </a:r>
            <a:endParaRPr/>
          </a:p>
          <a:p>
            <a:pPr marL="571511" lvl="0" indent="-57151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US" sz="3600"/>
              <a:t>NVIDIA Tesla T4의 디코더</a:t>
            </a:r>
            <a:endParaRPr/>
          </a:p>
          <a:p>
            <a:pPr marL="1524030" lvl="1" indent="-57151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/>
              <a:t>배치 크기 1의 경우 2.5배 속도 증가(온라인 번역 스키마)</a:t>
            </a:r>
            <a:endParaRPr/>
          </a:p>
          <a:p>
            <a:pPr marL="1524030" lvl="1" indent="-57151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/>
              <a:t>FP16의 대규모 배치 크기의 경우 2배 속도 증가</a:t>
            </a:r>
            <a:endParaRPr/>
          </a:p>
          <a:p>
            <a:pPr marL="571511" lvl="0" indent="-57151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US" sz="3600"/>
              <a:t>NVIDIA Tesla T4의 디코딩</a:t>
            </a:r>
            <a:endParaRPr/>
          </a:p>
          <a:p>
            <a:pPr marL="1524030" lvl="1" indent="-57151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/>
              <a:t>배치 크기 1 및 빔 너비 4의 경우 7배 속도 증가(온라인 번역 스키마)</a:t>
            </a:r>
            <a:endParaRPr/>
          </a:p>
          <a:p>
            <a:pPr marL="1524030" lvl="1" indent="-57151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/>
              <a:t>FP16의 대규모 배치 크기의 경우 2배 속도 증가</a:t>
            </a:r>
            <a:endParaRPr/>
          </a:p>
          <a:p>
            <a:pPr marL="571511" lvl="0" indent="-57151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US" sz="3600"/>
              <a:t>NVIDIA Tesla V100의 디코딩</a:t>
            </a:r>
            <a:endParaRPr/>
          </a:p>
          <a:p>
            <a:pPr marL="1524030" lvl="1" indent="-57151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/>
              <a:t>배치 크기 1 및 빔 너비 4의 경우 6배 속도 증가(온라인 번역 스키마)</a:t>
            </a:r>
            <a:endParaRPr/>
          </a:p>
          <a:p>
            <a:pPr marL="1524030" lvl="1" indent="-57151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/>
              <a:t>FP16의 대규모 배치 크기의 경우 3배 속도 증가.</a:t>
            </a:r>
            <a:endParaRPr/>
          </a:p>
        </p:txBody>
      </p:sp>
      <p:sp>
        <p:nvSpPr>
          <p:cNvPr id="1245" name="Google Shape;1245;p81"/>
          <p:cNvSpPr txBox="1">
            <a:spLocks noGrp="1"/>
          </p:cNvSpPr>
          <p:nvPr>
            <p:ph type="body" idx="2"/>
          </p:nvPr>
        </p:nvSpPr>
        <p:spPr>
          <a:xfrm>
            <a:off x="830580" y="1813561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트레이닝 및 추론 속도에 맞게 설계됨</a:t>
            </a:r>
            <a:endParaRPr/>
          </a:p>
        </p:txBody>
      </p:sp>
      <p:sp>
        <p:nvSpPr>
          <p:cNvPr id="1246" name="Google Shape;1246;p81"/>
          <p:cNvSpPr/>
          <p:nvPr/>
        </p:nvSpPr>
        <p:spPr>
          <a:xfrm>
            <a:off x="-72570" y="9902280"/>
            <a:ext cx="1025071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https://github.com/NVIDIA/DeepLearningExamples/tree/master/FasterTransformer#feature-support-matrix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82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TENSORRT 사용 고려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9AD160FC-2209-4D90-858B-834BE19DA2D1}"/>
              </a:ext>
            </a:extLst>
          </p:cNvPr>
          <p:cNvSpPr/>
          <p:nvPr/>
        </p:nvSpPr>
        <p:spPr>
          <a:xfrm>
            <a:off x="6880123" y="1203106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83"/>
          <p:cNvSpPr txBox="1"/>
          <p:nvPr/>
        </p:nvSpPr>
        <p:spPr>
          <a:xfrm>
            <a:off x="7890840" y="1386578"/>
            <a:ext cx="8693721" cy="698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3부: 프로덕션 배포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강의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선택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트레이닝 후 최적화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제품 양자화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지식 증류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코드 효율성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rgbClr val="C785EA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C785EA"/>
                </a:solidFill>
                <a:latin typeface="Arial"/>
                <a:ea typeface="Arial"/>
                <a:cs typeface="Arial"/>
                <a:sym typeface="Arial"/>
              </a:rPr>
              <a:t>모델 서빙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애플리케이션 구축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랩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내보내기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호스팅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서버 성능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사용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0469" y="4520914"/>
            <a:ext cx="751533" cy="761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0469" y="5714976"/>
            <a:ext cx="751533" cy="761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5" name="Google Shape;1265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0469" y="6893327"/>
            <a:ext cx="751533" cy="761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0304" y="3908171"/>
            <a:ext cx="751533" cy="761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0304" y="5117944"/>
            <a:ext cx="751533" cy="761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0304" y="6296294"/>
            <a:ext cx="751533" cy="761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0304" y="7474646"/>
            <a:ext cx="751533" cy="761972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84"/>
          <p:cNvSpPr txBox="1">
            <a:spLocks noGrp="1"/>
          </p:cNvSpPr>
          <p:nvPr>
            <p:ph type="title"/>
          </p:nvPr>
        </p:nvSpPr>
        <p:spPr>
          <a:xfrm>
            <a:off x="830580" y="1229044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</a:pPr>
            <a:r>
              <a:rPr lang="en-US"/>
              <a:t>비효율성으로 인한 혁신 제한</a:t>
            </a:r>
            <a:endParaRPr/>
          </a:p>
        </p:txBody>
      </p:sp>
      <p:sp>
        <p:nvSpPr>
          <p:cNvPr id="1271" name="Google Shape;1271;p84"/>
          <p:cNvSpPr txBox="1">
            <a:spLocks noGrp="1"/>
          </p:cNvSpPr>
          <p:nvPr>
            <p:ph type="body" idx="2"/>
          </p:nvPr>
        </p:nvSpPr>
        <p:spPr>
          <a:xfrm>
            <a:off x="830580" y="2099222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데이터센터 추론 배포가 어려움</a:t>
            </a:r>
            <a:endParaRPr/>
          </a:p>
        </p:txBody>
      </p:sp>
      <p:sp>
        <p:nvSpPr>
          <p:cNvPr id="1272" name="Google Shape;1272;p84"/>
          <p:cNvSpPr/>
          <p:nvPr/>
        </p:nvSpPr>
        <p:spPr>
          <a:xfrm>
            <a:off x="581427" y="2992090"/>
            <a:ext cx="5323500" cy="6188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84"/>
          <p:cNvSpPr/>
          <p:nvPr/>
        </p:nvSpPr>
        <p:spPr>
          <a:xfrm>
            <a:off x="6520585" y="2992090"/>
            <a:ext cx="5323500" cy="6188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84"/>
          <p:cNvSpPr/>
          <p:nvPr/>
        </p:nvSpPr>
        <p:spPr>
          <a:xfrm>
            <a:off x="12407258" y="2992090"/>
            <a:ext cx="5323500" cy="6188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84"/>
          <p:cNvSpPr txBox="1"/>
          <p:nvPr/>
        </p:nvSpPr>
        <p:spPr>
          <a:xfrm>
            <a:off x="6538342" y="3183670"/>
            <a:ext cx="5323500" cy="6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단일 프레임워크만의 사용</a:t>
            </a:r>
            <a:endParaRPr sz="2100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6" name="Google Shape;1276;p84"/>
          <p:cNvSpPr txBox="1"/>
          <p:nvPr/>
        </p:nvSpPr>
        <p:spPr>
          <a:xfrm>
            <a:off x="966373" y="3201753"/>
            <a:ext cx="4554000" cy="6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단일 모델만의 사용</a:t>
            </a:r>
            <a:endParaRPr sz="2100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7" name="Google Shape;1277;p84"/>
          <p:cNvSpPr txBox="1"/>
          <p:nvPr/>
        </p:nvSpPr>
        <p:spPr>
          <a:xfrm>
            <a:off x="12407240" y="3201753"/>
            <a:ext cx="5344500" cy="6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맞춤형 배포 </a:t>
            </a:r>
            <a:endParaRPr sz="3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8" name="Google Shape;1278;p84"/>
          <p:cNvSpPr txBox="1"/>
          <p:nvPr/>
        </p:nvSpPr>
        <p:spPr>
          <a:xfrm>
            <a:off x="966375" y="8337500"/>
            <a:ext cx="4379000" cy="6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일부 시스템은 과도하게 사용되고 다른 시스템은 충분히 사용되지 않음</a:t>
            </a:r>
            <a:endParaRPr sz="3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9" name="Google Shape;1279;p84"/>
          <p:cNvSpPr txBox="1"/>
          <p:nvPr/>
        </p:nvSpPr>
        <p:spPr>
          <a:xfrm>
            <a:off x="7004865" y="8359898"/>
            <a:ext cx="4554000" cy="6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솔루션이 한 프레임워크에서만 </a:t>
            </a:r>
            <a:br>
              <a:rPr lang="en-US" sz="2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2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모델을 지원할 수 있음</a:t>
            </a:r>
            <a:endParaRPr sz="3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80" name="Google Shape;1280;p84"/>
          <p:cNvSpPr txBox="1"/>
          <p:nvPr/>
        </p:nvSpPr>
        <p:spPr>
          <a:xfrm>
            <a:off x="12842073" y="8337482"/>
            <a:ext cx="4554000" cy="6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개발자가 모든 애플리케이션을 위한 배치 작업을 재창조해야 함</a:t>
            </a:r>
            <a:endParaRPr sz="3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281" name="Google Shape;1281;p84"/>
          <p:cNvGrpSpPr/>
          <p:nvPr/>
        </p:nvGrpSpPr>
        <p:grpSpPr>
          <a:xfrm>
            <a:off x="1084580" y="7396619"/>
            <a:ext cx="1139500" cy="679438"/>
            <a:chOff x="802782" y="4385287"/>
            <a:chExt cx="683700" cy="407663"/>
          </a:xfrm>
        </p:grpSpPr>
        <p:pic>
          <p:nvPicPr>
            <p:cNvPr id="1282" name="Google Shape;1282;p84"/>
            <p:cNvPicPr preferRelativeResize="0"/>
            <p:nvPr/>
          </p:nvPicPr>
          <p:blipFill rotWithShape="1">
            <a:blip r:embed="rId4">
              <a:alphaModFix amt="44000"/>
            </a:blip>
            <a:srcRect/>
            <a:stretch/>
          </p:blipFill>
          <p:spPr>
            <a:xfrm>
              <a:off x="943546" y="4385287"/>
              <a:ext cx="402078" cy="4076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3" name="Google Shape;1283;p84"/>
            <p:cNvSpPr/>
            <p:nvPr/>
          </p:nvSpPr>
          <p:spPr>
            <a:xfrm>
              <a:off x="802782" y="4435229"/>
              <a:ext cx="6837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ASR</a:t>
              </a: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84" name="Google Shape;1284;p8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45325" y="4345872"/>
            <a:ext cx="3247583" cy="3229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8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95685" y="6796837"/>
            <a:ext cx="1144123" cy="489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8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95685" y="6222213"/>
            <a:ext cx="1144123" cy="489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8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4580" y="6790592"/>
            <a:ext cx="1144123" cy="460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8" name="Google Shape;1288;p8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4580" y="6222214"/>
            <a:ext cx="1144123" cy="460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8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4580" y="5653837"/>
            <a:ext cx="1144123" cy="460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0" name="Google Shape;1290;p8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4580" y="5085461"/>
            <a:ext cx="1144123" cy="460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1" name="Google Shape;1291;p8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96497" y="6773743"/>
            <a:ext cx="1151493" cy="489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2" name="Google Shape;1292;p8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96497" y="6222213"/>
            <a:ext cx="1151493" cy="4891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3" name="Google Shape;1293;p84"/>
          <p:cNvGrpSpPr/>
          <p:nvPr/>
        </p:nvGrpSpPr>
        <p:grpSpPr>
          <a:xfrm>
            <a:off x="2695685" y="7373523"/>
            <a:ext cx="1139500" cy="679438"/>
            <a:chOff x="1714025" y="4356281"/>
            <a:chExt cx="683700" cy="407663"/>
          </a:xfrm>
        </p:grpSpPr>
        <p:pic>
          <p:nvPicPr>
            <p:cNvPr id="1294" name="Google Shape;1294;p84"/>
            <p:cNvPicPr preferRelativeResize="0"/>
            <p:nvPr/>
          </p:nvPicPr>
          <p:blipFill rotWithShape="1">
            <a:blip r:embed="rId4">
              <a:alphaModFix amt="44000"/>
            </a:blip>
            <a:srcRect/>
            <a:stretch/>
          </p:blipFill>
          <p:spPr>
            <a:xfrm>
              <a:off x="1854789" y="4356281"/>
              <a:ext cx="402078" cy="4076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5" name="Google Shape;1295;p84"/>
            <p:cNvSpPr/>
            <p:nvPr/>
          </p:nvSpPr>
          <p:spPr>
            <a:xfrm>
              <a:off x="1714025" y="4406223"/>
              <a:ext cx="6837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NLP</a:t>
              </a: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6" name="Google Shape;1296;p84"/>
          <p:cNvGrpSpPr/>
          <p:nvPr/>
        </p:nvGrpSpPr>
        <p:grpSpPr>
          <a:xfrm>
            <a:off x="3734645" y="7279423"/>
            <a:ext cx="2433000" cy="776448"/>
            <a:chOff x="2362440" y="4348017"/>
            <a:chExt cx="1459800" cy="465869"/>
          </a:xfrm>
        </p:grpSpPr>
        <p:pic>
          <p:nvPicPr>
            <p:cNvPr id="1297" name="Google Shape;1297;p84"/>
            <p:cNvPicPr preferRelativeResize="0"/>
            <p:nvPr/>
          </p:nvPicPr>
          <p:blipFill rotWithShape="1">
            <a:blip r:embed="rId4">
              <a:alphaModFix amt="44000"/>
            </a:blip>
            <a:srcRect/>
            <a:stretch/>
          </p:blipFill>
          <p:spPr>
            <a:xfrm>
              <a:off x="2889504" y="4406223"/>
              <a:ext cx="402078" cy="4076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84"/>
            <p:cNvSpPr/>
            <p:nvPr/>
          </p:nvSpPr>
          <p:spPr>
            <a:xfrm>
              <a:off x="2362440" y="4348017"/>
              <a:ext cx="1459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추천</a:t>
              </a:r>
              <a:br>
                <a:rPr lang="en-US" sz="2000" b="1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</a:br>
              <a:r>
                <a:rPr lang="en-US" sz="2000" b="1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시스템</a:t>
              </a:r>
              <a:endParaRPr sz="2000" b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1299" name="Google Shape;1299;p8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4580" y="4531284"/>
            <a:ext cx="1144123" cy="460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84"/>
          <p:cNvSpPr txBox="1"/>
          <p:nvPr/>
        </p:nvSpPr>
        <p:spPr>
          <a:xfrm>
            <a:off x="1451127" y="3865907"/>
            <a:ext cx="497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1" name="Google Shape;1301;p84"/>
          <p:cNvGrpSpPr/>
          <p:nvPr/>
        </p:nvGrpSpPr>
        <p:grpSpPr>
          <a:xfrm>
            <a:off x="7505687" y="5564380"/>
            <a:ext cx="983500" cy="983500"/>
            <a:chOff x="4603059" y="2795156"/>
            <a:chExt cx="590100" cy="590100"/>
          </a:xfrm>
        </p:grpSpPr>
        <p:pic>
          <p:nvPicPr>
            <p:cNvPr id="1302" name="Google Shape;1302;p8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701147" y="2996142"/>
              <a:ext cx="401901" cy="221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3" name="Google Shape;1303;p84"/>
            <p:cNvSpPr/>
            <p:nvPr/>
          </p:nvSpPr>
          <p:spPr>
            <a:xfrm>
              <a:off x="4603059" y="2795156"/>
              <a:ext cx="590100" cy="590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4" name="Google Shape;1304;p84"/>
          <p:cNvGrpSpPr/>
          <p:nvPr/>
        </p:nvGrpSpPr>
        <p:grpSpPr>
          <a:xfrm>
            <a:off x="6607672" y="3790332"/>
            <a:ext cx="983500" cy="983500"/>
            <a:chOff x="3974319" y="2787536"/>
            <a:chExt cx="590100" cy="590100"/>
          </a:xfrm>
        </p:grpSpPr>
        <p:pic>
          <p:nvPicPr>
            <p:cNvPr id="1305" name="Google Shape;1305;p8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129906" y="2910205"/>
              <a:ext cx="289113" cy="3033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6" name="Google Shape;1306;p84"/>
            <p:cNvSpPr/>
            <p:nvPr/>
          </p:nvSpPr>
          <p:spPr>
            <a:xfrm>
              <a:off x="3974319" y="2787536"/>
              <a:ext cx="590100" cy="590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7" name="Google Shape;1307;p84"/>
          <p:cNvGrpSpPr/>
          <p:nvPr/>
        </p:nvGrpSpPr>
        <p:grpSpPr>
          <a:xfrm>
            <a:off x="6607672" y="6161338"/>
            <a:ext cx="983500" cy="983500"/>
            <a:chOff x="5130488" y="3555606"/>
            <a:chExt cx="590100" cy="590100"/>
          </a:xfrm>
        </p:grpSpPr>
        <p:pic>
          <p:nvPicPr>
            <p:cNvPr id="1308" name="Google Shape;1308;p84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58412" y="3770768"/>
              <a:ext cx="533828" cy="116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9" name="Google Shape;1309;p84"/>
            <p:cNvSpPr/>
            <p:nvPr/>
          </p:nvSpPr>
          <p:spPr>
            <a:xfrm>
              <a:off x="5130488" y="3555606"/>
              <a:ext cx="590100" cy="590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0" name="Google Shape;1310;p84"/>
          <p:cNvGrpSpPr/>
          <p:nvPr/>
        </p:nvGrpSpPr>
        <p:grpSpPr>
          <a:xfrm>
            <a:off x="7505687" y="6757382"/>
            <a:ext cx="983500" cy="983500"/>
            <a:chOff x="5425518" y="2869596"/>
            <a:chExt cx="590100" cy="590100"/>
          </a:xfrm>
        </p:grpSpPr>
        <p:pic>
          <p:nvPicPr>
            <p:cNvPr id="1311" name="Google Shape;1311;p84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453931" y="3090547"/>
              <a:ext cx="540823" cy="1073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2" name="Google Shape;1312;p84"/>
            <p:cNvSpPr/>
            <p:nvPr/>
          </p:nvSpPr>
          <p:spPr>
            <a:xfrm>
              <a:off x="5425518" y="2869596"/>
              <a:ext cx="590100" cy="590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13" name="Google Shape;1313;p84"/>
          <p:cNvCxnSpPr>
            <a:stCxn id="1314" idx="6"/>
            <a:endCxn id="1315" idx="2"/>
          </p:cNvCxnSpPr>
          <p:nvPr/>
        </p:nvCxnSpPr>
        <p:spPr>
          <a:xfrm>
            <a:off x="7591172" y="5467585"/>
            <a:ext cx="31833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6" name="Google Shape;1316;p84"/>
          <p:cNvCxnSpPr>
            <a:stCxn id="1303" idx="6"/>
            <a:endCxn id="1317" idx="2"/>
          </p:cNvCxnSpPr>
          <p:nvPr/>
        </p:nvCxnSpPr>
        <p:spPr>
          <a:xfrm>
            <a:off x="8489187" y="6056130"/>
            <a:ext cx="13836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8" name="Google Shape;1318;p84"/>
          <p:cNvCxnSpPr>
            <a:stCxn id="1319" idx="6"/>
            <a:endCxn id="1320" idx="2"/>
          </p:cNvCxnSpPr>
          <p:nvPr/>
        </p:nvCxnSpPr>
        <p:spPr>
          <a:xfrm>
            <a:off x="8489187" y="4872460"/>
            <a:ext cx="13836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21" name="Google Shape;1321;p84"/>
          <p:cNvCxnSpPr>
            <a:stCxn id="1306" idx="6"/>
            <a:endCxn id="1322" idx="2"/>
          </p:cNvCxnSpPr>
          <p:nvPr/>
        </p:nvCxnSpPr>
        <p:spPr>
          <a:xfrm>
            <a:off x="7591172" y="4282082"/>
            <a:ext cx="31833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23" name="Google Shape;1323;p84"/>
          <p:cNvGrpSpPr/>
          <p:nvPr/>
        </p:nvGrpSpPr>
        <p:grpSpPr>
          <a:xfrm>
            <a:off x="6607672" y="4975835"/>
            <a:ext cx="983500" cy="983500"/>
            <a:chOff x="5921074" y="2811711"/>
            <a:chExt cx="590100" cy="590100"/>
          </a:xfrm>
        </p:grpSpPr>
        <p:sp>
          <p:nvSpPr>
            <p:cNvPr id="1314" name="Google Shape;1314;p84"/>
            <p:cNvSpPr/>
            <p:nvPr/>
          </p:nvSpPr>
          <p:spPr>
            <a:xfrm>
              <a:off x="5921074" y="2811711"/>
              <a:ext cx="590100" cy="590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24" name="Google Shape;1324;p84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983770" y="2948654"/>
              <a:ext cx="471014" cy="3526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5" name="Google Shape;1325;p84"/>
          <p:cNvGrpSpPr/>
          <p:nvPr/>
        </p:nvGrpSpPr>
        <p:grpSpPr>
          <a:xfrm>
            <a:off x="6607672" y="7346840"/>
            <a:ext cx="983500" cy="983500"/>
            <a:chOff x="4957305" y="3666722"/>
            <a:chExt cx="590100" cy="590100"/>
          </a:xfrm>
        </p:grpSpPr>
        <p:pic>
          <p:nvPicPr>
            <p:cNvPr id="1326" name="Google Shape;1326;p84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993629" y="3871049"/>
              <a:ext cx="528980" cy="1748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84"/>
            <p:cNvSpPr/>
            <p:nvPr/>
          </p:nvSpPr>
          <p:spPr>
            <a:xfrm>
              <a:off x="4957305" y="3666722"/>
              <a:ext cx="590100" cy="590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8" name="Google Shape;1328;p84"/>
          <p:cNvGrpSpPr/>
          <p:nvPr/>
        </p:nvGrpSpPr>
        <p:grpSpPr>
          <a:xfrm>
            <a:off x="7505687" y="4380710"/>
            <a:ext cx="983500" cy="983500"/>
            <a:chOff x="5147409" y="3753737"/>
            <a:chExt cx="590100" cy="590100"/>
          </a:xfrm>
        </p:grpSpPr>
        <p:pic>
          <p:nvPicPr>
            <p:cNvPr id="1329" name="Google Shape;1329;p84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5207186" y="3906813"/>
              <a:ext cx="477599" cy="2626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84"/>
            <p:cNvSpPr/>
            <p:nvPr/>
          </p:nvSpPr>
          <p:spPr>
            <a:xfrm>
              <a:off x="5147409" y="3753737"/>
              <a:ext cx="590100" cy="590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2" name="Google Shape;1322;p84"/>
          <p:cNvSpPr/>
          <p:nvPr/>
        </p:nvSpPr>
        <p:spPr>
          <a:xfrm>
            <a:off x="10774353" y="3790332"/>
            <a:ext cx="983500" cy="9835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84"/>
          <p:cNvSpPr/>
          <p:nvPr/>
        </p:nvSpPr>
        <p:spPr>
          <a:xfrm>
            <a:off x="10774353" y="6161338"/>
            <a:ext cx="983500" cy="9835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84"/>
          <p:cNvSpPr/>
          <p:nvPr/>
        </p:nvSpPr>
        <p:spPr>
          <a:xfrm>
            <a:off x="10774353" y="4975835"/>
            <a:ext cx="983500" cy="9835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84"/>
          <p:cNvSpPr/>
          <p:nvPr/>
        </p:nvSpPr>
        <p:spPr>
          <a:xfrm>
            <a:off x="10774353" y="7346840"/>
            <a:ext cx="983500" cy="9835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84"/>
          <p:cNvSpPr/>
          <p:nvPr/>
        </p:nvSpPr>
        <p:spPr>
          <a:xfrm>
            <a:off x="9872750" y="5564380"/>
            <a:ext cx="983500" cy="9835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84"/>
          <p:cNvSpPr/>
          <p:nvPr/>
        </p:nvSpPr>
        <p:spPr>
          <a:xfrm>
            <a:off x="9872750" y="6757382"/>
            <a:ext cx="983500" cy="9835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84"/>
          <p:cNvSpPr/>
          <p:nvPr/>
        </p:nvSpPr>
        <p:spPr>
          <a:xfrm>
            <a:off x="9872750" y="4380710"/>
            <a:ext cx="983500" cy="9835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3" name="Google Shape;1333;p84"/>
          <p:cNvCxnSpPr>
            <a:stCxn id="1309" idx="6"/>
          </p:cNvCxnSpPr>
          <p:nvPr/>
        </p:nvCxnSpPr>
        <p:spPr>
          <a:xfrm rot="10800000" flipH="1">
            <a:off x="7591172" y="6617088"/>
            <a:ext cx="3230100" cy="360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34" name="Google Shape;1334;p84"/>
          <p:cNvCxnSpPr>
            <a:stCxn id="1327" idx="6"/>
            <a:endCxn id="1331" idx="2"/>
          </p:cNvCxnSpPr>
          <p:nvPr/>
        </p:nvCxnSpPr>
        <p:spPr>
          <a:xfrm>
            <a:off x="7591172" y="7838590"/>
            <a:ext cx="31833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35" name="Google Shape;1335;p84"/>
          <p:cNvCxnSpPr>
            <a:stCxn id="1312" idx="6"/>
            <a:endCxn id="1332" idx="2"/>
          </p:cNvCxnSpPr>
          <p:nvPr/>
        </p:nvCxnSpPr>
        <p:spPr>
          <a:xfrm>
            <a:off x="8489187" y="7249132"/>
            <a:ext cx="13836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36" name="Google Shape;1336;p84"/>
          <p:cNvCxnSpPr/>
          <p:nvPr/>
        </p:nvCxnSpPr>
        <p:spPr>
          <a:xfrm rot="10800000" flipH="1">
            <a:off x="1091720" y="4452802"/>
            <a:ext cx="4379000" cy="15500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85"/>
          <p:cNvSpPr txBox="1">
            <a:spLocks noGrp="1"/>
          </p:cNvSpPr>
          <p:nvPr>
            <p:ph type="title"/>
          </p:nvPr>
        </p:nvSpPr>
        <p:spPr>
          <a:xfrm>
            <a:off x="830580" y="1229044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</a:pPr>
            <a:r>
              <a:rPr lang="en-US"/>
              <a:t>NVIDIA TRITON INFERENCE SERVER</a:t>
            </a:r>
            <a:endParaRPr/>
          </a:p>
        </p:txBody>
      </p:sp>
      <p:sp>
        <p:nvSpPr>
          <p:cNvPr id="1342" name="Google Shape;1342;p85"/>
          <p:cNvSpPr txBox="1">
            <a:spLocks noGrp="1"/>
          </p:cNvSpPr>
          <p:nvPr>
            <p:ph type="body" idx="2"/>
          </p:nvPr>
        </p:nvSpPr>
        <p:spPr>
          <a:xfrm>
            <a:off x="830580" y="2099222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프로덕션 데이터센터 추론 서버</a:t>
            </a:r>
            <a:endParaRPr/>
          </a:p>
        </p:txBody>
      </p:sp>
      <p:sp>
        <p:nvSpPr>
          <p:cNvPr id="1343" name="Google Shape;1343;p85"/>
          <p:cNvSpPr/>
          <p:nvPr/>
        </p:nvSpPr>
        <p:spPr>
          <a:xfrm>
            <a:off x="11026273" y="2666988"/>
            <a:ext cx="6542500" cy="60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noAutofit/>
          </a:bodyPr>
          <a:lstStyle/>
          <a:p>
            <a:pPr marL="0" marR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GPU의 실시간 추론 성능 극대화</a:t>
            </a:r>
            <a:endParaRPr sz="3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노드당 GPU별로 여러 개의 모델을 빠르게 배포 및 관리  </a:t>
            </a:r>
            <a:endParaRPr sz="3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이종 GPU 및 멀티 GPU 노드로 손쉽게 확장</a:t>
            </a:r>
            <a:endParaRPr sz="3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지연 시간 및 상태 지표를 통해 오케스트레이션 시스템 및 자동 스케일러와 통합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이제 철저한 맞춤화 및 통합을 위한 오픈소스</a:t>
            </a:r>
            <a:endParaRPr sz="3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44" name="Google Shape;134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4661" y="5742838"/>
            <a:ext cx="830698" cy="830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5" name="Google Shape;1345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0410" y="6573537"/>
            <a:ext cx="939200" cy="93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p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311" y="7512736"/>
            <a:ext cx="1145402" cy="114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4661" y="4767438"/>
            <a:ext cx="830698" cy="8306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8" name="Google Shape;1348;p85"/>
          <p:cNvCxnSpPr/>
          <p:nvPr/>
        </p:nvCxnSpPr>
        <p:spPr>
          <a:xfrm>
            <a:off x="1559460" y="4995713"/>
            <a:ext cx="1817500" cy="136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49" name="Google Shape;1349;p85"/>
          <p:cNvCxnSpPr/>
          <p:nvPr/>
        </p:nvCxnSpPr>
        <p:spPr>
          <a:xfrm>
            <a:off x="1612860" y="6109912"/>
            <a:ext cx="1764000" cy="25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50" name="Google Shape;1350;p85"/>
          <p:cNvCxnSpPr/>
          <p:nvPr/>
        </p:nvCxnSpPr>
        <p:spPr>
          <a:xfrm rot="10800000" flipH="1">
            <a:off x="1582860" y="6362412"/>
            <a:ext cx="1794000" cy="63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51" name="Google Shape;1351;p85"/>
          <p:cNvCxnSpPr/>
          <p:nvPr/>
        </p:nvCxnSpPr>
        <p:spPr>
          <a:xfrm rot="10800000" flipH="1">
            <a:off x="1683660" y="6362712"/>
            <a:ext cx="1693000" cy="172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352" name="Google Shape;1352;p85" descr="Image result for video camera icon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1363" y="3828238"/>
            <a:ext cx="818247" cy="8182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3" name="Google Shape;1353;p85"/>
          <p:cNvCxnSpPr>
            <a:stCxn id="1352" idx="3"/>
          </p:cNvCxnSpPr>
          <p:nvPr/>
        </p:nvCxnSpPr>
        <p:spPr>
          <a:xfrm>
            <a:off x="1719610" y="4237361"/>
            <a:ext cx="1657500" cy="214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354" name="Google Shape;1354;p85" descr="Image result for cloud icon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53214" y="5745379"/>
            <a:ext cx="1292715" cy="9848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5" name="Google Shape;1355;p85"/>
          <p:cNvCxnSpPr/>
          <p:nvPr/>
        </p:nvCxnSpPr>
        <p:spPr>
          <a:xfrm>
            <a:off x="4601402" y="6247290"/>
            <a:ext cx="507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6" name="Google Shape;1356;p85"/>
          <p:cNvSpPr txBox="1"/>
          <p:nvPr/>
        </p:nvSpPr>
        <p:spPr>
          <a:xfrm rot="-5400000">
            <a:off x="7339247" y="3838238"/>
            <a:ext cx="1392000" cy="11465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Triton Inference Server</a:t>
            </a:r>
            <a:endParaRPr sz="16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85"/>
          <p:cNvSpPr txBox="1"/>
          <p:nvPr/>
        </p:nvSpPr>
        <p:spPr>
          <a:xfrm>
            <a:off x="8608632" y="3715322"/>
            <a:ext cx="1296500" cy="6970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NVIDIA T4</a:t>
            </a:r>
            <a:endParaRPr sz="16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85"/>
          <p:cNvSpPr txBox="1"/>
          <p:nvPr/>
        </p:nvSpPr>
        <p:spPr>
          <a:xfrm>
            <a:off x="8608632" y="4411300"/>
            <a:ext cx="1296500" cy="6970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NVIDIA T4</a:t>
            </a:r>
            <a:endParaRPr sz="16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85"/>
          <p:cNvSpPr txBox="1"/>
          <p:nvPr/>
        </p:nvSpPr>
        <p:spPr>
          <a:xfrm rot="-5400000">
            <a:off x="7339247" y="5522777"/>
            <a:ext cx="1392000" cy="11465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Triton Inference Server</a:t>
            </a:r>
            <a:endParaRPr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85"/>
          <p:cNvSpPr txBox="1"/>
          <p:nvPr/>
        </p:nvSpPr>
        <p:spPr>
          <a:xfrm>
            <a:off x="8608632" y="5399862"/>
            <a:ext cx="1296500" cy="6970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Tesla V100</a:t>
            </a:r>
            <a:endParaRPr sz="16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85"/>
          <p:cNvSpPr txBox="1"/>
          <p:nvPr/>
        </p:nvSpPr>
        <p:spPr>
          <a:xfrm>
            <a:off x="8608632" y="6095840"/>
            <a:ext cx="1296500" cy="6970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Tesla V100</a:t>
            </a:r>
            <a:endParaRPr sz="16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85"/>
          <p:cNvSpPr txBox="1"/>
          <p:nvPr/>
        </p:nvSpPr>
        <p:spPr>
          <a:xfrm rot="-5400000">
            <a:off x="7339250" y="7280215"/>
            <a:ext cx="1392000" cy="11465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Triton Inference Server</a:t>
            </a:r>
            <a:endParaRPr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85"/>
          <p:cNvSpPr txBox="1"/>
          <p:nvPr/>
        </p:nvSpPr>
        <p:spPr>
          <a:xfrm>
            <a:off x="8608633" y="7157298"/>
            <a:ext cx="1296500" cy="6955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Tesla P4</a:t>
            </a:r>
            <a:endParaRPr sz="16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85"/>
          <p:cNvSpPr txBox="1"/>
          <p:nvPr/>
        </p:nvSpPr>
        <p:spPr>
          <a:xfrm>
            <a:off x="8608633" y="7853277"/>
            <a:ext cx="1296500" cy="6970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Tesla P4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5" name="Google Shape;1365;p85" descr="https://www.linode.com/media/images/common/nodebalancer_icon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8635" y="5337279"/>
            <a:ext cx="2184027" cy="18200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6" name="Google Shape;1366;p85"/>
          <p:cNvCxnSpPr>
            <a:stCxn id="1356" idx="0"/>
          </p:cNvCxnSpPr>
          <p:nvPr/>
        </p:nvCxnSpPr>
        <p:spPr>
          <a:xfrm flipH="1">
            <a:off x="6235597" y="4411488"/>
            <a:ext cx="1226400" cy="129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7" name="Google Shape;1367;p85"/>
          <p:cNvCxnSpPr>
            <a:stCxn id="1359" idx="0"/>
          </p:cNvCxnSpPr>
          <p:nvPr/>
        </p:nvCxnSpPr>
        <p:spPr>
          <a:xfrm flipH="1">
            <a:off x="6499897" y="6096027"/>
            <a:ext cx="962100" cy="20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8" name="Google Shape;1368;p85"/>
          <p:cNvCxnSpPr>
            <a:stCxn id="1362" idx="0"/>
          </p:cNvCxnSpPr>
          <p:nvPr/>
        </p:nvCxnSpPr>
        <p:spPr>
          <a:xfrm rot="10800000">
            <a:off x="6236500" y="6801965"/>
            <a:ext cx="1225500" cy="105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86"/>
          <p:cNvSpPr txBox="1">
            <a:spLocks noGrp="1"/>
          </p:cNvSpPr>
          <p:nvPr>
            <p:ph type="body" idx="1"/>
          </p:nvPr>
        </p:nvSpPr>
        <p:spPr>
          <a:xfrm>
            <a:off x="861250" y="2549291"/>
            <a:ext cx="5859000" cy="729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667" b="1">
                <a:solidFill>
                  <a:schemeClr val="lt2"/>
                </a:solidFill>
              </a:rPr>
              <a:t>동시 모델 실행</a:t>
            </a:r>
            <a:br>
              <a:rPr lang="en-US" sz="2333"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다중 모델(또는 동일한 모델의 여러 인스턴스)을 GPU에서 동시에 실행할 수 있음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SzPts val="1800"/>
              <a:buNone/>
            </a:pPr>
            <a:r>
              <a:rPr lang="en-US" sz="2667" b="1">
                <a:solidFill>
                  <a:schemeClr val="lt2"/>
                </a:solidFill>
              </a:rPr>
              <a:t>CPU 모델 추론 실행</a:t>
            </a:r>
            <a:endParaRPr sz="2667" b="1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프레임워크 네이티브 모델이 CPU에서 추론 요청을 실행할 수 있음</a:t>
            </a:r>
            <a:endParaRPr sz="2667" b="1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SzPts val="1800"/>
              <a:buNone/>
            </a:pPr>
            <a:r>
              <a:rPr lang="en-US" sz="2667" b="1">
                <a:solidFill>
                  <a:schemeClr val="lt2"/>
                </a:solidFill>
              </a:rPr>
              <a:t>지표</a:t>
            </a:r>
            <a:endParaRPr sz="2667" b="1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활용, 수, 메모리 및 지연 시간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b="1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667" b="1">
                <a:solidFill>
                  <a:schemeClr val="lt2"/>
                </a:solidFill>
              </a:rPr>
              <a:t>맞춤형 백엔드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맞춤형 백엔드를 통해 사용자가 공유 라이브러리를 통해 실행 엔진을 자체 구현함으로써 유연성을 높일 수 있습니다.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667" b="1">
                <a:solidFill>
                  <a:schemeClr val="lt2"/>
                </a:solidFill>
              </a:rPr>
              <a:t>모델 앙상블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하나 이상의 모델의 파이프라인과 그러한 모델 간의 입력 및 출력 텐서 연결(맞춤형 백엔드와 함께 사용할 수 있음)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762015" lvl="0" indent="-381008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br>
              <a:rPr lang="en-US" sz="2000"/>
            </a:br>
            <a:endParaRPr sz="2000"/>
          </a:p>
        </p:txBody>
      </p:sp>
      <p:sp>
        <p:nvSpPr>
          <p:cNvPr id="1374" name="Google Shape;1374;p86"/>
          <p:cNvSpPr txBox="1"/>
          <p:nvPr/>
        </p:nvSpPr>
        <p:spPr>
          <a:xfrm>
            <a:off x="6967667" y="2549292"/>
            <a:ext cx="5859000" cy="7298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동적 배치</a:t>
            </a:r>
            <a:b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인퍼런스 서버가 추론 요청을 1) 모델 허용 최대값으로, 또는 2) 사용자 정의 지연 시간 SLA로 배치 처리할 수 있음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2667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다중 모델 형식 지원</a:t>
            </a:r>
            <a:br>
              <a:rPr lang="en-US" sz="2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PyTorch JIT(.pt)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TensorFlow GraphDef/SavedModel</a:t>
            </a:r>
            <a:b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TensorFlow 및 TensorRT GraphDef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ONNX 그래프(ONNX 런타임)</a:t>
            </a:r>
            <a:b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TensorRT Plans</a:t>
            </a:r>
            <a:b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Caffe2 NetDef(ONNX 가져오기 경로)</a:t>
            </a:r>
            <a:endParaRPr/>
          </a:p>
          <a:p>
            <a:pPr marL="0" marR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2667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CMake 빌드</a:t>
            </a:r>
            <a:br>
              <a:rPr lang="en-US" sz="2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소</a:t>
            </a: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스에서 추론 서버를 구축하여 여러 OS에 보다 효과적으로 이식 가능하게 만들고 Docker에 대한 빌드 종속성 제거</a:t>
            </a:r>
            <a:endParaRPr sz="2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2667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스트리밍 API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오디오 스트리밍 입력에 대한 기본 지원(예: 음성 인식)</a:t>
            </a:r>
            <a:endParaRPr sz="2667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sz="2667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375" name="Google Shape;1375;p86"/>
          <p:cNvGrpSpPr/>
          <p:nvPr/>
        </p:nvGrpSpPr>
        <p:grpSpPr>
          <a:xfrm>
            <a:off x="13357267" y="2497919"/>
            <a:ext cx="4515097" cy="6789415"/>
            <a:chOff x="8014360" y="1481802"/>
            <a:chExt cx="2709058" cy="4073649"/>
          </a:xfrm>
        </p:grpSpPr>
        <p:pic>
          <p:nvPicPr>
            <p:cNvPr id="1376" name="Google Shape;1376;p8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63892" y="1546532"/>
              <a:ext cx="863600" cy="72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7" name="Google Shape;1377;p8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304019" y="1481802"/>
              <a:ext cx="813409" cy="85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8" name="Google Shape;1378;p8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014360" y="3757549"/>
              <a:ext cx="2709058" cy="17979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9" name="Google Shape;1379;p8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06861" y="2586369"/>
              <a:ext cx="1524056" cy="4463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0" name="Google Shape;1380;p86"/>
          <p:cNvSpPr txBox="1">
            <a:spLocks noGrp="1"/>
          </p:cNvSpPr>
          <p:nvPr>
            <p:ph type="title"/>
          </p:nvPr>
        </p:nvSpPr>
        <p:spPr>
          <a:xfrm>
            <a:off x="830580" y="1229044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</a:pPr>
            <a:r>
              <a:rPr lang="en-US"/>
              <a:t>특징</a:t>
            </a:r>
            <a:endParaRPr/>
          </a:p>
        </p:txBody>
      </p:sp>
      <p:pic>
        <p:nvPicPr>
          <p:cNvPr id="1381" name="Google Shape;1381;p86" descr="Image result for pytorch logo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274414" y="4993691"/>
            <a:ext cx="2680803" cy="1015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87"/>
          <p:cNvSpPr txBox="1">
            <a:spLocks noGrp="1"/>
          </p:cNvSpPr>
          <p:nvPr>
            <p:ph type="title"/>
          </p:nvPr>
        </p:nvSpPr>
        <p:spPr>
          <a:xfrm>
            <a:off x="830580" y="1229044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</a:pPr>
            <a:r>
              <a:rPr lang="en-US"/>
              <a:t>동적 배치 스케줄러</a:t>
            </a:r>
            <a:endParaRPr/>
          </a:p>
        </p:txBody>
      </p:sp>
      <p:grpSp>
        <p:nvGrpSpPr>
          <p:cNvPr id="1388" name="Google Shape;1388;p87"/>
          <p:cNvGrpSpPr/>
          <p:nvPr/>
        </p:nvGrpSpPr>
        <p:grpSpPr>
          <a:xfrm>
            <a:off x="7580964" y="3952002"/>
            <a:ext cx="8396713" cy="4548153"/>
            <a:chOff x="2772450" y="3162754"/>
            <a:chExt cx="4944535" cy="2728892"/>
          </a:xfrm>
        </p:grpSpPr>
        <p:sp>
          <p:nvSpPr>
            <p:cNvPr id="1389" name="Google Shape;1389;p87"/>
            <p:cNvSpPr/>
            <p:nvPr/>
          </p:nvSpPr>
          <p:spPr>
            <a:xfrm>
              <a:off x="4862289" y="3162754"/>
              <a:ext cx="2854696" cy="2728892"/>
            </a:xfrm>
            <a:prstGeom prst="rect">
              <a:avLst/>
            </a:prstGeom>
            <a:solidFill>
              <a:srgbClr val="76B900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프레임워크 백엔드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87"/>
            <p:cNvSpPr/>
            <p:nvPr/>
          </p:nvSpPr>
          <p:spPr>
            <a:xfrm>
              <a:off x="2772450" y="4329866"/>
              <a:ext cx="1520405" cy="759107"/>
            </a:xfrm>
            <a:prstGeom prst="rect">
              <a:avLst/>
            </a:prstGeom>
            <a:solidFill>
              <a:srgbClr val="B3B3B3"/>
            </a:solidFill>
            <a:ln w="254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동적 배처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87"/>
            <p:cNvSpPr/>
            <p:nvPr/>
          </p:nvSpPr>
          <p:spPr>
            <a:xfrm>
              <a:off x="5361845" y="3685754"/>
              <a:ext cx="2251233" cy="2100647"/>
            </a:xfrm>
            <a:prstGeom prst="rect">
              <a:avLst/>
            </a:prstGeom>
            <a:solidFill>
              <a:srgbClr val="B3B3B3"/>
            </a:solidFill>
            <a:ln w="254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런타임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2" name="Google Shape;1392;p87"/>
            <p:cNvCxnSpPr>
              <a:stCxn id="1390" idx="3"/>
            </p:cNvCxnSpPr>
            <p:nvPr/>
          </p:nvCxnSpPr>
          <p:spPr>
            <a:xfrm>
              <a:off x="4292855" y="4709420"/>
              <a:ext cx="533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1393" name="Google Shape;1393;p87"/>
            <p:cNvGrpSpPr/>
            <p:nvPr/>
          </p:nvGrpSpPr>
          <p:grpSpPr>
            <a:xfrm>
              <a:off x="5446705" y="4177345"/>
              <a:ext cx="2086705" cy="695985"/>
              <a:chOff x="3503605" y="4125390"/>
              <a:chExt cx="2086705" cy="695985"/>
            </a:xfrm>
          </p:grpSpPr>
          <p:sp>
            <p:nvSpPr>
              <p:cNvPr id="1394" name="Google Shape;1394;p87"/>
              <p:cNvSpPr/>
              <p:nvPr/>
            </p:nvSpPr>
            <p:spPr>
              <a:xfrm>
                <a:off x="3503605" y="4125390"/>
                <a:ext cx="2086705" cy="695985"/>
              </a:xfrm>
              <a:prstGeom prst="rect">
                <a:avLst/>
              </a:prstGeom>
              <a:solidFill>
                <a:srgbClr val="6E6E6E"/>
              </a:solidFill>
              <a:ln w="2540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2375" tIns="76150" rIns="152375" bIns="76150" anchor="ctr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맥락</a:t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95" name="Google Shape;1395;p87" descr="Repeat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108156" y="4317519"/>
                <a:ext cx="311726" cy="3117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96" name="Google Shape;1396;p87"/>
            <p:cNvGrpSpPr/>
            <p:nvPr/>
          </p:nvGrpSpPr>
          <p:grpSpPr>
            <a:xfrm>
              <a:off x="5446705" y="4951567"/>
              <a:ext cx="2086705" cy="695985"/>
              <a:chOff x="3503605" y="4899612"/>
              <a:chExt cx="2086705" cy="695985"/>
            </a:xfrm>
          </p:grpSpPr>
          <p:sp>
            <p:nvSpPr>
              <p:cNvPr id="1397" name="Google Shape;1397;p87"/>
              <p:cNvSpPr/>
              <p:nvPr/>
            </p:nvSpPr>
            <p:spPr>
              <a:xfrm>
                <a:off x="3503605" y="4899612"/>
                <a:ext cx="2086705" cy="695985"/>
              </a:xfrm>
              <a:prstGeom prst="rect">
                <a:avLst/>
              </a:prstGeom>
              <a:solidFill>
                <a:srgbClr val="6E6E6E"/>
              </a:solidFill>
              <a:ln w="2540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2375" tIns="76150" rIns="152375" bIns="76150" anchor="ctr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맥락</a:t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98" name="Google Shape;1398;p87" descr="Repeat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108156" y="5091741"/>
                <a:ext cx="311726" cy="3117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1399" name="Google Shape;1399;p87"/>
          <p:cNvCxnSpPr>
            <a:endCxn id="1390" idx="1"/>
          </p:cNvCxnSpPr>
          <p:nvPr/>
        </p:nvCxnSpPr>
        <p:spPr>
          <a:xfrm>
            <a:off x="6293064" y="6529777"/>
            <a:ext cx="128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00" name="Google Shape;1400;p87"/>
          <p:cNvSpPr/>
          <p:nvPr/>
        </p:nvSpPr>
        <p:spPr>
          <a:xfrm>
            <a:off x="4629841" y="6411750"/>
            <a:ext cx="629005" cy="287697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87"/>
          <p:cNvSpPr/>
          <p:nvPr/>
        </p:nvSpPr>
        <p:spPr>
          <a:xfrm>
            <a:off x="3739951" y="6411750"/>
            <a:ext cx="629005" cy="287697"/>
          </a:xfrm>
          <a:prstGeom prst="rect">
            <a:avLst/>
          </a:prstGeom>
          <a:solidFill>
            <a:srgbClr val="4A4A4A"/>
          </a:solidFill>
          <a:ln w="12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87"/>
          <p:cNvSpPr/>
          <p:nvPr/>
        </p:nvSpPr>
        <p:spPr>
          <a:xfrm>
            <a:off x="4629841" y="6699447"/>
            <a:ext cx="629005" cy="287697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87"/>
          <p:cNvSpPr/>
          <p:nvPr/>
        </p:nvSpPr>
        <p:spPr>
          <a:xfrm>
            <a:off x="5519731" y="6411750"/>
            <a:ext cx="629005" cy="287697"/>
          </a:xfrm>
          <a:prstGeom prst="rect">
            <a:avLst/>
          </a:prstGeom>
          <a:solidFill>
            <a:srgbClr val="4A4A4A"/>
          </a:solidFill>
          <a:ln w="12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87"/>
          <p:cNvSpPr/>
          <p:nvPr/>
        </p:nvSpPr>
        <p:spPr>
          <a:xfrm>
            <a:off x="2850059" y="6411750"/>
            <a:ext cx="629005" cy="287697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87"/>
          <p:cNvSpPr/>
          <p:nvPr/>
        </p:nvSpPr>
        <p:spPr>
          <a:xfrm>
            <a:off x="2850058" y="6699447"/>
            <a:ext cx="629005" cy="287697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87"/>
          <p:cNvSpPr/>
          <p:nvPr/>
        </p:nvSpPr>
        <p:spPr>
          <a:xfrm>
            <a:off x="2850056" y="6987143"/>
            <a:ext cx="629005" cy="287697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87"/>
          <p:cNvSpPr/>
          <p:nvPr/>
        </p:nvSpPr>
        <p:spPr>
          <a:xfrm>
            <a:off x="2850054" y="7274840"/>
            <a:ext cx="629005" cy="287697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87"/>
          <p:cNvSpPr txBox="1"/>
          <p:nvPr/>
        </p:nvSpPr>
        <p:spPr>
          <a:xfrm>
            <a:off x="4594531" y="5032537"/>
            <a:ext cx="2473115" cy="47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배치-1 요청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87"/>
          <p:cNvSpPr txBox="1"/>
          <p:nvPr/>
        </p:nvSpPr>
        <p:spPr>
          <a:xfrm>
            <a:off x="1506473" y="5381062"/>
            <a:ext cx="2473115" cy="47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배치-4 요청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0" name="Google Shape;1410;p87"/>
          <p:cNvCxnSpPr>
            <a:stCxn id="1408" idx="2"/>
          </p:cNvCxnSpPr>
          <p:nvPr/>
        </p:nvCxnSpPr>
        <p:spPr>
          <a:xfrm>
            <a:off x="5831088" y="5509460"/>
            <a:ext cx="0" cy="7665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1" name="Google Shape;1411;p87"/>
          <p:cNvCxnSpPr>
            <a:stCxn id="1409" idx="2"/>
          </p:cNvCxnSpPr>
          <p:nvPr/>
        </p:nvCxnSpPr>
        <p:spPr>
          <a:xfrm>
            <a:off x="2743031" y="5857985"/>
            <a:ext cx="272400" cy="417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2" name="Google Shape;1412;p87"/>
          <p:cNvSpPr/>
          <p:nvPr/>
        </p:nvSpPr>
        <p:spPr>
          <a:xfrm>
            <a:off x="7067645" y="2940243"/>
            <a:ext cx="9713883" cy="6388478"/>
          </a:xfrm>
          <a:prstGeom prst="rect">
            <a:avLst/>
          </a:prstGeom>
          <a:noFill/>
          <a:ln w="254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Triton Inference Server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88"/>
          <p:cNvSpPr txBox="1">
            <a:spLocks noGrp="1"/>
          </p:cNvSpPr>
          <p:nvPr>
            <p:ph type="title"/>
          </p:nvPr>
        </p:nvSpPr>
        <p:spPr>
          <a:xfrm>
            <a:off x="830580" y="1229044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</a:pPr>
            <a:r>
              <a:rPr lang="en-US"/>
              <a:t>동적 배치 스케줄러</a:t>
            </a:r>
            <a:endParaRPr/>
          </a:p>
        </p:txBody>
      </p:sp>
      <p:grpSp>
        <p:nvGrpSpPr>
          <p:cNvPr id="1419" name="Google Shape;1419;p88"/>
          <p:cNvGrpSpPr/>
          <p:nvPr/>
        </p:nvGrpSpPr>
        <p:grpSpPr>
          <a:xfrm>
            <a:off x="7388303" y="3452983"/>
            <a:ext cx="8726125" cy="4879035"/>
            <a:chOff x="2656777" y="3254015"/>
            <a:chExt cx="5235675" cy="2927421"/>
          </a:xfrm>
        </p:grpSpPr>
        <p:sp>
          <p:nvSpPr>
            <p:cNvPr id="1420" name="Google Shape;1420;p88"/>
            <p:cNvSpPr/>
            <p:nvPr/>
          </p:nvSpPr>
          <p:spPr>
            <a:xfrm>
              <a:off x="4727414" y="3254015"/>
              <a:ext cx="3165038" cy="2927421"/>
            </a:xfrm>
            <a:prstGeom prst="rect">
              <a:avLst/>
            </a:prstGeom>
            <a:solidFill>
              <a:srgbClr val="76B900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ModelY 백엔드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88"/>
            <p:cNvSpPr/>
            <p:nvPr/>
          </p:nvSpPr>
          <p:spPr>
            <a:xfrm>
              <a:off x="2656777" y="4450822"/>
              <a:ext cx="1520405" cy="759107"/>
            </a:xfrm>
            <a:prstGeom prst="rect">
              <a:avLst/>
            </a:prstGeom>
            <a:solidFill>
              <a:srgbClr val="B3B3B3"/>
            </a:solidFill>
            <a:ln w="254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동적 배처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88"/>
            <p:cNvSpPr/>
            <p:nvPr/>
          </p:nvSpPr>
          <p:spPr>
            <a:xfrm>
              <a:off x="5361845" y="3685754"/>
              <a:ext cx="2251233" cy="2100647"/>
            </a:xfrm>
            <a:prstGeom prst="rect">
              <a:avLst/>
            </a:prstGeom>
            <a:solidFill>
              <a:srgbClr val="B3B3B3"/>
            </a:solidFill>
            <a:ln w="254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런타임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3" name="Google Shape;1423;p88"/>
            <p:cNvCxnSpPr>
              <a:stCxn id="1421" idx="3"/>
            </p:cNvCxnSpPr>
            <p:nvPr/>
          </p:nvCxnSpPr>
          <p:spPr>
            <a:xfrm>
              <a:off x="4177182" y="4830375"/>
              <a:ext cx="5340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1424" name="Google Shape;1424;p88"/>
            <p:cNvGrpSpPr/>
            <p:nvPr/>
          </p:nvGrpSpPr>
          <p:grpSpPr>
            <a:xfrm>
              <a:off x="5446705" y="4177345"/>
              <a:ext cx="2086705" cy="695985"/>
              <a:chOff x="3503605" y="4125390"/>
              <a:chExt cx="2086705" cy="695985"/>
            </a:xfrm>
          </p:grpSpPr>
          <p:sp>
            <p:nvSpPr>
              <p:cNvPr id="1425" name="Google Shape;1425;p88"/>
              <p:cNvSpPr/>
              <p:nvPr/>
            </p:nvSpPr>
            <p:spPr>
              <a:xfrm>
                <a:off x="3503605" y="4125390"/>
                <a:ext cx="2086705" cy="695985"/>
              </a:xfrm>
              <a:prstGeom prst="rect">
                <a:avLst/>
              </a:prstGeom>
              <a:solidFill>
                <a:srgbClr val="6E6E6E"/>
              </a:solidFill>
              <a:ln w="2540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2375" tIns="76150" rIns="152375" bIns="76150" anchor="ctr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맥락</a:t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26" name="Google Shape;1426;p88" descr="Repeat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108156" y="4317519"/>
                <a:ext cx="311726" cy="3117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27" name="Google Shape;1427;p88"/>
            <p:cNvGrpSpPr/>
            <p:nvPr/>
          </p:nvGrpSpPr>
          <p:grpSpPr>
            <a:xfrm>
              <a:off x="5446705" y="4951567"/>
              <a:ext cx="2086705" cy="695985"/>
              <a:chOff x="3503605" y="4899612"/>
              <a:chExt cx="2086705" cy="695985"/>
            </a:xfrm>
          </p:grpSpPr>
          <p:sp>
            <p:nvSpPr>
              <p:cNvPr id="1428" name="Google Shape;1428;p88"/>
              <p:cNvSpPr/>
              <p:nvPr/>
            </p:nvSpPr>
            <p:spPr>
              <a:xfrm>
                <a:off x="3503605" y="4899612"/>
                <a:ext cx="2086705" cy="695985"/>
              </a:xfrm>
              <a:prstGeom prst="rect">
                <a:avLst/>
              </a:prstGeom>
              <a:solidFill>
                <a:srgbClr val="6E6E6E"/>
              </a:solidFill>
              <a:ln w="2540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2375" tIns="76150" rIns="152375" bIns="76150" anchor="ctr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맥락</a:t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29" name="Google Shape;1429;p88" descr="Repeat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108156" y="5091741"/>
                <a:ext cx="311726" cy="3117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430" name="Google Shape;1430;p88"/>
          <p:cNvSpPr/>
          <p:nvPr/>
        </p:nvSpPr>
        <p:spPr>
          <a:xfrm>
            <a:off x="11598468" y="5887473"/>
            <a:ext cx="629005" cy="287697"/>
          </a:xfrm>
          <a:prstGeom prst="rect">
            <a:avLst/>
          </a:prstGeom>
          <a:solidFill>
            <a:srgbClr val="4A4A4A"/>
          </a:solidFill>
          <a:ln w="12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1" name="Google Shape;1431;p88"/>
          <p:cNvGrpSpPr/>
          <p:nvPr/>
        </p:nvGrpSpPr>
        <p:grpSpPr>
          <a:xfrm>
            <a:off x="11598468" y="5312080"/>
            <a:ext cx="629005" cy="575393"/>
            <a:chOff x="2777904" y="3696048"/>
            <a:chExt cx="377403" cy="345236"/>
          </a:xfrm>
        </p:grpSpPr>
        <p:sp>
          <p:nvSpPr>
            <p:cNvPr id="1432" name="Google Shape;1432;p88"/>
            <p:cNvSpPr/>
            <p:nvPr/>
          </p:nvSpPr>
          <p:spPr>
            <a:xfrm>
              <a:off x="2777904" y="3696048"/>
              <a:ext cx="377403" cy="172618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88"/>
            <p:cNvSpPr/>
            <p:nvPr/>
          </p:nvSpPr>
          <p:spPr>
            <a:xfrm>
              <a:off x="2777904" y="3868666"/>
              <a:ext cx="377403" cy="172618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4" name="Google Shape;1434;p88"/>
          <p:cNvSpPr/>
          <p:nvPr/>
        </p:nvSpPr>
        <p:spPr>
          <a:xfrm>
            <a:off x="11598468" y="5042027"/>
            <a:ext cx="629005" cy="287697"/>
          </a:xfrm>
          <a:prstGeom prst="rect">
            <a:avLst/>
          </a:prstGeom>
          <a:solidFill>
            <a:srgbClr val="4A4A4A"/>
          </a:solidFill>
          <a:ln w="12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5" name="Google Shape;1435;p88"/>
          <p:cNvGrpSpPr/>
          <p:nvPr/>
        </p:nvGrpSpPr>
        <p:grpSpPr>
          <a:xfrm>
            <a:off x="11598460" y="6286828"/>
            <a:ext cx="629010" cy="1150787"/>
            <a:chOff x="1710032" y="3696048"/>
            <a:chExt cx="377406" cy="690472"/>
          </a:xfrm>
        </p:grpSpPr>
        <p:sp>
          <p:nvSpPr>
            <p:cNvPr id="1436" name="Google Shape;1436;p88"/>
            <p:cNvSpPr/>
            <p:nvPr/>
          </p:nvSpPr>
          <p:spPr>
            <a:xfrm>
              <a:off x="1710035" y="3696048"/>
              <a:ext cx="377403" cy="172618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88"/>
            <p:cNvSpPr/>
            <p:nvPr/>
          </p:nvSpPr>
          <p:spPr>
            <a:xfrm>
              <a:off x="1710034" y="3868666"/>
              <a:ext cx="377403" cy="172618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88"/>
            <p:cNvSpPr/>
            <p:nvPr/>
          </p:nvSpPr>
          <p:spPr>
            <a:xfrm>
              <a:off x="1710033" y="4041284"/>
              <a:ext cx="377403" cy="172618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88"/>
            <p:cNvSpPr/>
            <p:nvPr/>
          </p:nvSpPr>
          <p:spPr>
            <a:xfrm>
              <a:off x="1710032" y="4213902"/>
              <a:ext cx="377403" cy="172618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2375" tIns="76150" rIns="152375" bIns="76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0" name="Google Shape;1440;p88"/>
          <p:cNvSpPr txBox="1">
            <a:spLocks noGrp="1"/>
          </p:cNvSpPr>
          <p:nvPr>
            <p:ph type="body" idx="1"/>
          </p:nvPr>
        </p:nvSpPr>
        <p:spPr>
          <a:xfrm>
            <a:off x="861250" y="7326407"/>
            <a:ext cx="6178770" cy="297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기본 배치 크기와 대기 시간은 구성 옵션입니다.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1800"/>
              <a:buNone/>
            </a:pPr>
            <a:r>
              <a:rPr lang="en-US"/>
              <a:t>이 예에서는 4개가 최적의 활용률을 제공한다고 가정합니다.</a:t>
            </a:r>
            <a:endParaRPr/>
          </a:p>
        </p:txBody>
      </p:sp>
      <p:sp>
        <p:nvSpPr>
          <p:cNvPr id="1441" name="Google Shape;1441;p88"/>
          <p:cNvSpPr txBox="1"/>
          <p:nvPr/>
        </p:nvSpPr>
        <p:spPr>
          <a:xfrm>
            <a:off x="1269873" y="3453113"/>
            <a:ext cx="6178768" cy="1538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33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요청을 단일 "배치"로 그룹화하면 전체 GPU 처리량이 증가함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2" name="Google Shape;1442;p88"/>
          <p:cNvCxnSpPr/>
          <p:nvPr/>
        </p:nvCxnSpPr>
        <p:spPr>
          <a:xfrm>
            <a:off x="6689536" y="4746550"/>
            <a:ext cx="4698778" cy="396950"/>
          </a:xfrm>
          <a:prstGeom prst="straightConnector1">
            <a:avLst/>
          </a:prstGeom>
          <a:noFill/>
          <a:ln w="63500" cap="flat" cmpd="sng">
            <a:solidFill>
              <a:schemeClr val="accent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43" name="Google Shape;1443;p88"/>
          <p:cNvSpPr/>
          <p:nvPr/>
        </p:nvSpPr>
        <p:spPr>
          <a:xfrm>
            <a:off x="7067645" y="2940243"/>
            <a:ext cx="9713883" cy="6388478"/>
          </a:xfrm>
          <a:prstGeom prst="rect">
            <a:avLst/>
          </a:prstGeom>
          <a:noFill/>
          <a:ln w="254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Triton Inference Server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89"/>
          <p:cNvSpPr txBox="1">
            <a:spLocks noGrp="1"/>
          </p:cNvSpPr>
          <p:nvPr>
            <p:ph type="title"/>
          </p:nvPr>
        </p:nvSpPr>
        <p:spPr>
          <a:xfrm>
            <a:off x="830580" y="1102043"/>
            <a:ext cx="16626999" cy="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</a:pPr>
            <a:r>
              <a:rPr lang="en-US"/>
              <a:t>동적 배치</a:t>
            </a:r>
            <a:endParaRPr/>
          </a:p>
        </p:txBody>
      </p:sp>
      <p:sp>
        <p:nvSpPr>
          <p:cNvPr id="1449" name="Google Shape;1449;p89"/>
          <p:cNvSpPr txBox="1">
            <a:spLocks noGrp="1"/>
          </p:cNvSpPr>
          <p:nvPr>
            <p:ph type="body" idx="1"/>
          </p:nvPr>
        </p:nvSpPr>
        <p:spPr>
          <a:xfrm>
            <a:off x="861250" y="3505058"/>
            <a:ext cx="6390550" cy="61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>
                <a:solidFill>
                  <a:schemeClr val="lt2"/>
                </a:solidFill>
              </a:rPr>
              <a:t>Triton Inference Server</a:t>
            </a:r>
            <a:r>
              <a:rPr lang="en-US"/>
              <a:t>가 최적의 성능을 위해 고객이 정의한 지표를 기반으로 추론 요청을 그룹화함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lang="en-US"/>
              <a:t>고객은 1) 배치 크기(필수)와 2) 지연 시간 요구 사항(옵션)을 정의함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예: 동적 배치 없음(배치 크기 1 및 8) 대 동적 배치</a:t>
            </a:r>
            <a:endParaRPr/>
          </a:p>
          <a:p>
            <a:pPr marL="762015" lvl="0" indent="-381008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450" name="Google Shape;1450;p89"/>
          <p:cNvSpPr txBox="1">
            <a:spLocks noGrp="1"/>
          </p:cNvSpPr>
          <p:nvPr>
            <p:ph type="body" idx="2"/>
          </p:nvPr>
        </p:nvSpPr>
        <p:spPr>
          <a:xfrm>
            <a:off x="0" y="1972222"/>
            <a:ext cx="18288001" cy="8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noAutofit/>
          </a:bodyPr>
          <a:lstStyle/>
          <a:p>
            <a:pPr marL="762015" lvl="0" indent="-381008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400"/>
              <a:buFont typeface="Trebuchet MS"/>
              <a:buNone/>
            </a:pPr>
            <a:r>
              <a:rPr lang="en-US" sz="3833"/>
              <a:t>50ms 엔드 투 엔드 서버 지연 시간 임계값에서 초당 2.5배 더 빠른 추론</a:t>
            </a:r>
            <a:endParaRPr/>
          </a:p>
        </p:txBody>
      </p:sp>
      <p:pic>
        <p:nvPicPr>
          <p:cNvPr id="1451" name="Google Shape;1451;p89" title="Static vs Dynamic Batching (T4 TRT Resnet50 FP16 Instance 1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5970" y="3036647"/>
            <a:ext cx="10782197" cy="6666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90"/>
          <p:cNvSpPr txBox="1">
            <a:spLocks noGrp="1"/>
          </p:cNvSpPr>
          <p:nvPr>
            <p:ph type="title"/>
          </p:nvPr>
        </p:nvSpPr>
        <p:spPr>
          <a:xfrm>
            <a:off x="623400" y="399300"/>
            <a:ext cx="17040999" cy="1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None/>
            </a:pPr>
            <a:r>
              <a:rPr lang="en-US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동시 모델 실행 - RESNET50</a:t>
            </a:r>
            <a:endParaRPr sz="483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7" name="Google Shape;1457;p90"/>
          <p:cNvSpPr txBox="1"/>
          <p:nvPr/>
        </p:nvSpPr>
        <p:spPr>
          <a:xfrm>
            <a:off x="13653550" y="9402850"/>
            <a:ext cx="1389500" cy="7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시간</a:t>
            </a:r>
            <a:endParaRPr sz="28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90"/>
          <p:cNvSpPr txBox="1"/>
          <p:nvPr/>
        </p:nvSpPr>
        <p:spPr>
          <a:xfrm>
            <a:off x="416600" y="1362600"/>
            <a:ext cx="17496500" cy="8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76150" rIns="152400" bIns="7615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67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다중 모델 동시 실행을 통해 6배 더 높은 성능과 향상된 GPU 활용률 제공</a:t>
            </a:r>
            <a:endParaRPr sz="3167">
              <a:solidFill>
                <a:srgbClr val="76B9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9" name="Google Shape;1459;p90"/>
          <p:cNvSpPr txBox="1"/>
          <p:nvPr/>
        </p:nvSpPr>
        <p:spPr>
          <a:xfrm>
            <a:off x="623400" y="2543000"/>
            <a:ext cx="5791000" cy="69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33" u="sng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일반적인 시나리오 1</a:t>
            </a:r>
            <a:endParaRPr sz="2833" u="sng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67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GPU에서 동일한 </a:t>
            </a:r>
            <a:r>
              <a:rPr lang="en-US" sz="2333" u="sng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모델의</a:t>
            </a: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여러 </a:t>
            </a:r>
            <a:r>
              <a:rPr lang="en-US" sz="2333" u="sng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복사본을</a:t>
            </a: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사용하는 하나의 API</a:t>
            </a:r>
            <a:endParaRPr sz="2333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33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예: TRT FP16 ResNet50의 8개 인스턴스(각 모델이 2GB GPU 메모리 사용)가 GPU에 로드되고 16GB T4 GPU에서 동시에 실행될 수 있습니다.</a:t>
            </a:r>
            <a:endParaRPr sz="2167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10개의 동시 추론 요청 발생: 각 모델 인스턴스가 동시에 한 개의 요청을 이행하고 2개의 요청은 Triton Inference Server의 모델당 스케줄러 대기열에서 대기하다가 8개 요청이 완료된 후에 실행됩니다. 이 구성을 사용하면 각 추론 서버 인스턴스에서 배치 크기 8, 152ms로 초당 2,680개의 추론을 실행할 수 있습니다.</a:t>
            </a:r>
            <a:endParaRPr sz="2167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67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67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60" name="Google Shape;1460;p90"/>
          <p:cNvSpPr/>
          <p:nvPr/>
        </p:nvSpPr>
        <p:spPr>
          <a:xfrm>
            <a:off x="7018050" y="3487500"/>
            <a:ext cx="1268500" cy="9305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추론 요청</a:t>
            </a:r>
            <a:endParaRPr sz="166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90"/>
          <p:cNvSpPr/>
          <p:nvPr/>
        </p:nvSpPr>
        <p:spPr>
          <a:xfrm>
            <a:off x="9275250" y="2071450"/>
            <a:ext cx="8337500" cy="7444000"/>
          </a:xfrm>
          <a:prstGeom prst="rect">
            <a:avLst/>
          </a:prstGeom>
          <a:solidFill>
            <a:srgbClr val="76B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Triton</a:t>
            </a:r>
            <a:r>
              <a:rPr lang="en-US" sz="2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Inference Server</a:t>
            </a:r>
            <a:endParaRPr sz="23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90"/>
          <p:cNvSpPr/>
          <p:nvPr/>
        </p:nvSpPr>
        <p:spPr>
          <a:xfrm>
            <a:off x="9431137" y="3810300"/>
            <a:ext cx="1268500" cy="1504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ResNet50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요청 대기열</a:t>
            </a:r>
            <a:endParaRPr sz="116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3" name="Google Shape;1463;p90"/>
          <p:cNvCxnSpPr>
            <a:stCxn id="1460" idx="3"/>
            <a:endCxn id="1462" idx="1"/>
          </p:cNvCxnSpPr>
          <p:nvPr/>
        </p:nvCxnSpPr>
        <p:spPr>
          <a:xfrm>
            <a:off x="8286550" y="3952750"/>
            <a:ext cx="1144500" cy="6096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64" name="Google Shape;1464;p90"/>
          <p:cNvSpPr/>
          <p:nvPr/>
        </p:nvSpPr>
        <p:spPr>
          <a:xfrm>
            <a:off x="11191750" y="2636025"/>
            <a:ext cx="6257000" cy="6686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T4 16GB GPU</a:t>
            </a:r>
            <a:endParaRPr sz="28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5" name="Google Shape;1465;p90"/>
          <p:cNvCxnSpPr/>
          <p:nvPr/>
        </p:nvCxnSpPr>
        <p:spPr>
          <a:xfrm>
            <a:off x="15043050" y="9766350"/>
            <a:ext cx="2268500" cy="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466" name="Google Shape;1466;p90"/>
          <p:cNvGrpSpPr/>
          <p:nvPr/>
        </p:nvGrpSpPr>
        <p:grpSpPr>
          <a:xfrm>
            <a:off x="11771950" y="3570905"/>
            <a:ext cx="3710057" cy="3671527"/>
            <a:chOff x="4133375" y="1709252"/>
            <a:chExt cx="1855028" cy="1835763"/>
          </a:xfrm>
        </p:grpSpPr>
        <p:grpSp>
          <p:nvGrpSpPr>
            <p:cNvPr id="1467" name="Google Shape;1467;p90"/>
            <p:cNvGrpSpPr/>
            <p:nvPr/>
          </p:nvGrpSpPr>
          <p:grpSpPr>
            <a:xfrm>
              <a:off x="4133375" y="1709252"/>
              <a:ext cx="1855028" cy="228600"/>
              <a:chOff x="4161414" y="2798415"/>
              <a:chExt cx="3728700" cy="228600"/>
            </a:xfrm>
          </p:grpSpPr>
          <p:sp>
            <p:nvSpPr>
              <p:cNvPr id="1468" name="Google Shape;1468;p90"/>
              <p:cNvSpPr/>
              <p:nvPr/>
            </p:nvSpPr>
            <p:spPr>
              <a:xfrm>
                <a:off x="4161414" y="2798415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RN50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90"/>
              <p:cNvSpPr/>
              <p:nvPr/>
            </p:nvSpPr>
            <p:spPr>
              <a:xfrm>
                <a:off x="5820304" y="2839313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0" name="Google Shape;1470;p90"/>
            <p:cNvGrpSpPr/>
            <p:nvPr/>
          </p:nvGrpSpPr>
          <p:grpSpPr>
            <a:xfrm>
              <a:off x="4133375" y="1938052"/>
              <a:ext cx="1855028" cy="228600"/>
              <a:chOff x="4161414" y="2798415"/>
              <a:chExt cx="3728700" cy="228600"/>
            </a:xfrm>
          </p:grpSpPr>
          <p:sp>
            <p:nvSpPr>
              <p:cNvPr id="1471" name="Google Shape;1471;p90"/>
              <p:cNvSpPr/>
              <p:nvPr/>
            </p:nvSpPr>
            <p:spPr>
              <a:xfrm>
                <a:off x="4161414" y="2798415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RN50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p90"/>
              <p:cNvSpPr/>
              <p:nvPr/>
            </p:nvSpPr>
            <p:spPr>
              <a:xfrm>
                <a:off x="5820304" y="2839314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3" name="Google Shape;1473;p90"/>
            <p:cNvGrpSpPr/>
            <p:nvPr/>
          </p:nvGrpSpPr>
          <p:grpSpPr>
            <a:xfrm>
              <a:off x="4133375" y="2167065"/>
              <a:ext cx="1855028" cy="228600"/>
              <a:chOff x="4161414" y="2798415"/>
              <a:chExt cx="3728700" cy="228600"/>
            </a:xfrm>
          </p:grpSpPr>
          <p:sp>
            <p:nvSpPr>
              <p:cNvPr id="1474" name="Google Shape;1474;p90"/>
              <p:cNvSpPr/>
              <p:nvPr/>
            </p:nvSpPr>
            <p:spPr>
              <a:xfrm>
                <a:off x="4161414" y="2798415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RN50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90"/>
              <p:cNvSpPr/>
              <p:nvPr/>
            </p:nvSpPr>
            <p:spPr>
              <a:xfrm>
                <a:off x="5820304" y="2839315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6" name="Google Shape;1476;p90"/>
            <p:cNvGrpSpPr/>
            <p:nvPr/>
          </p:nvGrpSpPr>
          <p:grpSpPr>
            <a:xfrm>
              <a:off x="4133375" y="2396502"/>
              <a:ext cx="1855028" cy="228600"/>
              <a:chOff x="4161414" y="2798415"/>
              <a:chExt cx="3728700" cy="228600"/>
            </a:xfrm>
          </p:grpSpPr>
          <p:sp>
            <p:nvSpPr>
              <p:cNvPr id="1477" name="Google Shape;1477;p90"/>
              <p:cNvSpPr/>
              <p:nvPr/>
            </p:nvSpPr>
            <p:spPr>
              <a:xfrm>
                <a:off x="4161414" y="2798415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RN50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90"/>
              <p:cNvSpPr/>
              <p:nvPr/>
            </p:nvSpPr>
            <p:spPr>
              <a:xfrm>
                <a:off x="5820304" y="2839316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9" name="Google Shape;1479;p90"/>
            <p:cNvGrpSpPr/>
            <p:nvPr/>
          </p:nvGrpSpPr>
          <p:grpSpPr>
            <a:xfrm>
              <a:off x="4133375" y="2629365"/>
              <a:ext cx="1855028" cy="228600"/>
              <a:chOff x="4161414" y="2798415"/>
              <a:chExt cx="3728700" cy="228600"/>
            </a:xfrm>
          </p:grpSpPr>
          <p:sp>
            <p:nvSpPr>
              <p:cNvPr id="1480" name="Google Shape;1480;p90"/>
              <p:cNvSpPr/>
              <p:nvPr/>
            </p:nvSpPr>
            <p:spPr>
              <a:xfrm>
                <a:off x="4161414" y="2798415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RN50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90"/>
              <p:cNvSpPr/>
              <p:nvPr/>
            </p:nvSpPr>
            <p:spPr>
              <a:xfrm>
                <a:off x="5820304" y="2839317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2" name="Google Shape;1482;p90"/>
            <p:cNvGrpSpPr/>
            <p:nvPr/>
          </p:nvGrpSpPr>
          <p:grpSpPr>
            <a:xfrm>
              <a:off x="4133375" y="2858377"/>
              <a:ext cx="1855028" cy="228600"/>
              <a:chOff x="4161414" y="2798415"/>
              <a:chExt cx="3728700" cy="228600"/>
            </a:xfrm>
          </p:grpSpPr>
          <p:sp>
            <p:nvSpPr>
              <p:cNvPr id="1483" name="Google Shape;1483;p90"/>
              <p:cNvSpPr/>
              <p:nvPr/>
            </p:nvSpPr>
            <p:spPr>
              <a:xfrm>
                <a:off x="4161414" y="2798415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RN50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90"/>
              <p:cNvSpPr/>
              <p:nvPr/>
            </p:nvSpPr>
            <p:spPr>
              <a:xfrm>
                <a:off x="5820304" y="2839318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5" name="Google Shape;1485;p90"/>
            <p:cNvGrpSpPr/>
            <p:nvPr/>
          </p:nvGrpSpPr>
          <p:grpSpPr>
            <a:xfrm>
              <a:off x="4133375" y="3316415"/>
              <a:ext cx="1855028" cy="228600"/>
              <a:chOff x="4161414" y="2798415"/>
              <a:chExt cx="3728700" cy="228600"/>
            </a:xfrm>
          </p:grpSpPr>
          <p:sp>
            <p:nvSpPr>
              <p:cNvPr id="1486" name="Google Shape;1486;p90"/>
              <p:cNvSpPr/>
              <p:nvPr/>
            </p:nvSpPr>
            <p:spPr>
              <a:xfrm>
                <a:off x="4161414" y="2798415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RN50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90"/>
              <p:cNvSpPr/>
              <p:nvPr/>
            </p:nvSpPr>
            <p:spPr>
              <a:xfrm>
                <a:off x="5820304" y="2839320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8" name="Google Shape;1488;p90"/>
            <p:cNvGrpSpPr/>
            <p:nvPr/>
          </p:nvGrpSpPr>
          <p:grpSpPr>
            <a:xfrm>
              <a:off x="4133375" y="3086977"/>
              <a:ext cx="1855028" cy="228600"/>
              <a:chOff x="4161414" y="2798415"/>
              <a:chExt cx="3728700" cy="228600"/>
            </a:xfrm>
          </p:grpSpPr>
          <p:sp>
            <p:nvSpPr>
              <p:cNvPr id="1489" name="Google Shape;1489;p90"/>
              <p:cNvSpPr/>
              <p:nvPr/>
            </p:nvSpPr>
            <p:spPr>
              <a:xfrm>
                <a:off x="4161414" y="2798415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RN50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90"/>
              <p:cNvSpPr/>
              <p:nvPr/>
            </p:nvSpPr>
            <p:spPr>
              <a:xfrm>
                <a:off x="5820304" y="2839319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491" name="Google Shape;1491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357090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402850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3" name="Google Shape;1493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448530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4" name="Google Shape;1494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494540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5" name="Google Shape;1495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540550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6" name="Google Shape;1496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586560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7" name="Google Shape;1497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632570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8" name="Google Shape;1498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678580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9" name="Google Shape;1499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9694" y="402850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0" name="Google Shape;1500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9694" y="3570900"/>
            <a:ext cx="588645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1" name="Google Shape;1501;p90"/>
          <p:cNvCxnSpPr>
            <a:endCxn id="1500" idx="0"/>
          </p:cNvCxnSpPr>
          <p:nvPr/>
        </p:nvCxnSpPr>
        <p:spPr>
          <a:xfrm rot="10800000" flipH="1">
            <a:off x="10699416" y="3570900"/>
            <a:ext cx="6114600" cy="534600"/>
          </a:xfrm>
          <a:prstGeom prst="bentConnector4">
            <a:avLst>
              <a:gd name="adj1" fmla="val 12234"/>
              <a:gd name="adj2" fmla="val 159688"/>
            </a:avLst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sm" len="sm"/>
            <a:tailEnd type="stealth" w="med" len="med"/>
          </a:ln>
        </p:spPr>
      </p:cxnSp>
      <p:cxnSp>
        <p:nvCxnSpPr>
          <p:cNvPr id="1502" name="Google Shape;1502;p90"/>
          <p:cNvCxnSpPr>
            <a:endCxn id="1491" idx="0"/>
          </p:cNvCxnSpPr>
          <p:nvPr/>
        </p:nvCxnSpPr>
        <p:spPr>
          <a:xfrm rot="10800000" flipH="1">
            <a:off x="10699366" y="3570900"/>
            <a:ext cx="5249100" cy="534600"/>
          </a:xfrm>
          <a:prstGeom prst="bentConnector4">
            <a:avLst>
              <a:gd name="adj1" fmla="val 15889"/>
              <a:gd name="adj2" fmla="val 138854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503" name="Google Shape;1503;p90"/>
          <p:cNvSpPr txBox="1"/>
          <p:nvPr/>
        </p:nvSpPr>
        <p:spPr>
          <a:xfrm>
            <a:off x="8244800" y="3124800"/>
            <a:ext cx="1268500" cy="8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10개의 동시 요청</a:t>
            </a:r>
            <a:endParaRPr sz="116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91"/>
          <p:cNvSpPr txBox="1"/>
          <p:nvPr/>
        </p:nvSpPr>
        <p:spPr>
          <a:xfrm>
            <a:off x="623400" y="2543000"/>
            <a:ext cx="5791000" cy="69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33" u="sng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일반적인 시나리오 1</a:t>
            </a:r>
            <a:endParaRPr sz="2833" u="sng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67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GPU에서 동일한 </a:t>
            </a:r>
            <a:r>
              <a:rPr lang="en-US" sz="2333" u="sng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모델의</a:t>
            </a: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여러 </a:t>
            </a:r>
            <a:r>
              <a:rPr lang="en-US" sz="2333" u="sng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복사본을</a:t>
            </a: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사용하는 하나의 API</a:t>
            </a:r>
            <a:endParaRPr sz="2333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33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예: TRT FP16 ResNet50의 8개 인스턴스(각 모델이 2GB GPU 메모리 사용)가 GPU에 로드되고 16GB T4 GPU에서 동시에 실행될 수 있습니다.</a:t>
            </a:r>
            <a:endParaRPr sz="2167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10개의 동시 추론 요청 발생: 각 모델 인스턴스가 동시에 한 개의 요청을 이행하고 2개의 요청은 Triton Inference Server의 모델당 스케줄러 대기열에서 대기하다가 8개 요청이 완료된 후에 실행됩니다. 이 구성을 사용하면 각 추론 서버 인스턴스에서 배치 크기 8, 152ms로 초당 2,680개의 추론을 실행할 수 있습니다.</a:t>
            </a:r>
            <a:endParaRPr sz="2167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67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6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9" name="Google Shape;1509;p91"/>
          <p:cNvSpPr txBox="1">
            <a:spLocks noGrp="1"/>
          </p:cNvSpPr>
          <p:nvPr>
            <p:ph type="title"/>
          </p:nvPr>
        </p:nvSpPr>
        <p:spPr>
          <a:xfrm>
            <a:off x="623400" y="399300"/>
            <a:ext cx="17040999" cy="1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None/>
            </a:pPr>
            <a:r>
              <a:rPr lang="en-US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동시 모델 실행 - RESNET50</a:t>
            </a:r>
            <a:endParaRPr sz="483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10" name="Google Shape;1510;p91"/>
          <p:cNvSpPr txBox="1"/>
          <p:nvPr/>
        </p:nvSpPr>
        <p:spPr>
          <a:xfrm>
            <a:off x="416600" y="1362600"/>
            <a:ext cx="17496500" cy="8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76150" rIns="152400" bIns="7615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67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다중 모델 동시 실행을 통해 6배 더 높은 성능과 향상된 GPU 활용률 제공</a:t>
            </a:r>
            <a:endParaRPr sz="3167">
              <a:solidFill>
                <a:srgbClr val="76B9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11" name="Google Shape;1511;p91" title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8400" y="2492600"/>
            <a:ext cx="11365600" cy="7027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92"/>
          <p:cNvSpPr txBox="1"/>
          <p:nvPr/>
        </p:nvSpPr>
        <p:spPr>
          <a:xfrm>
            <a:off x="14110750" y="9555250"/>
            <a:ext cx="1389500" cy="7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시간</a:t>
            </a:r>
            <a:endParaRPr sz="28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92"/>
          <p:cNvSpPr txBox="1"/>
          <p:nvPr/>
        </p:nvSpPr>
        <p:spPr>
          <a:xfrm>
            <a:off x="954050" y="2543000"/>
            <a:ext cx="5342500" cy="71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33" u="sng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일반적인 시나리오 2</a:t>
            </a:r>
            <a:endParaRPr sz="2833" u="sng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67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 u="sng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GPU에서</a:t>
            </a: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여러 가지 다양한 </a:t>
            </a:r>
            <a:r>
              <a:rPr lang="en-US" sz="2333" u="sng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모델을</a:t>
            </a: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사용하는 여러 API</a:t>
            </a:r>
            <a:endParaRPr sz="2333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67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예: TRT FP16 ResNet50의 인스턴스 4개와 TRT FP16 Deep Recommender의 인스턴스 4개가 하나의 GPU에서 동시에 실행 중입니다. 10개의 요청이 동시에 두 모델에 들어오고(각 모델당 5개) 추론을 위해 해당 모델에 피드됩니다. 요청이 동시에 이행되고 사용자에게 반환됩니다. 각 모델에 대해 하나씩 요청이 대기열에 있습니다.</a:t>
            </a:r>
            <a:endParaRPr sz="2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이 구성을 사용하면 각 추론 서버 인스턴스에서 배치 크기 8, 80ms로 초당 5,778개의 추론을 실행할 수 있습니다.</a:t>
            </a:r>
            <a:endParaRPr sz="2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18" name="Google Shape;1518;p92"/>
          <p:cNvSpPr txBox="1">
            <a:spLocks noGrp="1"/>
          </p:cNvSpPr>
          <p:nvPr>
            <p:ph type="title"/>
          </p:nvPr>
        </p:nvSpPr>
        <p:spPr>
          <a:xfrm>
            <a:off x="623400" y="399300"/>
            <a:ext cx="17040999" cy="1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None/>
            </a:pPr>
            <a:r>
              <a:rPr lang="en-US" sz="4833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동시 모델 실행</a:t>
            </a:r>
            <a:br>
              <a:rPr lang="en-US" sz="4833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4833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RESNET50 및 DEEP RECOMMENDER</a:t>
            </a:r>
            <a:endParaRPr sz="483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19" name="Google Shape;1519;p92"/>
          <p:cNvSpPr/>
          <p:nvPr/>
        </p:nvSpPr>
        <p:spPr>
          <a:xfrm>
            <a:off x="7090350" y="5103490"/>
            <a:ext cx="1268500" cy="9305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추론 요청</a:t>
            </a:r>
            <a:endParaRPr sz="166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92"/>
          <p:cNvSpPr/>
          <p:nvPr/>
        </p:nvSpPr>
        <p:spPr>
          <a:xfrm>
            <a:off x="9275250" y="2006140"/>
            <a:ext cx="8352500" cy="7444000"/>
          </a:xfrm>
          <a:prstGeom prst="rect">
            <a:avLst/>
          </a:prstGeom>
          <a:solidFill>
            <a:srgbClr val="76B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Triton</a:t>
            </a:r>
            <a:r>
              <a:rPr lang="en-US" sz="2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Inference Server</a:t>
            </a:r>
            <a:endParaRPr sz="23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92"/>
          <p:cNvSpPr/>
          <p:nvPr/>
        </p:nvSpPr>
        <p:spPr>
          <a:xfrm>
            <a:off x="9555187" y="3744990"/>
            <a:ext cx="1268500" cy="1504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Resnet50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요청 대기열</a:t>
            </a:r>
            <a:endParaRPr sz="116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2" name="Google Shape;1522;p92"/>
          <p:cNvCxnSpPr>
            <a:stCxn id="1519" idx="3"/>
            <a:endCxn id="1521" idx="1"/>
          </p:cNvCxnSpPr>
          <p:nvPr/>
        </p:nvCxnSpPr>
        <p:spPr>
          <a:xfrm rot="10800000" flipH="1">
            <a:off x="8358850" y="4497140"/>
            <a:ext cx="1196400" cy="10716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23" name="Google Shape;1523;p92"/>
          <p:cNvSpPr/>
          <p:nvPr/>
        </p:nvSpPr>
        <p:spPr>
          <a:xfrm>
            <a:off x="11191750" y="2630090"/>
            <a:ext cx="6257000" cy="6686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T4 16GB GPU</a:t>
            </a:r>
            <a:endParaRPr sz="28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4" name="Google Shape;1524;p92"/>
          <p:cNvCxnSpPr/>
          <p:nvPr/>
        </p:nvCxnSpPr>
        <p:spPr>
          <a:xfrm>
            <a:off x="15500250" y="9705162"/>
            <a:ext cx="2268500" cy="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525" name="Google Shape;1525;p92"/>
          <p:cNvGrpSpPr/>
          <p:nvPr/>
        </p:nvGrpSpPr>
        <p:grpSpPr>
          <a:xfrm>
            <a:off x="11754575" y="3801770"/>
            <a:ext cx="3744757" cy="4984000"/>
            <a:chOff x="4116025" y="1857340"/>
            <a:chExt cx="1872378" cy="2492000"/>
          </a:xfrm>
        </p:grpSpPr>
        <p:grpSp>
          <p:nvGrpSpPr>
            <p:cNvPr id="1526" name="Google Shape;1526;p92"/>
            <p:cNvGrpSpPr/>
            <p:nvPr/>
          </p:nvGrpSpPr>
          <p:grpSpPr>
            <a:xfrm>
              <a:off x="4116025" y="1857340"/>
              <a:ext cx="1855028" cy="228600"/>
              <a:chOff x="4126539" y="2946502"/>
              <a:chExt cx="3728700" cy="228600"/>
            </a:xfrm>
          </p:grpSpPr>
          <p:sp>
            <p:nvSpPr>
              <p:cNvPr id="1527" name="Google Shape;1527;p92"/>
              <p:cNvSpPr/>
              <p:nvPr/>
            </p:nvSpPr>
            <p:spPr>
              <a:xfrm>
                <a:off x="4126539" y="2946502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RN50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92"/>
              <p:cNvSpPr/>
              <p:nvPr/>
            </p:nvSpPr>
            <p:spPr>
              <a:xfrm>
                <a:off x="5785430" y="2987400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9" name="Google Shape;1529;p92"/>
            <p:cNvGrpSpPr/>
            <p:nvPr/>
          </p:nvGrpSpPr>
          <p:grpSpPr>
            <a:xfrm>
              <a:off x="4124700" y="2139477"/>
              <a:ext cx="1855028" cy="228600"/>
              <a:chOff x="4143977" y="2999840"/>
              <a:chExt cx="3728700" cy="228600"/>
            </a:xfrm>
          </p:grpSpPr>
          <p:sp>
            <p:nvSpPr>
              <p:cNvPr id="1530" name="Google Shape;1530;p92"/>
              <p:cNvSpPr/>
              <p:nvPr/>
            </p:nvSpPr>
            <p:spPr>
              <a:xfrm>
                <a:off x="4143977" y="2999840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RN50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92"/>
              <p:cNvSpPr/>
              <p:nvPr/>
            </p:nvSpPr>
            <p:spPr>
              <a:xfrm>
                <a:off x="5802867" y="3040739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2" name="Google Shape;1532;p92"/>
            <p:cNvGrpSpPr/>
            <p:nvPr/>
          </p:nvGrpSpPr>
          <p:grpSpPr>
            <a:xfrm>
              <a:off x="4124700" y="2414502"/>
              <a:ext cx="1855028" cy="228600"/>
              <a:chOff x="4143977" y="3045852"/>
              <a:chExt cx="3728700" cy="228600"/>
            </a:xfrm>
          </p:grpSpPr>
          <p:sp>
            <p:nvSpPr>
              <p:cNvPr id="1533" name="Google Shape;1533;p92"/>
              <p:cNvSpPr/>
              <p:nvPr/>
            </p:nvSpPr>
            <p:spPr>
              <a:xfrm>
                <a:off x="4143977" y="3045852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RN50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92"/>
              <p:cNvSpPr/>
              <p:nvPr/>
            </p:nvSpPr>
            <p:spPr>
              <a:xfrm>
                <a:off x="5802867" y="3086752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5" name="Google Shape;1535;p92"/>
            <p:cNvGrpSpPr/>
            <p:nvPr/>
          </p:nvGrpSpPr>
          <p:grpSpPr>
            <a:xfrm>
              <a:off x="4133375" y="2682877"/>
              <a:ext cx="1855028" cy="228600"/>
              <a:chOff x="4161414" y="3084790"/>
              <a:chExt cx="3728700" cy="228600"/>
            </a:xfrm>
          </p:grpSpPr>
          <p:sp>
            <p:nvSpPr>
              <p:cNvPr id="1536" name="Google Shape;1536;p92"/>
              <p:cNvSpPr/>
              <p:nvPr/>
            </p:nvSpPr>
            <p:spPr>
              <a:xfrm>
                <a:off x="4161414" y="3084790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RN50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92"/>
              <p:cNvSpPr/>
              <p:nvPr/>
            </p:nvSpPr>
            <p:spPr>
              <a:xfrm>
                <a:off x="5820304" y="3125691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8" name="Google Shape;1538;p92"/>
            <p:cNvGrpSpPr/>
            <p:nvPr/>
          </p:nvGrpSpPr>
          <p:grpSpPr>
            <a:xfrm>
              <a:off x="4129038" y="3247127"/>
              <a:ext cx="1855028" cy="228600"/>
              <a:chOff x="4152695" y="3416177"/>
              <a:chExt cx="3728700" cy="228600"/>
            </a:xfrm>
          </p:grpSpPr>
          <p:sp>
            <p:nvSpPr>
              <p:cNvPr id="1539" name="Google Shape;1539;p92"/>
              <p:cNvSpPr/>
              <p:nvPr/>
            </p:nvSpPr>
            <p:spPr>
              <a:xfrm>
                <a:off x="4152695" y="3416177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DeepRec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92"/>
              <p:cNvSpPr/>
              <p:nvPr/>
            </p:nvSpPr>
            <p:spPr>
              <a:xfrm>
                <a:off x="5811586" y="3457079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1" name="Google Shape;1541;p92"/>
            <p:cNvGrpSpPr/>
            <p:nvPr/>
          </p:nvGrpSpPr>
          <p:grpSpPr>
            <a:xfrm>
              <a:off x="4129038" y="3533027"/>
              <a:ext cx="1855028" cy="228600"/>
              <a:chOff x="4152695" y="3473065"/>
              <a:chExt cx="3728700" cy="228600"/>
            </a:xfrm>
          </p:grpSpPr>
          <p:sp>
            <p:nvSpPr>
              <p:cNvPr id="1542" name="Google Shape;1542;p92"/>
              <p:cNvSpPr/>
              <p:nvPr/>
            </p:nvSpPr>
            <p:spPr>
              <a:xfrm>
                <a:off x="4152695" y="3473065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DeepRec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3" name="Google Shape;1543;p92"/>
              <p:cNvSpPr/>
              <p:nvPr/>
            </p:nvSpPr>
            <p:spPr>
              <a:xfrm>
                <a:off x="5811586" y="3513968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4" name="Google Shape;1544;p92"/>
            <p:cNvGrpSpPr/>
            <p:nvPr/>
          </p:nvGrpSpPr>
          <p:grpSpPr>
            <a:xfrm>
              <a:off x="4124700" y="4120740"/>
              <a:ext cx="1855028" cy="228600"/>
              <a:chOff x="4143977" y="3602740"/>
              <a:chExt cx="3728700" cy="228600"/>
            </a:xfrm>
          </p:grpSpPr>
          <p:sp>
            <p:nvSpPr>
              <p:cNvPr id="1545" name="Google Shape;1545;p92"/>
              <p:cNvSpPr/>
              <p:nvPr/>
            </p:nvSpPr>
            <p:spPr>
              <a:xfrm>
                <a:off x="4143977" y="3602740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DeepRec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92"/>
              <p:cNvSpPr/>
              <p:nvPr/>
            </p:nvSpPr>
            <p:spPr>
              <a:xfrm>
                <a:off x="5802867" y="3643645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7" name="Google Shape;1547;p92"/>
            <p:cNvGrpSpPr/>
            <p:nvPr/>
          </p:nvGrpSpPr>
          <p:grpSpPr>
            <a:xfrm>
              <a:off x="4133375" y="3811390"/>
              <a:ext cx="1855028" cy="228600"/>
              <a:chOff x="4161414" y="3522827"/>
              <a:chExt cx="3728700" cy="228600"/>
            </a:xfrm>
          </p:grpSpPr>
          <p:sp>
            <p:nvSpPr>
              <p:cNvPr id="1548" name="Google Shape;1548;p92"/>
              <p:cNvSpPr/>
              <p:nvPr/>
            </p:nvSpPr>
            <p:spPr>
              <a:xfrm>
                <a:off x="4161414" y="3522827"/>
                <a:ext cx="3728700" cy="2286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DeepRec 인스턴스 </a:t>
                </a:r>
                <a:r>
                  <a:rPr lang="en-US" sz="116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16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92"/>
              <p:cNvSpPr/>
              <p:nvPr/>
            </p:nvSpPr>
            <p:spPr>
              <a:xfrm>
                <a:off x="5820304" y="3563732"/>
                <a:ext cx="1835100" cy="120900"/>
              </a:xfrm>
              <a:prstGeom prst="rect">
                <a:avLst/>
              </a:prstGeom>
              <a:solidFill>
                <a:srgbClr val="D8D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25" tIns="182825" rIns="182825" bIns="1828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6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CUDA 스트림</a:t>
                </a:r>
                <a:endParaRPr sz="116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550" name="Google Shape;1550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379434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1" name="Google Shape;1551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435579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4954815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5459615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4" name="Google Shape;1554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656649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5" name="Google Shape;1555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718059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6" name="Google Shape;155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768939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7" name="Google Shape;1557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144" y="8328590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8" name="Google Shape;1558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71744" y="6566465"/>
            <a:ext cx="58864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9" name="Google Shape;1559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4394" y="3794340"/>
            <a:ext cx="588645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0" name="Google Shape;1560;p92"/>
          <p:cNvCxnSpPr>
            <a:endCxn id="1559" idx="0"/>
          </p:cNvCxnSpPr>
          <p:nvPr/>
        </p:nvCxnSpPr>
        <p:spPr>
          <a:xfrm rot="10800000" flipH="1">
            <a:off x="10734116" y="3794340"/>
            <a:ext cx="6114600" cy="534600"/>
          </a:xfrm>
          <a:prstGeom prst="bentConnector4">
            <a:avLst>
              <a:gd name="adj1" fmla="val 12234"/>
              <a:gd name="adj2" fmla="val 175566"/>
            </a:avLst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sm" len="sm"/>
            <a:tailEnd type="stealth" w="med" len="med"/>
          </a:ln>
        </p:spPr>
      </p:cxnSp>
      <p:cxnSp>
        <p:nvCxnSpPr>
          <p:cNvPr id="1561" name="Google Shape;1561;p92"/>
          <p:cNvCxnSpPr>
            <a:endCxn id="1550" idx="0"/>
          </p:cNvCxnSpPr>
          <p:nvPr/>
        </p:nvCxnSpPr>
        <p:spPr>
          <a:xfrm rot="10800000" flipH="1">
            <a:off x="10699366" y="3794340"/>
            <a:ext cx="5249100" cy="534600"/>
          </a:xfrm>
          <a:prstGeom prst="bentConnector4">
            <a:avLst>
              <a:gd name="adj1" fmla="val 17660"/>
              <a:gd name="adj2" fmla="val 138957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562" name="Google Shape;1562;p92"/>
          <p:cNvSpPr txBox="1"/>
          <p:nvPr/>
        </p:nvSpPr>
        <p:spPr>
          <a:xfrm>
            <a:off x="8006850" y="3962790"/>
            <a:ext cx="1268500" cy="8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5개의 동시 요청</a:t>
            </a:r>
            <a:endParaRPr sz="116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92"/>
          <p:cNvSpPr/>
          <p:nvPr/>
        </p:nvSpPr>
        <p:spPr>
          <a:xfrm>
            <a:off x="9555212" y="6820890"/>
            <a:ext cx="1268500" cy="1504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Deep Rec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요청 대기열</a:t>
            </a:r>
            <a:endParaRPr sz="116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92"/>
          <p:cNvSpPr txBox="1"/>
          <p:nvPr/>
        </p:nvSpPr>
        <p:spPr>
          <a:xfrm>
            <a:off x="7771900" y="6368190"/>
            <a:ext cx="1268500" cy="8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5개의 동시 요청</a:t>
            </a:r>
            <a:endParaRPr sz="116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5" name="Google Shape;1565;p92"/>
          <p:cNvCxnSpPr>
            <a:stCxn id="1519" idx="3"/>
            <a:endCxn id="1563" idx="1"/>
          </p:cNvCxnSpPr>
          <p:nvPr/>
        </p:nvCxnSpPr>
        <p:spPr>
          <a:xfrm>
            <a:off x="8358850" y="5568740"/>
            <a:ext cx="1196400" cy="20043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66" name="Google Shape;1566;p92"/>
          <p:cNvCxnSpPr>
            <a:stCxn id="1563" idx="3"/>
            <a:endCxn id="1558" idx="0"/>
          </p:cNvCxnSpPr>
          <p:nvPr/>
        </p:nvCxnSpPr>
        <p:spPr>
          <a:xfrm rot="10800000" flipH="1">
            <a:off x="10823712" y="6566390"/>
            <a:ext cx="6042300" cy="1006500"/>
          </a:xfrm>
          <a:prstGeom prst="bentConnector4">
            <a:avLst>
              <a:gd name="adj1" fmla="val 13448"/>
              <a:gd name="adj2" fmla="val 139347"/>
            </a:avLst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sm" len="sm"/>
            <a:tailEnd type="stealth" w="med" len="med"/>
          </a:ln>
        </p:spPr>
      </p:cxnSp>
      <p:cxnSp>
        <p:nvCxnSpPr>
          <p:cNvPr id="1567" name="Google Shape;1567;p92"/>
          <p:cNvCxnSpPr>
            <a:stCxn id="1563" idx="3"/>
            <a:endCxn id="1554" idx="0"/>
          </p:cNvCxnSpPr>
          <p:nvPr/>
        </p:nvCxnSpPr>
        <p:spPr>
          <a:xfrm rot="10800000" flipH="1">
            <a:off x="10823712" y="6566390"/>
            <a:ext cx="5124900" cy="1006500"/>
          </a:xfrm>
          <a:prstGeom prst="bentConnector4">
            <a:avLst>
              <a:gd name="adj1" fmla="val 12038"/>
              <a:gd name="adj2" fmla="val 123793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93"/>
          <p:cNvSpPr txBox="1"/>
          <p:nvPr/>
        </p:nvSpPr>
        <p:spPr>
          <a:xfrm>
            <a:off x="954050" y="2543000"/>
            <a:ext cx="5342500" cy="71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33" u="sng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일반적인 시나리오 2</a:t>
            </a:r>
            <a:endParaRPr sz="2833" u="sng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67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 u="sng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GPU에서</a:t>
            </a: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여러 가지 다양한 </a:t>
            </a:r>
            <a:r>
              <a:rPr lang="en-US" sz="2333" u="sng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모델을</a:t>
            </a: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사용하는 여러 API</a:t>
            </a:r>
            <a:endParaRPr sz="2333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67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예: TRT FP16 ResNet50의 인스턴스 4개와 TRT FP16 Deep Recommender의 인스턴스 4개가 하나의 GPU에서 동시에 실행 중입니다. 10개의 요청이 동시에 두 모델에 들어오고(각 모델당 5개) 추론을 위해 해당 모델에 피드됩니다. 요청이 동시에 이행되고 사용자에게 반환됩니다. 각 모델에 대해 하나씩 요청이 대기열에 있습니다.</a:t>
            </a:r>
            <a:endParaRPr sz="2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이 구성을 사용하면 각 추론 서버 인스턴스에서 배치 크기 8, 80ms로 초당 5,778개의 추론을 실행할 수 있습니다.</a:t>
            </a:r>
            <a:endParaRPr sz="2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73" name="Google Shape;1573;p93"/>
          <p:cNvSpPr txBox="1">
            <a:spLocks noGrp="1"/>
          </p:cNvSpPr>
          <p:nvPr>
            <p:ph type="title"/>
          </p:nvPr>
        </p:nvSpPr>
        <p:spPr>
          <a:xfrm>
            <a:off x="623400" y="399300"/>
            <a:ext cx="17040999" cy="1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None/>
            </a:pPr>
            <a:r>
              <a:rPr lang="en-US" sz="4833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동시 모델 실행</a:t>
            </a:r>
            <a:br>
              <a:rPr lang="en-US" sz="4833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4833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RESNET50 및 DEEP RECOMMENDER</a:t>
            </a:r>
            <a:endParaRPr sz="483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74" name="Google Shape;1574;p93" title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35584" y="1996208"/>
            <a:ext cx="6577523" cy="40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5" name="Google Shape;1575;p93" title="Char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35584" y="6037293"/>
            <a:ext cx="6577543" cy="406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0" name="Google Shape;1580;p94"/>
          <p:cNvGrpSpPr/>
          <p:nvPr/>
        </p:nvGrpSpPr>
        <p:grpSpPr>
          <a:xfrm>
            <a:off x="0" y="1875100"/>
            <a:ext cx="18614250" cy="7628050"/>
            <a:chOff x="0" y="1016225"/>
            <a:chExt cx="9307125" cy="3814025"/>
          </a:xfrm>
        </p:grpSpPr>
        <p:pic>
          <p:nvPicPr>
            <p:cNvPr id="1581" name="Google Shape;1581;p9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1363673"/>
              <a:ext cx="4239072" cy="23844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2" name="Google Shape;1582;p9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904928" y="1363676"/>
              <a:ext cx="4239072" cy="23844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3" name="Google Shape;1583;p94"/>
            <p:cNvSpPr txBox="1"/>
            <p:nvPr/>
          </p:nvSpPr>
          <p:spPr>
            <a:xfrm>
              <a:off x="0" y="3748150"/>
              <a:ext cx="4402200" cy="108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25" tIns="182825" rIns="182825" bIns="182825" anchor="t" anchorCtr="0">
              <a:noAutofit/>
            </a:bodyPr>
            <a:lstStyle/>
            <a:p>
              <a:pPr marL="910185" marR="0" lvl="0" indent="-592679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Trebuchet MS"/>
                <a:buChar char="●"/>
              </a:pPr>
              <a:r>
                <a:rPr lang="en-US" sz="2333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GPU당 하나의 모델</a:t>
              </a:r>
              <a:endParaRPr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910185" marR="0" lvl="0" indent="-592679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Trebuchet MS"/>
                <a:buChar char="●"/>
              </a:pPr>
              <a:r>
                <a:rPr lang="en-US" sz="2333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요청이 모든 모델 전체에서 안정적으로 유지됨</a:t>
              </a:r>
              <a:endParaRPr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910185" marR="0" lvl="0" indent="-592679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Trebuchet MS"/>
                <a:buChar char="●"/>
              </a:pPr>
              <a:r>
                <a:rPr lang="en-US" sz="2333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모든 GPU에서 활용률이 낮음</a:t>
              </a:r>
              <a:endParaRPr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94"/>
            <p:cNvSpPr txBox="1"/>
            <p:nvPr/>
          </p:nvSpPr>
          <p:spPr>
            <a:xfrm>
              <a:off x="4904925" y="3748150"/>
              <a:ext cx="4402200" cy="9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25" tIns="182825" rIns="182825" bIns="182825" anchor="t" anchorCtr="0">
              <a:noAutofit/>
            </a:bodyPr>
            <a:lstStyle/>
            <a:p>
              <a:pPr marL="910185" marR="0" lvl="0" indent="-592679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Trebuchet MS"/>
                <a:buChar char="●"/>
              </a:pPr>
              <a:r>
                <a:rPr lang="en-US" sz="2333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파란색 모델에 대한 요청 급증</a:t>
              </a:r>
              <a:endParaRPr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910185" marR="0" lvl="0" indent="-592679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Trebuchet MS"/>
                <a:buChar char="●"/>
              </a:pPr>
              <a:r>
                <a:rPr lang="en-US" sz="2333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파란색 모델을 실행하는 GPU가 완전히 활용됨</a:t>
              </a:r>
              <a:endParaRPr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910185" marR="0" lvl="0" indent="-592679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Trebuchet MS"/>
                <a:buChar char="●"/>
              </a:pPr>
              <a:r>
                <a:rPr lang="en-US" sz="2333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다른 GPU는 충분히 활용되지 않은 상태로 유지됨</a:t>
              </a:r>
              <a:endParaRPr sz="2333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85" name="Google Shape;1585;p94"/>
            <p:cNvSpPr txBox="1"/>
            <p:nvPr/>
          </p:nvSpPr>
          <p:spPr>
            <a:xfrm>
              <a:off x="4904925" y="1016225"/>
              <a:ext cx="42036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25" tIns="182825" rIns="182825" bIns="18282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33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Triton Inference Server 전 - 5,000FPS</a:t>
              </a:r>
              <a:endParaRPr sz="28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86" name="Google Shape;1586;p94"/>
            <p:cNvSpPr txBox="1"/>
            <p:nvPr/>
          </p:nvSpPr>
          <p:spPr>
            <a:xfrm>
              <a:off x="0" y="1034675"/>
              <a:ext cx="4239000" cy="3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25" tIns="182825" rIns="182825" bIns="18282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33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Triton Inference Server 전 - 800FPS</a:t>
              </a:r>
              <a:endParaRPr sz="28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7" name="Google Shape;1587;p94"/>
          <p:cNvSpPr txBox="1">
            <a:spLocks noGrp="1"/>
          </p:cNvSpPr>
          <p:nvPr>
            <p:ph type="title"/>
          </p:nvPr>
        </p:nvSpPr>
        <p:spPr>
          <a:xfrm>
            <a:off x="300" y="1175700"/>
            <a:ext cx="18288001" cy="9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76150" rIns="152400" bIns="7615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</a:pPr>
            <a:r>
              <a:rPr lang="en-US"/>
              <a:t>Triton Inference Server</a:t>
            </a:r>
            <a:br>
              <a:rPr lang="en-US"/>
            </a:br>
            <a:r>
              <a:rPr lang="en-US"/>
              <a:t>Autoscaling 지표</a:t>
            </a:r>
            <a:endParaRPr/>
          </a:p>
        </p:txBody>
      </p:sp>
      <p:sp>
        <p:nvSpPr>
          <p:cNvPr id="1588" name="Google Shape;1588;p94"/>
          <p:cNvSpPr/>
          <p:nvPr/>
        </p:nvSpPr>
        <p:spPr>
          <a:xfrm>
            <a:off x="8708700" y="4782130"/>
            <a:ext cx="870500" cy="659500"/>
          </a:xfrm>
          <a:prstGeom prst="rightArrow">
            <a:avLst>
              <a:gd name="adj1" fmla="val 33333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95"/>
          <p:cNvSpPr txBox="1"/>
          <p:nvPr/>
        </p:nvSpPr>
        <p:spPr>
          <a:xfrm>
            <a:off x="0" y="7350200"/>
            <a:ext cx="8804500" cy="21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910185" marR="0" lvl="0" indent="-57151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rebuchet MS"/>
              <a:buChar char="●"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모든 GPU에서 다중 모델 로드 </a:t>
            </a:r>
            <a:endParaRPr sz="2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910185" marR="0" lvl="0" indent="-57151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rebuchet MS"/>
              <a:buChar char="●"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모든 GPU 간에 로드가 균일하게 분산됨 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p95"/>
          <p:cNvSpPr txBox="1"/>
          <p:nvPr/>
        </p:nvSpPr>
        <p:spPr>
          <a:xfrm>
            <a:off x="9809850" y="7350200"/>
            <a:ext cx="7267000" cy="2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910185" marR="0" lvl="0" indent="-57151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rebuchet MS"/>
              <a:buChar char="●"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파란색 모델에 대한 요청 급증</a:t>
            </a:r>
            <a:endParaRPr sz="2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910185" marR="0" lvl="0" indent="-57151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rebuchet MS"/>
              <a:buChar char="●"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각 GPU가 파란색 모델을 동시에 실행할 수 있음</a:t>
            </a:r>
            <a:endParaRPr sz="2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910185" marR="0" lvl="0" indent="-57151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rebuchet MS"/>
              <a:buChar char="●"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확장할 시간을 나타내는 지표</a:t>
            </a:r>
            <a:endParaRPr sz="2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820370" marR="0" lvl="1" indent="-57151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rebuchet MS"/>
              <a:buChar char="○"/>
            </a:pPr>
            <a:r>
              <a:rPr lang="en-US"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GPU 활용률</a:t>
            </a:r>
            <a:endParaRPr sz="2000" b="0" i="0" u="none" strike="noStrike" cap="non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820370" marR="0" lvl="1" indent="-57151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rebuchet MS"/>
              <a:buChar char="○"/>
            </a:pPr>
            <a:r>
              <a:rPr lang="en-US"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전력 사용량</a:t>
            </a:r>
            <a:endParaRPr sz="2000" b="0" i="0" u="none" strike="noStrike" cap="non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820370" marR="0" lvl="1" indent="-57151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rebuchet MS"/>
              <a:buChar char="○"/>
            </a:pPr>
            <a:r>
              <a:rPr lang="en-US"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추론 수</a:t>
            </a:r>
            <a:endParaRPr sz="2000" b="0" i="0" u="none" strike="noStrike" cap="non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820370" marR="0" lvl="1" indent="-57151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rebuchet MS"/>
              <a:buChar char="○"/>
            </a:pPr>
            <a:r>
              <a:rPr lang="en-US"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대기 시간</a:t>
            </a:r>
            <a:endParaRPr sz="2000" b="0" i="0" u="none" strike="noStrike" cap="non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820370" marR="0" lvl="1" indent="-57151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rebuchet MS"/>
              <a:buChar char="○"/>
            </a:pPr>
            <a:r>
              <a:rPr lang="en-US"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요청 수/초</a:t>
            </a:r>
            <a:endParaRPr sz="20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95" name="Google Shape;1595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581248"/>
            <a:ext cx="8478143" cy="4768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6" name="Google Shape;1596;p9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09836" y="2581248"/>
            <a:ext cx="8478128" cy="4768947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95"/>
          <p:cNvSpPr/>
          <p:nvPr/>
        </p:nvSpPr>
        <p:spPr>
          <a:xfrm>
            <a:off x="8708700" y="4782130"/>
            <a:ext cx="870500" cy="659500"/>
          </a:xfrm>
          <a:prstGeom prst="rightArrow">
            <a:avLst>
              <a:gd name="adj1" fmla="val 33333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25" tIns="182825" rIns="182825" bIns="1828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8" name="Google Shape;1598;p95"/>
          <p:cNvSpPr txBox="1"/>
          <p:nvPr/>
        </p:nvSpPr>
        <p:spPr>
          <a:xfrm>
            <a:off x="9809850" y="1926150"/>
            <a:ext cx="8376000" cy="6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Triton Inference Server 후 - 15,000FPS</a:t>
            </a:r>
            <a:endParaRPr sz="2833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9" name="Google Shape;1599;p95"/>
          <p:cNvSpPr txBox="1"/>
          <p:nvPr/>
        </p:nvSpPr>
        <p:spPr>
          <a:xfrm>
            <a:off x="0" y="1926150"/>
            <a:ext cx="8478000" cy="6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Triton Inference Server 후 - 5,000FPS</a:t>
            </a:r>
            <a:endParaRPr sz="28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95"/>
          <p:cNvSpPr txBox="1">
            <a:spLocks noGrp="1"/>
          </p:cNvSpPr>
          <p:nvPr>
            <p:ph type="title"/>
          </p:nvPr>
        </p:nvSpPr>
        <p:spPr>
          <a:xfrm>
            <a:off x="300" y="1175700"/>
            <a:ext cx="18288001" cy="9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76150" rIns="152400" bIns="7615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</a:pPr>
            <a:r>
              <a:rPr lang="en-US"/>
              <a:t>Triton Inference Server</a:t>
            </a:r>
            <a:br>
              <a:rPr lang="en-US"/>
            </a:br>
            <a:r>
              <a:rPr lang="en-US"/>
              <a:t>Autoscaling 지표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96"/>
          <p:cNvSpPr txBox="1">
            <a:spLocks noGrp="1"/>
          </p:cNvSpPr>
          <p:nvPr>
            <p:ph type="title"/>
          </p:nvPr>
        </p:nvSpPr>
        <p:spPr>
          <a:xfrm>
            <a:off x="830580" y="868681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스트리밍 추론 요청</a:t>
            </a:r>
            <a:endParaRPr/>
          </a:p>
        </p:txBody>
      </p:sp>
      <p:sp>
        <p:nvSpPr>
          <p:cNvPr id="1607" name="Google Shape;1607;p96"/>
          <p:cNvSpPr/>
          <p:nvPr/>
        </p:nvSpPr>
        <p:spPr>
          <a:xfrm>
            <a:off x="6360344" y="3234551"/>
            <a:ext cx="10090258" cy="6367472"/>
          </a:xfrm>
          <a:prstGeom prst="rect">
            <a:avLst/>
          </a:prstGeom>
          <a:noFill/>
          <a:ln w="12700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8" name="Google Shape;1608;p96"/>
          <p:cNvGrpSpPr/>
          <p:nvPr/>
        </p:nvGrpSpPr>
        <p:grpSpPr>
          <a:xfrm>
            <a:off x="15399671" y="3850363"/>
            <a:ext cx="772250" cy="721270"/>
            <a:chOff x="9096762" y="2585252"/>
            <a:chExt cx="463350" cy="432762"/>
          </a:xfrm>
        </p:grpSpPr>
        <p:pic>
          <p:nvPicPr>
            <p:cNvPr id="1609" name="Google Shape;1609;p9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235512" y="2585252"/>
              <a:ext cx="164592" cy="2691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0" name="Google Shape;1610;p96"/>
            <p:cNvSpPr txBox="1"/>
            <p:nvPr/>
          </p:nvSpPr>
          <p:spPr>
            <a:xfrm>
              <a:off x="9096762" y="2828733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2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1" name="Google Shape;1611;p96"/>
          <p:cNvGrpSpPr/>
          <p:nvPr/>
        </p:nvGrpSpPr>
        <p:grpSpPr>
          <a:xfrm>
            <a:off x="14937757" y="3850363"/>
            <a:ext cx="772250" cy="721270"/>
            <a:chOff x="8732901" y="2585252"/>
            <a:chExt cx="463350" cy="432762"/>
          </a:xfrm>
        </p:grpSpPr>
        <p:pic>
          <p:nvPicPr>
            <p:cNvPr id="1612" name="Google Shape;1612;p9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73356" y="2585252"/>
              <a:ext cx="164592" cy="2642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3" name="Google Shape;1613;p96"/>
            <p:cNvSpPr txBox="1"/>
            <p:nvPr/>
          </p:nvSpPr>
          <p:spPr>
            <a:xfrm>
              <a:off x="8732901" y="2828733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2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4" name="Google Shape;1614;p96"/>
          <p:cNvGrpSpPr/>
          <p:nvPr/>
        </p:nvGrpSpPr>
        <p:grpSpPr>
          <a:xfrm>
            <a:off x="15402530" y="4690674"/>
            <a:ext cx="772250" cy="720644"/>
            <a:chOff x="9130009" y="3113087"/>
            <a:chExt cx="463350" cy="432386"/>
          </a:xfrm>
        </p:grpSpPr>
        <p:pic>
          <p:nvPicPr>
            <p:cNvPr id="1615" name="Google Shape;1615;p9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270375" y="3113087"/>
              <a:ext cx="164592" cy="2691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6" name="Google Shape;1616;p96"/>
            <p:cNvSpPr txBox="1"/>
            <p:nvPr/>
          </p:nvSpPr>
          <p:spPr>
            <a:xfrm>
              <a:off x="9130009" y="3356192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3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7" name="Google Shape;1617;p96"/>
          <p:cNvGrpSpPr/>
          <p:nvPr/>
        </p:nvGrpSpPr>
        <p:grpSpPr>
          <a:xfrm>
            <a:off x="14919583" y="4690674"/>
            <a:ext cx="772250" cy="725944"/>
            <a:chOff x="8753528" y="3113087"/>
            <a:chExt cx="463350" cy="435566"/>
          </a:xfrm>
        </p:grpSpPr>
        <p:pic>
          <p:nvPicPr>
            <p:cNvPr id="1618" name="Google Shape;1618;p9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902907" y="3113087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9" name="Google Shape;1619;p96"/>
            <p:cNvSpPr txBox="1"/>
            <p:nvPr/>
          </p:nvSpPr>
          <p:spPr>
            <a:xfrm>
              <a:off x="8753528" y="3359372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3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0" name="Google Shape;1620;p96"/>
          <p:cNvSpPr/>
          <p:nvPr/>
        </p:nvSpPr>
        <p:spPr>
          <a:xfrm>
            <a:off x="6530803" y="4639620"/>
            <a:ext cx="3906345" cy="71628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96"/>
          <p:cNvSpPr/>
          <p:nvPr/>
        </p:nvSpPr>
        <p:spPr>
          <a:xfrm>
            <a:off x="6530803" y="6748398"/>
            <a:ext cx="3906345" cy="71628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96"/>
          <p:cNvSpPr/>
          <p:nvPr/>
        </p:nvSpPr>
        <p:spPr>
          <a:xfrm>
            <a:off x="12223906" y="4646250"/>
            <a:ext cx="3906345" cy="71628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96"/>
          <p:cNvSpPr/>
          <p:nvPr/>
        </p:nvSpPr>
        <p:spPr>
          <a:xfrm>
            <a:off x="12223906" y="3804825"/>
            <a:ext cx="3906345" cy="71628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4" name="Google Shape;1624;p96"/>
          <p:cNvGrpSpPr/>
          <p:nvPr/>
        </p:nvGrpSpPr>
        <p:grpSpPr>
          <a:xfrm>
            <a:off x="9789528" y="6792844"/>
            <a:ext cx="772250" cy="717557"/>
            <a:chOff x="5864687" y="4350740"/>
            <a:chExt cx="463350" cy="430534"/>
          </a:xfrm>
        </p:grpSpPr>
        <p:pic>
          <p:nvPicPr>
            <p:cNvPr id="1625" name="Google Shape;1625;p9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014066" y="4350740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6" name="Google Shape;1626;p96"/>
            <p:cNvSpPr txBox="1"/>
            <p:nvPr/>
          </p:nvSpPr>
          <p:spPr>
            <a:xfrm>
              <a:off x="5864687" y="4591993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1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7" name="Google Shape;1627;p96"/>
          <p:cNvGrpSpPr/>
          <p:nvPr/>
        </p:nvGrpSpPr>
        <p:grpSpPr>
          <a:xfrm>
            <a:off x="9302665" y="6792844"/>
            <a:ext cx="772250" cy="717557"/>
            <a:chOff x="5429650" y="4350740"/>
            <a:chExt cx="463350" cy="430534"/>
          </a:xfrm>
        </p:grpSpPr>
        <p:pic>
          <p:nvPicPr>
            <p:cNvPr id="1628" name="Google Shape;1628;p9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579029" y="4350740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9" name="Google Shape;1629;p96"/>
            <p:cNvSpPr txBox="1"/>
            <p:nvPr/>
          </p:nvSpPr>
          <p:spPr>
            <a:xfrm>
              <a:off x="5429650" y="4591993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1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0" name="Google Shape;1630;p96"/>
          <p:cNvGrpSpPr/>
          <p:nvPr/>
        </p:nvGrpSpPr>
        <p:grpSpPr>
          <a:xfrm>
            <a:off x="8815803" y="6805951"/>
            <a:ext cx="772250" cy="717557"/>
            <a:chOff x="5066340" y="4350740"/>
            <a:chExt cx="463350" cy="430534"/>
          </a:xfrm>
        </p:grpSpPr>
        <p:pic>
          <p:nvPicPr>
            <p:cNvPr id="1631" name="Google Shape;1631;p9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215719" y="4350740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2" name="Google Shape;1632;p96"/>
            <p:cNvSpPr txBox="1"/>
            <p:nvPr/>
          </p:nvSpPr>
          <p:spPr>
            <a:xfrm>
              <a:off x="5066340" y="4591993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1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3" name="Google Shape;1633;p96"/>
          <p:cNvGrpSpPr/>
          <p:nvPr/>
        </p:nvGrpSpPr>
        <p:grpSpPr>
          <a:xfrm>
            <a:off x="8328942" y="6805951"/>
            <a:ext cx="772250" cy="717557"/>
            <a:chOff x="4745585" y="4350740"/>
            <a:chExt cx="463350" cy="430534"/>
          </a:xfrm>
        </p:grpSpPr>
        <p:pic>
          <p:nvPicPr>
            <p:cNvPr id="1634" name="Google Shape;1634;p9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94964" y="4350740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5" name="Google Shape;1635;p96"/>
            <p:cNvSpPr txBox="1"/>
            <p:nvPr/>
          </p:nvSpPr>
          <p:spPr>
            <a:xfrm>
              <a:off x="4745585" y="4591993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1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6" name="Google Shape;1636;p96"/>
          <p:cNvGrpSpPr/>
          <p:nvPr/>
        </p:nvGrpSpPr>
        <p:grpSpPr>
          <a:xfrm>
            <a:off x="9810513" y="4678412"/>
            <a:ext cx="772250" cy="738465"/>
            <a:chOff x="5853629" y="3082082"/>
            <a:chExt cx="463350" cy="443079"/>
          </a:xfrm>
        </p:grpSpPr>
        <p:pic>
          <p:nvPicPr>
            <p:cNvPr id="1637" name="Google Shape;1637;p9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978468" y="3082082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8" name="Google Shape;1638;p96"/>
            <p:cNvSpPr txBox="1"/>
            <p:nvPr/>
          </p:nvSpPr>
          <p:spPr>
            <a:xfrm>
              <a:off x="5853629" y="3335880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2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9" name="Google Shape;1639;p96"/>
          <p:cNvGrpSpPr/>
          <p:nvPr/>
        </p:nvGrpSpPr>
        <p:grpSpPr>
          <a:xfrm>
            <a:off x="9321540" y="4678412"/>
            <a:ext cx="772250" cy="738465"/>
            <a:chOff x="5553648" y="3082082"/>
            <a:chExt cx="463350" cy="443079"/>
          </a:xfrm>
        </p:grpSpPr>
        <p:pic>
          <p:nvPicPr>
            <p:cNvPr id="1640" name="Google Shape;1640;p9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690651" y="3082082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1" name="Google Shape;1641;p96"/>
            <p:cNvSpPr txBox="1"/>
            <p:nvPr/>
          </p:nvSpPr>
          <p:spPr>
            <a:xfrm>
              <a:off x="5553648" y="3335880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2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2" name="Google Shape;1642;p96"/>
          <p:cNvGrpSpPr/>
          <p:nvPr/>
        </p:nvGrpSpPr>
        <p:grpSpPr>
          <a:xfrm>
            <a:off x="8832564" y="4678412"/>
            <a:ext cx="772250" cy="738465"/>
            <a:chOff x="5267208" y="3082082"/>
            <a:chExt cx="463350" cy="443079"/>
          </a:xfrm>
        </p:grpSpPr>
        <p:pic>
          <p:nvPicPr>
            <p:cNvPr id="1643" name="Google Shape;1643;p9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416730" y="3082082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4" name="Google Shape;1644;p96"/>
            <p:cNvSpPr txBox="1"/>
            <p:nvPr/>
          </p:nvSpPr>
          <p:spPr>
            <a:xfrm>
              <a:off x="5267208" y="3335880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3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5" name="Google Shape;1645;p96"/>
          <p:cNvGrpSpPr/>
          <p:nvPr/>
        </p:nvGrpSpPr>
        <p:grpSpPr>
          <a:xfrm>
            <a:off x="8343590" y="4678414"/>
            <a:ext cx="772250" cy="743764"/>
            <a:chOff x="4997124" y="3082082"/>
            <a:chExt cx="463350" cy="446258"/>
          </a:xfrm>
        </p:grpSpPr>
        <p:pic>
          <p:nvPicPr>
            <p:cNvPr id="1646" name="Google Shape;1646;p96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129346" y="3082082"/>
              <a:ext cx="168613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7" name="Google Shape;1647;p96"/>
            <p:cNvSpPr txBox="1"/>
            <p:nvPr/>
          </p:nvSpPr>
          <p:spPr>
            <a:xfrm>
              <a:off x="4997124" y="3339059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3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8" name="Google Shape;1648;p96"/>
          <p:cNvSpPr txBox="1"/>
          <p:nvPr/>
        </p:nvSpPr>
        <p:spPr>
          <a:xfrm>
            <a:off x="6360345" y="4203034"/>
            <a:ext cx="1540527" cy="36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DeepSpeech2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96"/>
          <p:cNvSpPr txBox="1"/>
          <p:nvPr/>
        </p:nvSpPr>
        <p:spPr>
          <a:xfrm>
            <a:off x="6384415" y="6396234"/>
            <a:ext cx="1540527" cy="36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Wave2Letter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96"/>
          <p:cNvSpPr txBox="1"/>
          <p:nvPr/>
        </p:nvSpPr>
        <p:spPr>
          <a:xfrm>
            <a:off x="6808583" y="3616399"/>
            <a:ext cx="3416590" cy="407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3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모델별 요청 대기열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96"/>
          <p:cNvSpPr/>
          <p:nvPr/>
        </p:nvSpPr>
        <p:spPr>
          <a:xfrm>
            <a:off x="12221846" y="7657047"/>
            <a:ext cx="3906345" cy="71628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2" name="Google Shape;1652;p96"/>
          <p:cNvGrpSpPr/>
          <p:nvPr/>
        </p:nvGrpSpPr>
        <p:grpSpPr>
          <a:xfrm>
            <a:off x="15493175" y="7696576"/>
            <a:ext cx="772250" cy="691964"/>
            <a:chOff x="9130009" y="4916627"/>
            <a:chExt cx="463350" cy="415178"/>
          </a:xfrm>
        </p:grpSpPr>
        <p:pic>
          <p:nvPicPr>
            <p:cNvPr id="1653" name="Google Shape;1653;p9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266612" y="4916627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4" name="Google Shape;1654;p96"/>
            <p:cNvSpPr txBox="1"/>
            <p:nvPr/>
          </p:nvSpPr>
          <p:spPr>
            <a:xfrm>
              <a:off x="9130009" y="5142524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1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5" name="Google Shape;1655;p96"/>
          <p:cNvGrpSpPr/>
          <p:nvPr/>
        </p:nvGrpSpPr>
        <p:grpSpPr>
          <a:xfrm>
            <a:off x="15061710" y="7696576"/>
            <a:ext cx="772250" cy="691964"/>
            <a:chOff x="8749778" y="4916627"/>
            <a:chExt cx="463350" cy="415178"/>
          </a:xfrm>
        </p:grpSpPr>
        <p:pic>
          <p:nvPicPr>
            <p:cNvPr id="1656" name="Google Shape;1656;p9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886381" y="4916627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7" name="Google Shape;1657;p96"/>
            <p:cNvSpPr txBox="1"/>
            <p:nvPr/>
          </p:nvSpPr>
          <p:spPr>
            <a:xfrm>
              <a:off x="8749778" y="5142524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1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8" name="Google Shape;1658;p96"/>
          <p:cNvGrpSpPr/>
          <p:nvPr/>
        </p:nvGrpSpPr>
        <p:grpSpPr>
          <a:xfrm>
            <a:off x="14630246" y="7696576"/>
            <a:ext cx="772250" cy="691964"/>
            <a:chOff x="8369547" y="4916627"/>
            <a:chExt cx="463350" cy="415178"/>
          </a:xfrm>
        </p:grpSpPr>
        <p:pic>
          <p:nvPicPr>
            <p:cNvPr id="1659" name="Google Shape;1659;p9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506150" y="4916627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0" name="Google Shape;1660;p96"/>
            <p:cNvSpPr txBox="1"/>
            <p:nvPr/>
          </p:nvSpPr>
          <p:spPr>
            <a:xfrm>
              <a:off x="8369547" y="5142524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1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1" name="Google Shape;1661;p96"/>
          <p:cNvGrpSpPr/>
          <p:nvPr/>
        </p:nvGrpSpPr>
        <p:grpSpPr>
          <a:xfrm>
            <a:off x="14198782" y="7696576"/>
            <a:ext cx="772250" cy="691964"/>
            <a:chOff x="7989316" y="4916627"/>
            <a:chExt cx="463350" cy="415178"/>
          </a:xfrm>
        </p:grpSpPr>
        <p:pic>
          <p:nvPicPr>
            <p:cNvPr id="1662" name="Google Shape;1662;p9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125919" y="4916627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3" name="Google Shape;1663;p96"/>
            <p:cNvSpPr txBox="1"/>
            <p:nvPr/>
          </p:nvSpPr>
          <p:spPr>
            <a:xfrm>
              <a:off x="7989316" y="5142524"/>
              <a:ext cx="463350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1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4" name="Google Shape;1664;p96"/>
          <p:cNvSpPr txBox="1"/>
          <p:nvPr/>
        </p:nvSpPr>
        <p:spPr>
          <a:xfrm>
            <a:off x="12057994" y="3479441"/>
            <a:ext cx="3231388" cy="36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DeepSpeech2 Sequence Batcher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96"/>
          <p:cNvSpPr txBox="1"/>
          <p:nvPr/>
        </p:nvSpPr>
        <p:spPr>
          <a:xfrm>
            <a:off x="12051504" y="6840656"/>
            <a:ext cx="3348168" cy="36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Wav2Letter Sequence Batcher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6" name="Google Shape;1666;p96"/>
          <p:cNvCxnSpPr>
            <a:stCxn id="1621" idx="3"/>
            <a:endCxn id="1651" idx="1"/>
          </p:cNvCxnSpPr>
          <p:nvPr/>
        </p:nvCxnSpPr>
        <p:spPr>
          <a:xfrm>
            <a:off x="10437148" y="7106538"/>
            <a:ext cx="1784700" cy="908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67" name="Google Shape;1667;p96"/>
          <p:cNvCxnSpPr>
            <a:stCxn id="1620" idx="3"/>
            <a:endCxn id="1622" idx="1"/>
          </p:cNvCxnSpPr>
          <p:nvPr/>
        </p:nvCxnSpPr>
        <p:spPr>
          <a:xfrm>
            <a:off x="10437148" y="4997760"/>
            <a:ext cx="1786800" cy="6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68" name="Google Shape;1668;p96"/>
          <p:cNvCxnSpPr>
            <a:stCxn id="1620" idx="3"/>
            <a:endCxn id="1623" idx="1"/>
          </p:cNvCxnSpPr>
          <p:nvPr/>
        </p:nvCxnSpPr>
        <p:spPr>
          <a:xfrm rot="10800000" flipH="1">
            <a:off x="10437148" y="4162860"/>
            <a:ext cx="1786800" cy="8349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669" name="Google Shape;1669;p96"/>
          <p:cNvGrpSpPr/>
          <p:nvPr/>
        </p:nvGrpSpPr>
        <p:grpSpPr>
          <a:xfrm>
            <a:off x="10224723" y="2213929"/>
            <a:ext cx="801130" cy="728842"/>
            <a:chOff x="6125804" y="1508797"/>
            <a:chExt cx="480678" cy="437305"/>
          </a:xfrm>
        </p:grpSpPr>
        <p:pic>
          <p:nvPicPr>
            <p:cNvPr id="1670" name="Google Shape;1670;p9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283847" y="1508797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1" name="Google Shape;1671;p96"/>
            <p:cNvSpPr txBox="1"/>
            <p:nvPr/>
          </p:nvSpPr>
          <p:spPr>
            <a:xfrm>
              <a:off x="6125804" y="1756821"/>
              <a:ext cx="480678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1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2" name="Google Shape;1672;p96"/>
          <p:cNvGrpSpPr/>
          <p:nvPr/>
        </p:nvGrpSpPr>
        <p:grpSpPr>
          <a:xfrm>
            <a:off x="9633988" y="2213929"/>
            <a:ext cx="801130" cy="728842"/>
            <a:chOff x="5783986" y="1508797"/>
            <a:chExt cx="480678" cy="437305"/>
          </a:xfrm>
        </p:grpSpPr>
        <p:pic>
          <p:nvPicPr>
            <p:cNvPr id="1673" name="Google Shape;1673;p9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942029" y="1508797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4" name="Google Shape;1674;p96"/>
            <p:cNvSpPr txBox="1"/>
            <p:nvPr/>
          </p:nvSpPr>
          <p:spPr>
            <a:xfrm>
              <a:off x="5783986" y="1756821"/>
              <a:ext cx="480678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1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5" name="Google Shape;1675;p96"/>
          <p:cNvGrpSpPr/>
          <p:nvPr/>
        </p:nvGrpSpPr>
        <p:grpSpPr>
          <a:xfrm>
            <a:off x="9043252" y="2213929"/>
            <a:ext cx="801130" cy="728842"/>
            <a:chOff x="5409776" y="1508797"/>
            <a:chExt cx="480678" cy="437305"/>
          </a:xfrm>
        </p:grpSpPr>
        <p:pic>
          <p:nvPicPr>
            <p:cNvPr id="1676" name="Google Shape;1676;p9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567819" y="1508797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7" name="Google Shape;1677;p96"/>
            <p:cNvSpPr txBox="1"/>
            <p:nvPr/>
          </p:nvSpPr>
          <p:spPr>
            <a:xfrm>
              <a:off x="5409776" y="1756821"/>
              <a:ext cx="480678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1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8" name="Google Shape;1678;p96"/>
          <p:cNvGrpSpPr/>
          <p:nvPr/>
        </p:nvGrpSpPr>
        <p:grpSpPr>
          <a:xfrm>
            <a:off x="8498322" y="2213929"/>
            <a:ext cx="755323" cy="728842"/>
            <a:chOff x="5089963" y="1508797"/>
            <a:chExt cx="453194" cy="437305"/>
          </a:xfrm>
        </p:grpSpPr>
        <p:pic>
          <p:nvPicPr>
            <p:cNvPr id="1679" name="Google Shape;1679;p9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234264" y="1508797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0" name="Google Shape;1680;p96"/>
            <p:cNvSpPr txBox="1"/>
            <p:nvPr/>
          </p:nvSpPr>
          <p:spPr>
            <a:xfrm>
              <a:off x="5089963" y="1756821"/>
              <a:ext cx="453194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1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1" name="Google Shape;1681;p96"/>
          <p:cNvGrpSpPr/>
          <p:nvPr/>
        </p:nvGrpSpPr>
        <p:grpSpPr>
          <a:xfrm>
            <a:off x="11181224" y="2213929"/>
            <a:ext cx="780793" cy="728842"/>
            <a:chOff x="6699705" y="1508797"/>
            <a:chExt cx="468476" cy="437305"/>
          </a:xfrm>
        </p:grpSpPr>
        <p:pic>
          <p:nvPicPr>
            <p:cNvPr id="1682" name="Google Shape;1682;p9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51647" y="1508797"/>
              <a:ext cx="164592" cy="2691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3" name="Google Shape;1683;p96"/>
            <p:cNvSpPr txBox="1"/>
            <p:nvPr/>
          </p:nvSpPr>
          <p:spPr>
            <a:xfrm>
              <a:off x="6699705" y="1756821"/>
              <a:ext cx="468476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2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4" name="Google Shape;1684;p96"/>
          <p:cNvGrpSpPr/>
          <p:nvPr/>
        </p:nvGrpSpPr>
        <p:grpSpPr>
          <a:xfrm>
            <a:off x="11722955" y="2213929"/>
            <a:ext cx="780793" cy="728842"/>
            <a:chOff x="7024743" y="1508797"/>
            <a:chExt cx="468476" cy="437305"/>
          </a:xfrm>
        </p:grpSpPr>
        <p:pic>
          <p:nvPicPr>
            <p:cNvPr id="1685" name="Google Shape;1685;p9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76685" y="1508797"/>
              <a:ext cx="164592" cy="2642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6" name="Google Shape;1686;p96"/>
            <p:cNvSpPr txBox="1"/>
            <p:nvPr/>
          </p:nvSpPr>
          <p:spPr>
            <a:xfrm>
              <a:off x="7024743" y="1756821"/>
              <a:ext cx="468476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2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7" name="Google Shape;1687;p96"/>
          <p:cNvGrpSpPr/>
          <p:nvPr/>
        </p:nvGrpSpPr>
        <p:grpSpPr>
          <a:xfrm>
            <a:off x="12264685" y="2213929"/>
            <a:ext cx="780793" cy="728842"/>
            <a:chOff x="7349781" y="1508797"/>
            <a:chExt cx="468476" cy="437305"/>
          </a:xfrm>
        </p:grpSpPr>
        <p:pic>
          <p:nvPicPr>
            <p:cNvPr id="1688" name="Google Shape;1688;p9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501723" y="1508797"/>
              <a:ext cx="164592" cy="2691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9" name="Google Shape;1689;p96"/>
            <p:cNvSpPr txBox="1"/>
            <p:nvPr/>
          </p:nvSpPr>
          <p:spPr>
            <a:xfrm>
              <a:off x="7349781" y="1756821"/>
              <a:ext cx="468476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3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0" name="Google Shape;1690;p96"/>
          <p:cNvGrpSpPr/>
          <p:nvPr/>
        </p:nvGrpSpPr>
        <p:grpSpPr>
          <a:xfrm>
            <a:off x="12806417" y="2213929"/>
            <a:ext cx="780793" cy="728842"/>
            <a:chOff x="7674820" y="1508797"/>
            <a:chExt cx="468476" cy="437305"/>
          </a:xfrm>
        </p:grpSpPr>
        <p:pic>
          <p:nvPicPr>
            <p:cNvPr id="1691" name="Google Shape;1691;p9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826762" y="1508797"/>
              <a:ext cx="164592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2" name="Google Shape;1692;p96"/>
            <p:cNvSpPr txBox="1"/>
            <p:nvPr/>
          </p:nvSpPr>
          <p:spPr>
            <a:xfrm>
              <a:off x="7674820" y="1756821"/>
              <a:ext cx="468476" cy="189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375" tIns="76150" rIns="152375" bIns="7615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67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Corr 3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3" name="Google Shape;1693;p96"/>
          <p:cNvSpPr/>
          <p:nvPr/>
        </p:nvSpPr>
        <p:spPr>
          <a:xfrm rot="10800000">
            <a:off x="10633981" y="3234583"/>
            <a:ext cx="746595" cy="300278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96"/>
          <p:cNvSpPr txBox="1"/>
          <p:nvPr/>
        </p:nvSpPr>
        <p:spPr>
          <a:xfrm>
            <a:off x="541254" y="3985566"/>
            <a:ext cx="5348863" cy="3952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새로운 스트리밍 API</a:t>
            </a:r>
            <a:endParaRPr sz="3333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910185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33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상관 관계 ID를 기반으로 오디오 요청이 시퀀스 배처의 해당 배치 슬롯에 전송됨*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8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2833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95" name="Google Shape;1695;p96"/>
          <p:cNvSpPr txBox="1"/>
          <p:nvPr/>
        </p:nvSpPr>
        <p:spPr>
          <a:xfrm>
            <a:off x="514979" y="8756625"/>
            <a:ext cx="3859425" cy="84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*요청의 올바른 순서는 엔드포인트에 진입 시 가정됨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참고: Corr = 상관 관계 ID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96"/>
          <p:cNvSpPr txBox="1"/>
          <p:nvPr/>
        </p:nvSpPr>
        <p:spPr>
          <a:xfrm>
            <a:off x="9284850" y="2863974"/>
            <a:ext cx="3416590" cy="43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추론 요청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96"/>
          <p:cNvSpPr/>
          <p:nvPr/>
        </p:nvSpPr>
        <p:spPr>
          <a:xfrm>
            <a:off x="12223906" y="5487676"/>
            <a:ext cx="3906345" cy="39454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96"/>
          <p:cNvSpPr/>
          <p:nvPr/>
        </p:nvSpPr>
        <p:spPr>
          <a:xfrm>
            <a:off x="12223906" y="6007368"/>
            <a:ext cx="3906345" cy="39454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96"/>
          <p:cNvSpPr/>
          <p:nvPr/>
        </p:nvSpPr>
        <p:spPr>
          <a:xfrm>
            <a:off x="12221846" y="7167594"/>
            <a:ext cx="3906345" cy="39454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96"/>
          <p:cNvSpPr/>
          <p:nvPr/>
        </p:nvSpPr>
        <p:spPr>
          <a:xfrm>
            <a:off x="12221846" y="8957689"/>
            <a:ext cx="3906345" cy="39454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96"/>
          <p:cNvSpPr/>
          <p:nvPr/>
        </p:nvSpPr>
        <p:spPr>
          <a:xfrm>
            <a:off x="12221846" y="8468236"/>
            <a:ext cx="3906345" cy="39454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96"/>
          <p:cNvSpPr/>
          <p:nvPr/>
        </p:nvSpPr>
        <p:spPr>
          <a:xfrm rot="5400000">
            <a:off x="16227445" y="6111113"/>
            <a:ext cx="746595" cy="300278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96"/>
          <p:cNvSpPr txBox="1"/>
          <p:nvPr/>
        </p:nvSpPr>
        <p:spPr>
          <a:xfrm>
            <a:off x="16616367" y="6306066"/>
            <a:ext cx="1682107" cy="984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프레임워크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추론 백엔드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96"/>
          <p:cNvSpPr/>
          <p:nvPr/>
        </p:nvSpPr>
        <p:spPr>
          <a:xfrm>
            <a:off x="14995080" y="3185678"/>
            <a:ext cx="622632" cy="609600"/>
          </a:xfrm>
          <a:prstGeom prst="star32">
            <a:avLst>
              <a:gd name="adj" fmla="val 375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0" tIns="76150" rIns="0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신규</a:t>
            </a:r>
            <a:endParaRPr sz="26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96"/>
          <p:cNvSpPr/>
          <p:nvPr/>
        </p:nvSpPr>
        <p:spPr>
          <a:xfrm>
            <a:off x="14978066" y="6570457"/>
            <a:ext cx="622632" cy="609600"/>
          </a:xfrm>
          <a:prstGeom prst="star32">
            <a:avLst>
              <a:gd name="adj" fmla="val 375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0" tIns="76150" rIns="0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신규</a:t>
            </a:r>
            <a:endParaRPr sz="26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96"/>
          <p:cNvSpPr/>
          <p:nvPr/>
        </p:nvSpPr>
        <p:spPr>
          <a:xfrm>
            <a:off x="8951729" y="4377331"/>
            <a:ext cx="414643" cy="61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96"/>
          <p:cNvSpPr/>
          <p:nvPr/>
        </p:nvSpPr>
        <p:spPr>
          <a:xfrm>
            <a:off x="8951729" y="4377331"/>
            <a:ext cx="414643" cy="61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97"/>
          <p:cNvSpPr txBox="1">
            <a:spLocks noGrp="1"/>
          </p:cNvSpPr>
          <p:nvPr>
            <p:ph type="title"/>
          </p:nvPr>
        </p:nvSpPr>
        <p:spPr>
          <a:xfrm>
            <a:off x="830580" y="1229044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모델 앙상블</a:t>
            </a:r>
            <a:endParaRPr/>
          </a:p>
        </p:txBody>
      </p:sp>
      <p:pic>
        <p:nvPicPr>
          <p:cNvPr id="1714" name="Google Shape;1714;p97" descr="https://lh5.googleusercontent.com/6q5EsGUh5stXemV8bYzvXvdQ9wIwQ6aDa3P0b8g45AM7Kx4tkiICoAXcQ8XofGzpLyGjEFNsLr0rBinHWeifFm7t4aYa8I1Y30-P2rQn4ailPa9NdJrTUhHQfBs4vWkzHWBXI2slTy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30" y="2213929"/>
            <a:ext cx="6336837" cy="7477743"/>
          </a:xfrm>
          <a:prstGeom prst="rect">
            <a:avLst/>
          </a:prstGeom>
          <a:noFill/>
          <a:ln>
            <a:noFill/>
          </a:ln>
        </p:spPr>
      </p:pic>
      <p:sp>
        <p:nvSpPr>
          <p:cNvPr id="1715" name="Google Shape;1715;p97"/>
          <p:cNvSpPr/>
          <p:nvPr/>
        </p:nvSpPr>
        <p:spPr>
          <a:xfrm>
            <a:off x="830580" y="3040097"/>
            <a:ext cx="9144000" cy="6155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spAutoFit/>
          </a:bodyPr>
          <a:lstStyle/>
          <a:p>
            <a:pPr marL="476259" marR="0" lvl="0" indent="-47625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하나 이상의 모델의 파이프라인과 그러한 모델 간의 입력 및 출력 텐서 연결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6259" marR="0" lvl="0" indent="-47625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데이터 사전 처리 → 추론 → 데이터 사후 처리와 같은 여러 모델의 데이터 흐름 또는 모델 스티칭에 사용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6259" marR="0" lvl="0" indent="-47625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각 단계에서 출력 텐서를 수집하고 이를 지정에 따라 다른 단계의 입력 텐서로 제공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6259" marR="0" lvl="0" indent="-47625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앙상블 모델은 관련 모델의 특성을 상속하므로 요청 헤더의 메타데이터가 앙상블 내의 모델을 준수해야 함</a:t>
            </a:r>
            <a:endParaRPr sz="30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98"/>
          <p:cNvSpPr txBox="1">
            <a:spLocks noGrp="1"/>
          </p:cNvSpPr>
          <p:nvPr>
            <p:ph type="title"/>
          </p:nvPr>
        </p:nvSpPr>
        <p:spPr>
          <a:xfrm>
            <a:off x="830580" y="479639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>
                <a:latin typeface="Courier New"/>
                <a:ea typeface="Courier New"/>
                <a:cs typeface="Courier New"/>
                <a:sym typeface="Courier New"/>
              </a:rPr>
              <a:t>perf_client TOOL</a:t>
            </a:r>
            <a:endParaRPr/>
          </a:p>
        </p:txBody>
      </p:sp>
      <p:pic>
        <p:nvPicPr>
          <p:cNvPr id="1721" name="Google Shape;1721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6983" y="1464524"/>
            <a:ext cx="10823168" cy="685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2" name="Google Shape;1722;p9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86982" y="4892980"/>
            <a:ext cx="6109062" cy="443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98"/>
          <p:cNvSpPr txBox="1"/>
          <p:nvPr/>
        </p:nvSpPr>
        <p:spPr>
          <a:xfrm>
            <a:off x="830580" y="2820714"/>
            <a:ext cx="5752600" cy="5964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spAutoFit/>
          </a:bodyPr>
          <a:lstStyle/>
          <a:p>
            <a:pPr marL="476259" marR="0" lvl="0" indent="-47625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다양한 클라이언트 부하에서 처리량(추론/초) 및 지연 시간 측정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6259" marR="0" lvl="0" indent="-4762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333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perf_client </a:t>
            </a: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모드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33527" marR="0" lvl="1" indent="-57151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AutoNum type="arabicPeriod"/>
            </a:pPr>
            <a:r>
              <a:rPr lang="en-US" sz="2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동시 미해결 요청 수를 지정하면 해당 수준에서 안정적인 지연 시간 및 처리량을 찾음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33527" marR="0" lvl="1" indent="-57151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AutoNum type="arabicPeriod"/>
            </a:pPr>
            <a:r>
              <a:rPr lang="en-US" sz="2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특정 지</a:t>
            </a:r>
            <a:r>
              <a:rPr lang="en-US"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연</a:t>
            </a:r>
            <a:r>
              <a:rPr lang="en-US" sz="2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시간 또는 동시 실행 제한에 도달할 때까지 요청 동시 실행을 늘려 처리량 대 지연 시간 곡선 생성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6259" marR="0" lvl="0" indent="-4762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결과의 CSV 출력을 포함하는 파일 생성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6259" marR="0" lvl="0" indent="-4762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en-US" sz="2333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처리량과 지연 시간 균형 조정을 시각화할 수 있는 손쉬운 단계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9" name="Google Shape;1729;p99" descr="A screenshot of a cell phone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77407" y="2613983"/>
            <a:ext cx="5619623" cy="710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0" name="Google Shape;1730;p9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0999" cy="1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Trebuchet MS"/>
              <a:buNone/>
            </a:pPr>
            <a:r>
              <a:rPr lang="en-US"/>
              <a:t>모든 CPU 워크로드 지원</a:t>
            </a:r>
            <a:endParaRPr/>
          </a:p>
        </p:txBody>
      </p:sp>
      <p:sp>
        <p:nvSpPr>
          <p:cNvPr id="1731" name="Google Shape;1731;p99"/>
          <p:cNvSpPr txBox="1">
            <a:spLocks noGrp="1"/>
          </p:cNvSpPr>
          <p:nvPr>
            <p:ph type="sldNum" idx="12"/>
          </p:nvPr>
        </p:nvSpPr>
        <p:spPr>
          <a:xfrm>
            <a:off x="16944916" y="9326433"/>
            <a:ext cx="1097500" cy="7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99</a:t>
            </a:fld>
            <a:endParaRPr/>
          </a:p>
        </p:txBody>
      </p:sp>
      <p:sp>
        <p:nvSpPr>
          <p:cNvPr id="1732" name="Google Shape;1732;p99"/>
          <p:cNvSpPr/>
          <p:nvPr/>
        </p:nvSpPr>
        <p:spPr>
          <a:xfrm>
            <a:off x="2588612" y="2035551"/>
            <a:ext cx="13110578" cy="2000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오늘 사용된 CPU 워크로드를 배포하고 Triton Inference Server 기능 활용(TRT 불필요)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99"/>
          <p:cNvSpPr/>
          <p:nvPr/>
        </p:nvSpPr>
        <p:spPr>
          <a:xfrm>
            <a:off x="1002083" y="3035823"/>
            <a:ext cx="10375725" cy="836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6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667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Triton은 프레임워크 백엔드(Tensorflow, Caffe2, PyTorch)에 의존하여 CPU에서 추론 요청을 실행함</a:t>
            </a:r>
            <a:endParaRPr sz="26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6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6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Intel MKL-DNN 라이브러리를 사용한 Tensorflow 및 Caffe2 CPU 최적화 지원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67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프레임워크 백엔드가 여러 CPU와 코어를 활용할 수 있음</a:t>
            </a:r>
            <a:br>
              <a:rPr lang="en-US" sz="26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6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667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Triton 기능 활용:</a:t>
            </a:r>
            <a:endParaRPr sz="26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6259" marR="0" lvl="0" indent="-47625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6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다중 모델 프레임워크 지원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6259" marR="0" lvl="0" indent="-47625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6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동적 배치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6259" marR="0" lvl="0" indent="-47625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6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맞춤형 백엔드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6259" marR="0" lvl="0" indent="-47625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6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모델 앙상블</a:t>
            </a:r>
            <a:endParaRPr sz="2667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76259" marR="0" lvl="0" indent="-47625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6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오디오 스트리밍 API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6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6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6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6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99"/>
          <p:cNvSpPr/>
          <p:nvPr/>
        </p:nvSpPr>
        <p:spPr>
          <a:xfrm>
            <a:off x="14287219" y="7361689"/>
            <a:ext cx="1294457" cy="70980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375" tIns="76150" rIns="152375" bIns="7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100"/>
          <p:cNvSpPr txBox="1"/>
          <p:nvPr/>
        </p:nvSpPr>
        <p:spPr>
          <a:xfrm>
            <a:off x="830580" y="-568798"/>
            <a:ext cx="16068000" cy="13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40" name="Google Shape;1740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47150" y="3181426"/>
            <a:ext cx="3167500" cy="3049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1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96475" y="5410102"/>
            <a:ext cx="4668850" cy="46687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100"/>
          <p:cNvSpPr txBox="1"/>
          <p:nvPr/>
        </p:nvSpPr>
        <p:spPr>
          <a:xfrm>
            <a:off x="0" y="9570000"/>
            <a:ext cx="13784999" cy="7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이 협업에 대한 자세한 설명과 단계별 지침은 이 </a:t>
            </a:r>
            <a:r>
              <a:rPr lang="en-US" sz="2000" u="sng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리포지토리</a:t>
            </a:r>
            <a:r>
              <a:rPr lang="en-US" sz="2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를 참조하십시오.</a:t>
            </a:r>
            <a:endParaRPr sz="2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43" name="Google Shape;1743;p100"/>
          <p:cNvSpPr txBox="1">
            <a:spLocks noGrp="1"/>
          </p:cNvSpPr>
          <p:nvPr>
            <p:ph type="title"/>
          </p:nvPr>
        </p:nvSpPr>
        <p:spPr>
          <a:xfrm>
            <a:off x="830580" y="1229044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</a:pPr>
            <a:r>
              <a:rPr lang="en-US"/>
              <a:t>TRT INFERENCE SERVER와 KUBEFLOW의 협업</a:t>
            </a:r>
            <a:endParaRPr/>
          </a:p>
        </p:txBody>
      </p:sp>
      <p:sp>
        <p:nvSpPr>
          <p:cNvPr id="1744" name="Google Shape;1744;p100"/>
          <p:cNvSpPr txBox="1">
            <a:spLocks noGrp="1"/>
          </p:cNvSpPr>
          <p:nvPr>
            <p:ph type="body" idx="1"/>
          </p:nvPr>
        </p:nvSpPr>
        <p:spPr>
          <a:xfrm>
            <a:off x="861250" y="2694771"/>
            <a:ext cx="12285901" cy="666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50" rIns="152375" bIns="761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333" b="1"/>
              <a:t>Kubeflow란 무엇인가?</a:t>
            </a:r>
            <a:endParaRPr/>
          </a:p>
          <a:p>
            <a:pPr marL="476259" lvl="0" indent="-476259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333"/>
              <a:t>Kubernetes에서 ML 워크플로우를 단순하고 이식 및 확장 가능하게 만드는 오픈소스 프로젝트</a:t>
            </a:r>
            <a:endParaRPr/>
          </a:p>
          <a:p>
            <a:pPr marL="476259" lvl="0" indent="-476259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333"/>
              <a:t>선택한 환경에 컨테이너를 배포할 수 있는 맞춤형 스크립트 및 구성 파일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</a:pPr>
            <a:r>
              <a:rPr lang="en-US" sz="2333" b="1"/>
              <a:t>해결되는 문제</a:t>
            </a:r>
            <a:endParaRPr/>
          </a:p>
          <a:p>
            <a:pPr marL="476259" lvl="0" indent="-476259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333"/>
              <a:t>대다수의 엔터프라이즈 데이터센터 및 멀티클라우드 환경에 맞는 ML 스택/파이프라인을 손쉽게 설정할 수 있음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</a:pPr>
            <a:r>
              <a:rPr lang="en-US" sz="2333" b="1"/>
              <a:t>Triton Inference Server에 어떤 도움이 되는가</a:t>
            </a:r>
            <a:endParaRPr/>
          </a:p>
          <a:p>
            <a:pPr marL="476259" lvl="0" indent="-476259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333"/>
              <a:t>Triton Inference Server는 프로덕션 워크플로우의 내부에 구성 요소로 배포되어 다음을 수행합니다.</a:t>
            </a:r>
            <a:endParaRPr/>
          </a:p>
          <a:p>
            <a:pPr marL="1428779" lvl="1" indent="-476259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333"/>
              <a:t>GPU 성능 최적화</a:t>
            </a:r>
            <a:endParaRPr/>
          </a:p>
          <a:p>
            <a:pPr marL="1428779" lvl="1" indent="-476259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333"/>
              <a:t>지표를 통한 자동 확장, 트래픽 로드 밸런싱, 리던던시/페일오버 활성화</a:t>
            </a:r>
            <a:endParaRPr sz="2333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101"/>
          <p:cNvSpPr txBox="1">
            <a:spLocks noGrp="1"/>
          </p:cNvSpPr>
          <p:nvPr>
            <p:ph type="title"/>
          </p:nvPr>
        </p:nvSpPr>
        <p:spPr>
          <a:xfrm>
            <a:off x="830580" y="1102043"/>
            <a:ext cx="166272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25" rIns="152375" bIns="7612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None/>
            </a:pPr>
            <a:r>
              <a:rPr lang="en-US"/>
              <a:t>TRITON INFERENCE SERVER HELM 차트</a:t>
            </a:r>
            <a:endParaRPr/>
          </a:p>
        </p:txBody>
      </p:sp>
      <p:sp>
        <p:nvSpPr>
          <p:cNvPr id="1750" name="Google Shape;1750;p101"/>
          <p:cNvSpPr txBox="1">
            <a:spLocks noGrp="1"/>
          </p:cNvSpPr>
          <p:nvPr>
            <p:ph type="body" idx="1"/>
          </p:nvPr>
        </p:nvSpPr>
        <p:spPr>
          <a:xfrm>
            <a:off x="780050" y="3215100"/>
            <a:ext cx="10580677" cy="6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25" rIns="152375" bIns="761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US" b="1"/>
              <a:t>Helm:</a:t>
            </a:r>
            <a:r>
              <a:rPr lang="en-US"/>
              <a:t> 가장 많이 사용되는 Kubernetes용 "패키지 관리자"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US"/>
              <a:t>NVIDIA에서는 Triton Inference Server에 대한 간단한 차트("패키지")를 작성했습니다.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US"/>
              <a:t>이 차트를 사용하여 서버의 인스턴스를 손쉽게 배포할 수 있습니다.</a:t>
            </a:r>
            <a:br>
              <a:rPr lang="en-US"/>
            </a:br>
            <a:r>
              <a:rPr lang="en-US"/>
              <a:t>또한 다른 이미지, 모델 스토어 등을 가리키도록 간편하게 구성할 수 있습니다.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2000"/>
              <a:buNone/>
            </a:pPr>
            <a:r>
              <a:rPr lang="en-US" sz="2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https://github.com/NVIDIA/tensorrt-inference-server/tree/b6b45ead074d57e3d18703b7c0273672c5e92893/deploy/single_server</a:t>
            </a:r>
            <a:endParaRPr/>
          </a:p>
        </p:txBody>
      </p:sp>
      <p:sp>
        <p:nvSpPr>
          <p:cNvPr id="1751" name="Google Shape;1751;p101"/>
          <p:cNvSpPr txBox="1">
            <a:spLocks noGrp="1"/>
          </p:cNvSpPr>
          <p:nvPr>
            <p:ph type="body" idx="2"/>
          </p:nvPr>
        </p:nvSpPr>
        <p:spPr>
          <a:xfrm>
            <a:off x="830580" y="1972222"/>
            <a:ext cx="16627200" cy="8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76125" rIns="152375" bIns="761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2400"/>
              <a:buNone/>
            </a:pPr>
            <a:r>
              <a:rPr lang="en-US" sz="2798"/>
              <a:t>NVIDIA Triton Inference Server의 단일 인스턴스를 설치하는 데 사용되는 간단한 Helm 차트</a:t>
            </a:r>
            <a:endParaRPr sz="2798"/>
          </a:p>
        </p:txBody>
      </p:sp>
      <p:pic>
        <p:nvPicPr>
          <p:cNvPr id="1752" name="Google Shape;1752;p1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8852" y="3538401"/>
            <a:ext cx="7129150" cy="4758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117F426D-15AE-4B66-9954-67D78196E29B}"/>
              </a:ext>
            </a:extLst>
          </p:cNvPr>
          <p:cNvSpPr/>
          <p:nvPr/>
        </p:nvSpPr>
        <p:spPr>
          <a:xfrm>
            <a:off x="6880123" y="1203106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102"/>
          <p:cNvSpPr txBox="1"/>
          <p:nvPr/>
        </p:nvSpPr>
        <p:spPr>
          <a:xfrm>
            <a:off x="7890840" y="1386578"/>
            <a:ext cx="8693721" cy="698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3부: 프로덕션 배포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강의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선택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트레이닝 후 최적화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제품 양자화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지식 증류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코드 효율성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서빙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rgbClr val="C785EA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C785EA"/>
                </a:solidFill>
                <a:latin typeface="Arial"/>
                <a:ea typeface="Arial"/>
                <a:cs typeface="Arial"/>
                <a:sym typeface="Arial"/>
              </a:rPr>
              <a:t>애플리케이션 구축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랩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내보내기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호스팅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서버 성능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사용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103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애플리케이션! = 단일 모델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104"/>
          <p:cNvSpPr txBox="1">
            <a:spLocks noGrp="1"/>
          </p:cNvSpPr>
          <p:nvPr>
            <p:ph type="title"/>
          </p:nvPr>
        </p:nvSpPr>
        <p:spPr>
          <a:xfrm>
            <a:off x="830580" y="868683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애플리케이션</a:t>
            </a:r>
            <a:endParaRPr/>
          </a:p>
        </p:txBody>
      </p:sp>
      <p:sp>
        <p:nvSpPr>
          <p:cNvPr id="1771" name="Google Shape;1771;p104"/>
          <p:cNvSpPr txBox="1"/>
          <p:nvPr/>
        </p:nvSpPr>
        <p:spPr>
          <a:xfrm>
            <a:off x="694575" y="1826267"/>
            <a:ext cx="16627200" cy="8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76150" rIns="152400" bIns="7615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1500"/>
              </a:spcAft>
              <a:buClr>
                <a:srgbClr val="CDCDCD"/>
              </a:buClr>
              <a:buSzPts val="2000"/>
              <a:buFont typeface="Trebuchet MS"/>
              <a:buNone/>
            </a:pPr>
            <a:r>
              <a:rPr lang="en-US" sz="3000" b="0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일반적으로 여러 구성 요소로 이루어짐</a:t>
            </a:r>
            <a:endParaRPr sz="3000" b="0">
              <a:solidFill>
                <a:srgbClr val="76B9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772" name="Google Shape;1772;p104"/>
          <p:cNvGrpSpPr/>
          <p:nvPr/>
        </p:nvGrpSpPr>
        <p:grpSpPr>
          <a:xfrm>
            <a:off x="2050349" y="2693321"/>
            <a:ext cx="14943788" cy="6715438"/>
            <a:chOff x="1755919" y="2017229"/>
            <a:chExt cx="14943788" cy="6715439"/>
          </a:xfrm>
        </p:grpSpPr>
        <p:pic>
          <p:nvPicPr>
            <p:cNvPr id="1773" name="Google Shape;1773;p10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630151" y="2017229"/>
              <a:ext cx="4069556" cy="671543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74" name="Google Shape;1774;p104"/>
            <p:cNvGrpSpPr/>
            <p:nvPr/>
          </p:nvGrpSpPr>
          <p:grpSpPr>
            <a:xfrm>
              <a:off x="1755919" y="2017229"/>
              <a:ext cx="14327400" cy="6709522"/>
              <a:chOff x="1755919" y="2017229"/>
              <a:chExt cx="14327400" cy="6709522"/>
            </a:xfrm>
          </p:grpSpPr>
          <p:pic>
            <p:nvPicPr>
              <p:cNvPr id="1775" name="Google Shape;1775;p10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4252194" y="2514090"/>
                <a:ext cx="1831125" cy="43439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6" name="Google Shape;1776;p10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3919020" y="2862105"/>
                <a:ext cx="1831125" cy="43439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7" name="Google Shape;1777;p10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3609131" y="3216912"/>
                <a:ext cx="1831125" cy="43439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8" name="Google Shape;1778;p10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3275959" y="3564927"/>
                <a:ext cx="1831125" cy="43439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9" name="Google Shape;1779;p10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2957834" y="3930461"/>
                <a:ext cx="1831125" cy="43439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0" name="Google Shape;1780;p104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117692" y="2017229"/>
                <a:ext cx="6847994" cy="41114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1" name="Google Shape;1781;p104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5084198" y="6516211"/>
                <a:ext cx="6872768" cy="22105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2" name="Google Shape;1782;p104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786216" y="3627305"/>
                <a:ext cx="1228052" cy="10256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3" name="Google Shape;1783;p104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3136859" y="4608990"/>
                <a:ext cx="999627" cy="6078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4" name="Google Shape;1784;p104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5425358" y="4543445"/>
                <a:ext cx="1213079" cy="7598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5" name="Google Shape;1785;p104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930922" y="4533011"/>
                <a:ext cx="1213079" cy="7598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6" name="Google Shape;1786;p104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10454261" y="4543445"/>
                <a:ext cx="1213079" cy="7598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7" name="Google Shape;1787;p104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10454260" y="2867467"/>
                <a:ext cx="1213079" cy="7598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8" name="Google Shape;1788;p104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9474833" y="7140486"/>
                <a:ext cx="1873044" cy="76259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9" name="Google Shape;1789;p104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5728332" y="7140486"/>
                <a:ext cx="1873044" cy="76259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0" name="Google Shape;1790;p104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786214" y="6192761"/>
                <a:ext cx="1228052" cy="10256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1" name="Google Shape;1791;p104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13277536" y="4530716"/>
                <a:ext cx="1213079" cy="7598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2" name="Google Shape;1792;p104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13277536" y="7130036"/>
                <a:ext cx="1213079" cy="75983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793" name="Google Shape;1793;p104"/>
              <p:cNvCxnSpPr>
                <a:stCxn id="1783" idx="3"/>
              </p:cNvCxnSpPr>
              <p:nvPr/>
            </p:nvCxnSpPr>
            <p:spPr>
              <a:xfrm rot="10800000" flipH="1">
                <a:off x="4136486" y="4910530"/>
                <a:ext cx="1223100" cy="2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C8C8C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cxnSp>
          <p:cxnSp>
            <p:nvCxnSpPr>
              <p:cNvPr id="1794" name="Google Shape;1794;p104"/>
              <p:cNvCxnSpPr/>
              <p:nvPr/>
            </p:nvCxnSpPr>
            <p:spPr>
              <a:xfrm rot="10800000" flipH="1">
                <a:off x="6644056" y="4910635"/>
                <a:ext cx="1223114" cy="2297"/>
              </a:xfrm>
              <a:prstGeom prst="straightConnector1">
                <a:avLst/>
              </a:prstGeom>
              <a:noFill/>
              <a:ln w="9525" cap="flat" cmpd="sng">
                <a:solidFill>
                  <a:srgbClr val="8C8C8C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cxnSp>
          <p:cxnSp>
            <p:nvCxnSpPr>
              <p:cNvPr id="1795" name="Google Shape;1795;p104"/>
              <p:cNvCxnSpPr/>
              <p:nvPr/>
            </p:nvCxnSpPr>
            <p:spPr>
              <a:xfrm rot="10800000" flipH="1">
                <a:off x="9156040" y="4910635"/>
                <a:ext cx="1223114" cy="2297"/>
              </a:xfrm>
              <a:prstGeom prst="straightConnector1">
                <a:avLst/>
              </a:prstGeom>
              <a:noFill/>
              <a:ln w="9525" cap="flat" cmpd="sng">
                <a:solidFill>
                  <a:srgbClr val="8C8C8C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cxnSp>
          <p:cxnSp>
            <p:nvCxnSpPr>
              <p:cNvPr id="1796" name="Google Shape;1796;p104"/>
              <p:cNvCxnSpPr/>
              <p:nvPr/>
            </p:nvCxnSpPr>
            <p:spPr>
              <a:xfrm rot="10800000" flipH="1">
                <a:off x="11681812" y="4921067"/>
                <a:ext cx="1223114" cy="2297"/>
              </a:xfrm>
              <a:prstGeom prst="straightConnector1">
                <a:avLst/>
              </a:prstGeom>
              <a:noFill/>
              <a:ln w="9525" cap="flat" cmpd="sng">
                <a:solidFill>
                  <a:srgbClr val="8C8C8C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cxnSp>
          <p:cxnSp>
            <p:nvCxnSpPr>
              <p:cNvPr id="1797" name="Google Shape;1797;p104"/>
              <p:cNvCxnSpPr/>
              <p:nvPr/>
            </p:nvCxnSpPr>
            <p:spPr>
              <a:xfrm>
                <a:off x="11388821" y="3627305"/>
                <a:ext cx="0" cy="858516"/>
              </a:xfrm>
              <a:prstGeom prst="straightConnector1">
                <a:avLst/>
              </a:prstGeom>
              <a:noFill/>
              <a:ln w="9525" cap="flat" cmpd="sng">
                <a:solidFill>
                  <a:srgbClr val="8C8C8C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cxnSp>
          <p:cxnSp>
            <p:nvCxnSpPr>
              <p:cNvPr id="1798" name="Google Shape;1798;p104"/>
              <p:cNvCxnSpPr/>
              <p:nvPr/>
            </p:nvCxnSpPr>
            <p:spPr>
              <a:xfrm rot="10800000">
                <a:off x="10765529" y="3684929"/>
                <a:ext cx="0" cy="858516"/>
              </a:xfrm>
              <a:prstGeom prst="straightConnector1">
                <a:avLst/>
              </a:prstGeom>
              <a:noFill/>
              <a:ln w="9525" cap="flat" cmpd="sng">
                <a:solidFill>
                  <a:srgbClr val="8C8C8C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cxnSp>
          <p:cxnSp>
            <p:nvCxnSpPr>
              <p:cNvPr id="1799" name="Google Shape;1799;p104"/>
              <p:cNvCxnSpPr/>
              <p:nvPr/>
            </p:nvCxnSpPr>
            <p:spPr>
              <a:xfrm>
                <a:off x="13884073" y="5290554"/>
                <a:ext cx="0" cy="1756494"/>
              </a:xfrm>
              <a:prstGeom prst="straightConnector1">
                <a:avLst/>
              </a:prstGeom>
              <a:noFill/>
              <a:ln w="9525" cap="flat" cmpd="sng">
                <a:solidFill>
                  <a:srgbClr val="8C8C8C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cxnSp>
          <p:cxnSp>
            <p:nvCxnSpPr>
              <p:cNvPr id="1800" name="Google Shape;1800;p104"/>
              <p:cNvCxnSpPr/>
              <p:nvPr/>
            </p:nvCxnSpPr>
            <p:spPr>
              <a:xfrm rot="10800000">
                <a:off x="11431787" y="7477988"/>
                <a:ext cx="184075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C8C8C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cxnSp>
          <p:cxnSp>
            <p:nvCxnSpPr>
              <p:cNvPr id="1801" name="Google Shape;1801;p104"/>
              <p:cNvCxnSpPr/>
              <p:nvPr/>
            </p:nvCxnSpPr>
            <p:spPr>
              <a:xfrm rot="10800000">
                <a:off x="7693820" y="7506650"/>
                <a:ext cx="178101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C8C8C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cxnSp>
          <p:cxnSp>
            <p:nvCxnSpPr>
              <p:cNvPr id="1802" name="Google Shape;1802;p104"/>
              <p:cNvCxnSpPr/>
              <p:nvPr/>
            </p:nvCxnSpPr>
            <p:spPr>
              <a:xfrm rot="10800000">
                <a:off x="4227185" y="7506650"/>
                <a:ext cx="1501148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C8C8C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cxnSp>
          <p:sp>
            <p:nvSpPr>
              <p:cNvPr id="1803" name="Google Shape;1803;p104"/>
              <p:cNvSpPr txBox="1"/>
              <p:nvPr/>
            </p:nvSpPr>
            <p:spPr>
              <a:xfrm>
                <a:off x="3320912" y="5447056"/>
                <a:ext cx="546945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오디오</a:t>
                </a:r>
                <a:endParaRPr/>
              </a:p>
            </p:txBody>
          </p:sp>
          <p:sp>
            <p:nvSpPr>
              <p:cNvPr id="1804" name="Google Shape;1804;p104"/>
              <p:cNvSpPr txBox="1"/>
              <p:nvPr/>
            </p:nvSpPr>
            <p:spPr>
              <a:xfrm>
                <a:off x="5306877" y="5443334"/>
                <a:ext cx="1393330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특징 추출</a:t>
                </a:r>
                <a:endParaRPr/>
              </a:p>
            </p:txBody>
          </p:sp>
          <p:sp>
            <p:nvSpPr>
              <p:cNvPr id="1805" name="Google Shape;1805;p104"/>
              <p:cNvSpPr txBox="1"/>
              <p:nvPr/>
            </p:nvSpPr>
            <p:spPr>
              <a:xfrm>
                <a:off x="7930555" y="5449588"/>
                <a:ext cx="1151277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음향 모델</a:t>
                </a:r>
                <a:endParaRPr/>
              </a:p>
            </p:txBody>
          </p:sp>
          <p:sp>
            <p:nvSpPr>
              <p:cNvPr id="1806" name="Google Shape;1806;p104"/>
              <p:cNvSpPr txBox="1"/>
              <p:nvPr/>
            </p:nvSpPr>
            <p:spPr>
              <a:xfrm>
                <a:off x="10663747" y="5455839"/>
                <a:ext cx="715260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디코더</a:t>
                </a:r>
                <a:endParaRPr/>
              </a:p>
            </p:txBody>
          </p:sp>
          <p:sp>
            <p:nvSpPr>
              <p:cNvPr id="1807" name="Google Shape;1807;p104"/>
              <p:cNvSpPr txBox="1"/>
              <p:nvPr/>
            </p:nvSpPr>
            <p:spPr>
              <a:xfrm>
                <a:off x="10411923" y="2451527"/>
                <a:ext cx="1213794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언어 모델</a:t>
                </a:r>
                <a:endParaRPr/>
              </a:p>
            </p:txBody>
          </p:sp>
          <p:sp>
            <p:nvSpPr>
              <p:cNvPr id="1808" name="Google Shape;1808;p104"/>
              <p:cNvSpPr txBox="1"/>
              <p:nvPr/>
            </p:nvSpPr>
            <p:spPr>
              <a:xfrm>
                <a:off x="13102867" y="4119487"/>
                <a:ext cx="1479892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기계 번역</a:t>
                </a:r>
                <a:endParaRPr/>
              </a:p>
            </p:txBody>
          </p:sp>
          <p:sp>
            <p:nvSpPr>
              <p:cNvPr id="1809" name="Google Shape;1809;p104"/>
              <p:cNvSpPr txBox="1"/>
              <p:nvPr/>
            </p:nvSpPr>
            <p:spPr>
              <a:xfrm>
                <a:off x="13638333" y="3630206"/>
                <a:ext cx="1039067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쿼리 검색</a:t>
                </a:r>
                <a:endParaRPr/>
              </a:p>
            </p:txBody>
          </p:sp>
          <p:sp>
            <p:nvSpPr>
              <p:cNvPr id="1810" name="Google Shape;1810;p104"/>
              <p:cNvSpPr txBox="1"/>
              <p:nvPr/>
            </p:nvSpPr>
            <p:spPr>
              <a:xfrm>
                <a:off x="14009334" y="3248936"/>
                <a:ext cx="952505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자동 수정</a:t>
                </a:r>
                <a:endParaRPr/>
              </a:p>
            </p:txBody>
          </p:sp>
          <p:sp>
            <p:nvSpPr>
              <p:cNvPr id="1811" name="Google Shape;1811;p104"/>
              <p:cNvSpPr txBox="1"/>
              <p:nvPr/>
            </p:nvSpPr>
            <p:spPr>
              <a:xfrm>
                <a:off x="14277598" y="2910104"/>
                <a:ext cx="1039067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비주얼 검색</a:t>
                </a:r>
                <a:endParaRPr/>
              </a:p>
            </p:txBody>
          </p:sp>
          <p:sp>
            <p:nvSpPr>
              <p:cNvPr id="1812" name="Google Shape;1812;p104"/>
              <p:cNvSpPr txBox="1"/>
              <p:nvPr/>
            </p:nvSpPr>
            <p:spPr>
              <a:xfrm>
                <a:off x="14542309" y="2544581"/>
                <a:ext cx="1159292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검색 순위</a:t>
                </a:r>
                <a:endParaRPr/>
              </a:p>
            </p:txBody>
          </p:sp>
          <p:sp>
            <p:nvSpPr>
              <p:cNvPr id="1813" name="Google Shape;1813;p104"/>
              <p:cNvSpPr txBox="1"/>
              <p:nvPr/>
            </p:nvSpPr>
            <p:spPr>
              <a:xfrm>
                <a:off x="9738422" y="8038723"/>
                <a:ext cx="1274708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음성 합성</a:t>
                </a:r>
                <a:endParaRPr/>
              </a:p>
            </p:txBody>
          </p:sp>
          <p:sp>
            <p:nvSpPr>
              <p:cNvPr id="1814" name="Google Shape;1814;p104"/>
              <p:cNvSpPr txBox="1"/>
              <p:nvPr/>
            </p:nvSpPr>
            <p:spPr>
              <a:xfrm>
                <a:off x="6086034" y="8039843"/>
                <a:ext cx="1101584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음성 인코더</a:t>
                </a:r>
                <a:endParaRPr/>
              </a:p>
            </p:txBody>
          </p:sp>
          <p:sp>
            <p:nvSpPr>
              <p:cNvPr id="1815" name="Google Shape;1815;p104"/>
              <p:cNvSpPr txBox="1"/>
              <p:nvPr/>
            </p:nvSpPr>
            <p:spPr>
              <a:xfrm>
                <a:off x="3320107" y="8037368"/>
                <a:ext cx="546945" cy="265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오디오</a:t>
                </a:r>
                <a:endParaRPr/>
              </a:p>
            </p:txBody>
          </p:sp>
          <p:sp>
            <p:nvSpPr>
              <p:cNvPr id="1816" name="Google Shape;1816;p104"/>
              <p:cNvSpPr txBox="1"/>
              <p:nvPr/>
            </p:nvSpPr>
            <p:spPr>
              <a:xfrm>
                <a:off x="8215255" y="2037539"/>
                <a:ext cx="598241" cy="3924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950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ASR</a:t>
                </a:r>
                <a:endParaRPr/>
              </a:p>
            </p:txBody>
          </p:sp>
          <p:sp>
            <p:nvSpPr>
              <p:cNvPr id="1817" name="Google Shape;1817;p104"/>
              <p:cNvSpPr txBox="1"/>
              <p:nvPr/>
            </p:nvSpPr>
            <p:spPr>
              <a:xfrm>
                <a:off x="8217030" y="6516351"/>
                <a:ext cx="596638" cy="3924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950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TTS</a:t>
                </a:r>
                <a:endParaRPr/>
              </a:p>
            </p:txBody>
          </p:sp>
          <p:sp>
            <p:nvSpPr>
              <p:cNvPr id="1818" name="Google Shape;1818;p104"/>
              <p:cNvSpPr txBox="1"/>
              <p:nvPr/>
            </p:nvSpPr>
            <p:spPr>
              <a:xfrm>
                <a:off x="14332441" y="2035752"/>
                <a:ext cx="633507" cy="3924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950">
                    <a:solidFill>
                      <a:srgbClr val="8C8C8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NLU</a:t>
                </a:r>
                <a:endParaRPr/>
              </a:p>
            </p:txBody>
          </p:sp>
          <p:pic>
            <p:nvPicPr>
              <p:cNvPr id="1819" name="Google Shape;1819;p104"/>
              <p:cNvPicPr preferRelativeResize="0"/>
              <p:nvPr/>
            </p:nvPicPr>
            <p:blipFill rotWithShape="1">
              <a:blip r:embed="rId11">
                <a:alphaModFix/>
              </a:blip>
              <a:srcRect/>
              <a:stretch/>
            </p:blipFill>
            <p:spPr>
              <a:xfrm>
                <a:off x="1893875" y="6510837"/>
                <a:ext cx="1067021" cy="46682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0" name="Google Shape;1820;p104"/>
              <p:cNvSpPr txBox="1"/>
              <p:nvPr/>
            </p:nvSpPr>
            <p:spPr>
              <a:xfrm>
                <a:off x="1755919" y="3786016"/>
                <a:ext cx="1303562" cy="3924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75" i="1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"중국 설은 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75" i="1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며칠입니까?”</a:t>
                </a:r>
                <a:endParaRPr/>
              </a:p>
            </p:txBody>
          </p:sp>
          <p:pic>
            <p:nvPicPr>
              <p:cNvPr id="1821" name="Google Shape;1821;p104"/>
              <p:cNvPicPr preferRelativeResize="0"/>
              <p:nvPr/>
            </p:nvPicPr>
            <p:blipFill rotWithShape="1">
              <a:blip r:embed="rId12">
                <a:alphaModFix/>
              </a:blip>
              <a:srcRect/>
              <a:stretch/>
            </p:blipFill>
            <p:spPr>
              <a:xfrm>
                <a:off x="2942218" y="7181884"/>
                <a:ext cx="1243013" cy="6429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2" name="Google Shape;1822;p104"/>
              <p:cNvPicPr preferRelativeResize="0"/>
              <p:nvPr/>
            </p:nvPicPr>
            <p:blipFill rotWithShape="1">
              <a:blip r:embed="rId13">
                <a:alphaModFix/>
              </a:blip>
              <a:srcRect/>
              <a:stretch/>
            </p:blipFill>
            <p:spPr>
              <a:xfrm>
                <a:off x="5645249" y="4600603"/>
                <a:ext cx="791835" cy="63606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3" name="Google Shape;1823;p104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>
                <a:off x="8120802" y="4580390"/>
                <a:ext cx="845424" cy="6604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4" name="Google Shape;1824;p104"/>
              <p:cNvPicPr preferRelativeResize="0"/>
              <p:nvPr/>
            </p:nvPicPr>
            <p:blipFill rotWithShape="1">
              <a:blip r:embed="rId15">
                <a:alphaModFix/>
              </a:blip>
              <a:srcRect/>
              <a:stretch/>
            </p:blipFill>
            <p:spPr>
              <a:xfrm>
                <a:off x="10491742" y="4673567"/>
                <a:ext cx="1137161" cy="495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5" name="Google Shape;1825;p104"/>
              <p:cNvPicPr preferRelativeResize="0"/>
              <p:nvPr/>
            </p:nvPicPr>
            <p:blipFill rotWithShape="1">
              <a:blip r:embed="rId16">
                <a:alphaModFix/>
              </a:blip>
              <a:srcRect/>
              <a:stretch/>
            </p:blipFill>
            <p:spPr>
              <a:xfrm>
                <a:off x="10699617" y="2925885"/>
                <a:ext cx="721407" cy="6558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6" name="Google Shape;1826;p104"/>
              <p:cNvPicPr preferRelativeResize="0"/>
              <p:nvPr/>
            </p:nvPicPr>
            <p:blipFill rotWithShape="1">
              <a:blip r:embed="rId17">
                <a:alphaModFix/>
              </a:blip>
              <a:srcRect/>
              <a:stretch/>
            </p:blipFill>
            <p:spPr>
              <a:xfrm>
                <a:off x="9830498" y="7173106"/>
                <a:ext cx="1199420" cy="6678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7" name="Google Shape;1827;p104"/>
              <p:cNvPicPr preferRelativeResize="0"/>
              <p:nvPr/>
            </p:nvPicPr>
            <p:blipFill rotWithShape="1">
              <a:blip r:embed="rId18">
                <a:alphaModFix/>
              </a:blip>
              <a:srcRect/>
              <a:stretch/>
            </p:blipFill>
            <p:spPr>
              <a:xfrm>
                <a:off x="5914280" y="7205035"/>
                <a:ext cx="1501148" cy="63206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8" name="Google Shape;1828;p104"/>
              <p:cNvPicPr preferRelativeResize="0"/>
              <p:nvPr/>
            </p:nvPicPr>
            <p:blipFill rotWithShape="1">
              <a:blip r:embed="rId15">
                <a:alphaModFix/>
              </a:blip>
              <a:srcRect/>
              <a:stretch/>
            </p:blipFill>
            <p:spPr>
              <a:xfrm>
                <a:off x="13315325" y="4662521"/>
                <a:ext cx="1137161" cy="495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9" name="Google Shape;1829;p104"/>
              <p:cNvPicPr preferRelativeResize="0"/>
              <p:nvPr/>
            </p:nvPicPr>
            <p:blipFill rotWithShape="1">
              <a:blip r:embed="rId15">
                <a:alphaModFix/>
              </a:blip>
              <a:srcRect/>
              <a:stretch/>
            </p:blipFill>
            <p:spPr>
              <a:xfrm>
                <a:off x="13315325" y="7267223"/>
                <a:ext cx="1137161" cy="495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105"/>
          <p:cNvSpPr txBox="1">
            <a:spLocks noGrp="1"/>
          </p:cNvSpPr>
          <p:nvPr>
            <p:ph type="title"/>
          </p:nvPr>
        </p:nvSpPr>
        <p:spPr>
          <a:xfrm>
            <a:off x="8290560" y="7040881"/>
            <a:ext cx="8961120" cy="228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Riva</a:t>
            </a:r>
            <a:endParaRPr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106"/>
          <p:cNvSpPr txBox="1">
            <a:spLocks noGrp="1"/>
          </p:cNvSpPr>
          <p:nvPr>
            <p:ph type="title"/>
          </p:nvPr>
        </p:nvSpPr>
        <p:spPr>
          <a:xfrm>
            <a:off x="830580" y="868683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F3F3F"/>
                </a:solidFill>
              </a:rPr>
              <a:t>NVIDIA Riva</a:t>
            </a:r>
            <a:endParaRPr dirty="0"/>
          </a:p>
        </p:txBody>
      </p:sp>
      <p:sp>
        <p:nvSpPr>
          <p:cNvPr id="1841" name="Google Shape;1841;p106"/>
          <p:cNvSpPr txBox="1">
            <a:spLocks noGrp="1"/>
          </p:cNvSpPr>
          <p:nvPr>
            <p:ph type="body" idx="2"/>
          </p:nvPr>
        </p:nvSpPr>
        <p:spPr>
          <a:xfrm>
            <a:off x="830580" y="1813562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rebuchet MS"/>
              <a:buNone/>
            </a:pPr>
            <a:r>
              <a:rPr lang="en-US"/>
              <a:t>멀티모달 대화형 AI 서비스를 위한 완전히 가속화된 프레임워크</a:t>
            </a:r>
            <a:endParaRPr b="1"/>
          </a:p>
        </p:txBody>
      </p:sp>
      <p:sp>
        <p:nvSpPr>
          <p:cNvPr id="1842" name="Google Shape;1842;p106"/>
          <p:cNvSpPr txBox="1"/>
          <p:nvPr/>
        </p:nvSpPr>
        <p:spPr>
          <a:xfrm>
            <a:off x="548004" y="7247811"/>
            <a:ext cx="7866905" cy="2456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엔드 투 엔드 멀티모달 대화형 AI 서비스​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사전 트레이닝된 SOTA 모델 - DGX 100,000시간 ​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NeMo​를 사용한 재트레이닝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인터랙티브 응답 – A100에서 150밀리초 대 CPU에서 25초​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하나의 코드 행으로 서비스 배포</a:t>
            </a:r>
            <a:endParaRPr/>
          </a:p>
        </p:txBody>
      </p:sp>
      <p:pic>
        <p:nvPicPr>
          <p:cNvPr id="1843" name="Google Shape;1843;p106" descr="A group of people sitting at a table  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44041" y="3897106"/>
            <a:ext cx="3703320" cy="3227402"/>
          </a:xfrm>
          <a:prstGeom prst="rect">
            <a:avLst/>
          </a:prstGeom>
          <a:noFill/>
          <a:ln>
            <a:noFill/>
          </a:ln>
        </p:spPr>
      </p:pic>
      <p:sp>
        <p:nvSpPr>
          <p:cNvPr id="1844" name="Google Shape;1844;p106"/>
          <p:cNvSpPr txBox="1"/>
          <p:nvPr/>
        </p:nvSpPr>
        <p:spPr>
          <a:xfrm>
            <a:off x="4481458" y="3532224"/>
            <a:ext cx="2794078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재트레이닝</a:t>
            </a:r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845" name="Google Shape;1845;p106"/>
          <p:cNvCxnSpPr/>
          <p:nvPr/>
        </p:nvCxnSpPr>
        <p:spPr>
          <a:xfrm>
            <a:off x="3793394" y="5243662"/>
            <a:ext cx="457445" cy="2"/>
          </a:xfrm>
          <a:prstGeom prst="straightConnector1">
            <a:avLst/>
          </a:prstGeom>
          <a:noFill/>
          <a:ln w="9525" cap="flat" cmpd="sng">
            <a:solidFill>
              <a:srgbClr val="5B5B5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6" name="Google Shape;1846;p106"/>
          <p:cNvCxnSpPr/>
          <p:nvPr/>
        </p:nvCxnSpPr>
        <p:spPr>
          <a:xfrm>
            <a:off x="7415933" y="5178042"/>
            <a:ext cx="457445" cy="2"/>
          </a:xfrm>
          <a:prstGeom prst="straightConnector1">
            <a:avLst/>
          </a:prstGeom>
          <a:noFill/>
          <a:ln w="9525" cap="flat" cmpd="sng">
            <a:solidFill>
              <a:srgbClr val="5B5B5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7" name="Google Shape;1847;p106"/>
          <p:cNvCxnSpPr/>
          <p:nvPr/>
        </p:nvCxnSpPr>
        <p:spPr>
          <a:xfrm>
            <a:off x="12814109" y="6803776"/>
            <a:ext cx="1076168" cy="2"/>
          </a:xfrm>
          <a:prstGeom prst="straightConnector1">
            <a:avLst/>
          </a:prstGeom>
          <a:noFill/>
          <a:ln w="9525" cap="flat" cmpd="sng">
            <a:solidFill>
              <a:srgbClr val="5B5B5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8" name="Google Shape;1848;p106"/>
          <p:cNvCxnSpPr/>
          <p:nvPr/>
        </p:nvCxnSpPr>
        <p:spPr>
          <a:xfrm flipH="1">
            <a:off x="12866603" y="4600579"/>
            <a:ext cx="944930" cy="3"/>
          </a:xfrm>
          <a:prstGeom prst="straightConnector1">
            <a:avLst/>
          </a:prstGeom>
          <a:noFill/>
          <a:ln w="9525" cap="flat" cmpd="sng">
            <a:solidFill>
              <a:srgbClr val="5B5B5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9" name="Google Shape;1849;p106"/>
          <p:cNvCxnSpPr/>
          <p:nvPr/>
        </p:nvCxnSpPr>
        <p:spPr>
          <a:xfrm flipH="1">
            <a:off x="12879726" y="5465117"/>
            <a:ext cx="944930" cy="3"/>
          </a:xfrm>
          <a:prstGeom prst="straightConnector1">
            <a:avLst/>
          </a:prstGeom>
          <a:noFill/>
          <a:ln w="9525" cap="flat" cmpd="sng">
            <a:solidFill>
              <a:srgbClr val="5B5B5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50" name="Google Shape;1850;p106"/>
          <p:cNvSpPr txBox="1"/>
          <p:nvPr/>
        </p:nvSpPr>
        <p:spPr>
          <a:xfrm>
            <a:off x="13035578" y="4304536"/>
            <a:ext cx="64793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비디오</a:t>
            </a:r>
            <a:endParaRPr/>
          </a:p>
        </p:txBody>
      </p:sp>
      <p:sp>
        <p:nvSpPr>
          <p:cNvPr id="1851" name="Google Shape;1851;p106"/>
          <p:cNvSpPr txBox="1"/>
          <p:nvPr/>
        </p:nvSpPr>
        <p:spPr>
          <a:xfrm>
            <a:off x="13035578" y="4816376"/>
            <a:ext cx="655949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오디오</a:t>
            </a:r>
            <a:endParaRPr/>
          </a:p>
        </p:txBody>
      </p:sp>
      <p:sp>
        <p:nvSpPr>
          <p:cNvPr id="1852" name="Google Shape;1852;p106"/>
          <p:cNvSpPr txBox="1"/>
          <p:nvPr/>
        </p:nvSpPr>
        <p:spPr>
          <a:xfrm>
            <a:off x="12759974" y="6171903"/>
            <a:ext cx="1497098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다중 화자</a:t>
            </a:r>
            <a:endParaRPr sz="15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전사</a:t>
            </a:r>
            <a:endParaRPr sz="15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853" name="Google Shape;1853;p106"/>
          <p:cNvGrpSpPr/>
          <p:nvPr/>
        </p:nvGrpSpPr>
        <p:grpSpPr>
          <a:xfrm>
            <a:off x="671633" y="3897177"/>
            <a:ext cx="3049000" cy="2976537"/>
            <a:chOff x="4808884" y="6635197"/>
            <a:chExt cx="5401319" cy="5272913"/>
          </a:xfrm>
        </p:grpSpPr>
        <p:sp>
          <p:nvSpPr>
            <p:cNvPr id="1854" name="Google Shape;1854;p106"/>
            <p:cNvSpPr/>
            <p:nvPr/>
          </p:nvSpPr>
          <p:spPr>
            <a:xfrm>
              <a:off x="4808884" y="6635197"/>
              <a:ext cx="5401319" cy="5272913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55" name="Google Shape;1855;p106"/>
            <p:cNvGrpSpPr/>
            <p:nvPr/>
          </p:nvGrpSpPr>
          <p:grpSpPr>
            <a:xfrm>
              <a:off x="5541375" y="7198727"/>
              <a:ext cx="3671231" cy="3571905"/>
              <a:chOff x="5477634" y="6717214"/>
              <a:chExt cx="4949323" cy="4815420"/>
            </a:xfrm>
          </p:grpSpPr>
          <p:pic>
            <p:nvPicPr>
              <p:cNvPr id="1856" name="Google Shape;1856;p106" descr="A picture containing drawing  Description automatically generated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277062" y="10422390"/>
                <a:ext cx="1149895" cy="11102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57" name="Google Shape;1857;p106" descr="A picture containing drawing  Description automatically generated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480939" y="10422390"/>
                <a:ext cx="1149895" cy="11102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58" name="Google Shape;1858;p106" descr="A picture containing food  Description automatically generated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9277062" y="8545177"/>
                <a:ext cx="1149895" cy="11829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59" name="Google Shape;1859;p106" descr="A close up of a logo  Description automatically generated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310401" y="8799608"/>
                <a:ext cx="1282067" cy="6740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60" name="Google Shape;1860;p106" descr="A close up of a logo  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5477634" y="8458602"/>
                <a:ext cx="1156504" cy="12093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61" name="Google Shape;1861;p106" descr="A close up of a logo  Description automatically generated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5497460" y="6774560"/>
                <a:ext cx="1116852" cy="10904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62" name="Google Shape;1862;p106" descr="A close up of a logo  Description automatically generated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7350052" y="6786506"/>
                <a:ext cx="1202764" cy="11102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63" name="Google Shape;1863;p106" descr="A close up of a logo  Description automatically generated"/>
              <p:cNvPicPr preferRelativeResize="0"/>
              <p:nvPr/>
            </p:nvPicPr>
            <p:blipFill rotWithShape="1">
              <a:blip r:embed="rId11">
                <a:alphaModFix/>
              </a:blip>
              <a:srcRect/>
              <a:stretch/>
            </p:blipFill>
            <p:spPr>
              <a:xfrm>
                <a:off x="9306801" y="6717214"/>
                <a:ext cx="1090417" cy="10904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64" name="Google Shape;1864;p106" descr="A picture containing drawing  Description automatically generated"/>
              <p:cNvPicPr preferRelativeResize="0"/>
              <p:nvPr/>
            </p:nvPicPr>
            <p:blipFill rotWithShape="1">
              <a:blip r:embed="rId12">
                <a:alphaModFix/>
              </a:blip>
              <a:srcRect/>
              <a:stretch/>
            </p:blipFill>
            <p:spPr>
              <a:xfrm>
                <a:off x="7376487" y="10422390"/>
                <a:ext cx="1149895" cy="11102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65" name="Google Shape;1865;p106"/>
            <p:cNvSpPr txBox="1"/>
            <p:nvPr/>
          </p:nvSpPr>
          <p:spPr>
            <a:xfrm flipH="1">
              <a:off x="5136015" y="11147911"/>
              <a:ext cx="4748319" cy="642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NVIDIA GPU Cloud</a:t>
              </a:r>
              <a:endParaRPr/>
            </a:p>
          </p:txBody>
        </p:sp>
      </p:grpSp>
      <p:sp>
        <p:nvSpPr>
          <p:cNvPr id="1866" name="Google Shape;1866;p106"/>
          <p:cNvSpPr/>
          <p:nvPr/>
        </p:nvSpPr>
        <p:spPr>
          <a:xfrm>
            <a:off x="4324259" y="3897179"/>
            <a:ext cx="3047398" cy="2974963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106"/>
          <p:cNvSpPr txBox="1"/>
          <p:nvPr/>
        </p:nvSpPr>
        <p:spPr>
          <a:xfrm flipH="1">
            <a:off x="4442684" y="6418675"/>
            <a:ext cx="2846753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NVIDIA AI 툴킷</a:t>
            </a:r>
            <a:endParaRPr/>
          </a:p>
        </p:txBody>
      </p:sp>
      <p:sp>
        <p:nvSpPr>
          <p:cNvPr id="1868" name="Google Shape;1868;p106"/>
          <p:cNvSpPr/>
          <p:nvPr/>
        </p:nvSpPr>
        <p:spPr>
          <a:xfrm>
            <a:off x="4458577" y="4018150"/>
            <a:ext cx="2776377" cy="687537"/>
          </a:xfrm>
          <a:prstGeom prst="rect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전이 학습(Transfer Learning)</a:t>
            </a:r>
            <a:endParaRPr/>
          </a:p>
        </p:txBody>
      </p:sp>
      <p:sp>
        <p:nvSpPr>
          <p:cNvPr id="1869" name="Google Shape;1869;p106"/>
          <p:cNvSpPr/>
          <p:nvPr/>
        </p:nvSpPr>
        <p:spPr>
          <a:xfrm>
            <a:off x="4458577" y="4852203"/>
            <a:ext cx="2776377" cy="687537"/>
          </a:xfrm>
          <a:prstGeom prst="rect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NeMo</a:t>
            </a:r>
            <a:endParaRPr/>
          </a:p>
        </p:txBody>
      </p:sp>
      <p:sp>
        <p:nvSpPr>
          <p:cNvPr id="1870" name="Google Shape;1870;p106"/>
          <p:cNvSpPr/>
          <p:nvPr/>
        </p:nvSpPr>
        <p:spPr>
          <a:xfrm>
            <a:off x="4458577" y="5686252"/>
            <a:ext cx="2776377" cy="687537"/>
          </a:xfrm>
          <a:prstGeom prst="rect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Service Maker</a:t>
            </a:r>
            <a:endParaRPr/>
          </a:p>
        </p:txBody>
      </p:sp>
      <p:sp>
        <p:nvSpPr>
          <p:cNvPr id="1871" name="Google Shape;1871;p106"/>
          <p:cNvSpPr/>
          <p:nvPr/>
        </p:nvSpPr>
        <p:spPr>
          <a:xfrm>
            <a:off x="7951293" y="3192103"/>
            <a:ext cx="4790830" cy="421833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106"/>
          <p:cNvSpPr/>
          <p:nvPr/>
        </p:nvSpPr>
        <p:spPr>
          <a:xfrm>
            <a:off x="7951293" y="7490453"/>
            <a:ext cx="4790830" cy="457537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Triton Inference Server</a:t>
            </a:r>
            <a:endParaRPr/>
          </a:p>
        </p:txBody>
      </p:sp>
      <p:sp>
        <p:nvSpPr>
          <p:cNvPr id="1873" name="Google Shape;1873;p106"/>
          <p:cNvSpPr/>
          <p:nvPr/>
        </p:nvSpPr>
        <p:spPr>
          <a:xfrm>
            <a:off x="8093632" y="3315835"/>
            <a:ext cx="4522477" cy="637913"/>
          </a:xfrm>
          <a:prstGeom prst="rect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74" name="Google Shape;1874;p106"/>
          <p:cNvSpPr txBox="1"/>
          <p:nvPr/>
        </p:nvSpPr>
        <p:spPr>
          <a:xfrm flipH="1">
            <a:off x="9249304" y="3465979"/>
            <a:ext cx="2138275" cy="36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Dialog Manager</a:t>
            </a:r>
            <a:endParaRPr/>
          </a:p>
        </p:txBody>
      </p:sp>
      <p:sp>
        <p:nvSpPr>
          <p:cNvPr id="1875" name="Google Shape;1875;p106"/>
          <p:cNvSpPr/>
          <p:nvPr/>
        </p:nvSpPr>
        <p:spPr>
          <a:xfrm>
            <a:off x="9222169" y="4167091"/>
            <a:ext cx="1086293" cy="627085"/>
          </a:xfrm>
          <a:prstGeom prst="rect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챗봇</a:t>
            </a:r>
            <a:endParaRPr/>
          </a:p>
        </p:txBody>
      </p:sp>
      <p:sp>
        <p:nvSpPr>
          <p:cNvPr id="1876" name="Google Shape;1876;p106"/>
          <p:cNvSpPr/>
          <p:nvPr/>
        </p:nvSpPr>
        <p:spPr>
          <a:xfrm>
            <a:off x="8000147" y="4169706"/>
            <a:ext cx="1142590" cy="627085"/>
          </a:xfrm>
          <a:prstGeom prst="rect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다중 화자 전사</a:t>
            </a:r>
            <a:endParaRPr/>
          </a:p>
        </p:txBody>
      </p:sp>
      <p:sp>
        <p:nvSpPr>
          <p:cNvPr id="1877" name="Google Shape;1877;p106"/>
          <p:cNvSpPr/>
          <p:nvPr/>
        </p:nvSpPr>
        <p:spPr>
          <a:xfrm>
            <a:off x="11546344" y="4166046"/>
            <a:ext cx="1086293" cy="653668"/>
          </a:xfrm>
          <a:prstGeom prst="rect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Look to Talk</a:t>
            </a:r>
            <a:endParaRPr/>
          </a:p>
        </p:txBody>
      </p:sp>
      <p:sp>
        <p:nvSpPr>
          <p:cNvPr id="1878" name="Google Shape;1878;p106"/>
          <p:cNvSpPr/>
          <p:nvPr/>
        </p:nvSpPr>
        <p:spPr>
          <a:xfrm>
            <a:off x="10384257" y="4166989"/>
            <a:ext cx="1086293" cy="627085"/>
          </a:xfrm>
          <a:prstGeom prst="rect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제스처 인식</a:t>
            </a:r>
            <a:endParaRPr/>
          </a:p>
        </p:txBody>
      </p:sp>
      <p:sp>
        <p:nvSpPr>
          <p:cNvPr id="1879" name="Google Shape;1879;p106"/>
          <p:cNvSpPr/>
          <p:nvPr/>
        </p:nvSpPr>
        <p:spPr>
          <a:xfrm>
            <a:off x="8653978" y="4964477"/>
            <a:ext cx="3740978" cy="1983917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80" name="Google Shape;1880;p106"/>
          <p:cNvSpPr/>
          <p:nvPr/>
        </p:nvSpPr>
        <p:spPr>
          <a:xfrm>
            <a:off x="8438260" y="5202503"/>
            <a:ext cx="3786910" cy="1940168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81" name="Google Shape;1881;p106"/>
          <p:cNvSpPr/>
          <p:nvPr/>
        </p:nvSpPr>
        <p:spPr>
          <a:xfrm>
            <a:off x="8272969" y="5450840"/>
            <a:ext cx="3765702" cy="1790183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82" name="Google Shape;1882;p10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318441" y="5844095"/>
            <a:ext cx="515012" cy="4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3" name="Google Shape;1883;p10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223755" y="5952673"/>
            <a:ext cx="679243" cy="29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4" name="Google Shape;1884;p106" descr="A close up of a logo  Description automatically generated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322857" y="5870218"/>
            <a:ext cx="448090" cy="358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5" name="Google Shape;1885;p10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143624" y="6588179"/>
            <a:ext cx="681123" cy="381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6" name="Google Shape;1886;p106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1166262" y="6621850"/>
            <a:ext cx="739980" cy="309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7" name="Google Shape;1887;p10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182249" y="6626790"/>
            <a:ext cx="687875" cy="2983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8" name="Google Shape;1888;p106"/>
          <p:cNvCxnSpPr/>
          <p:nvPr/>
        </p:nvCxnSpPr>
        <p:spPr>
          <a:xfrm>
            <a:off x="9526183" y="6379300"/>
            <a:ext cx="0" cy="173603"/>
          </a:xfrm>
          <a:prstGeom prst="straightConnector1">
            <a:avLst/>
          </a:prstGeom>
          <a:noFill/>
          <a:ln w="12700" cap="flat" cmpd="dbl">
            <a:solidFill>
              <a:srgbClr val="3F3F3F"/>
            </a:solidFill>
            <a:prstDash val="solid"/>
            <a:round/>
            <a:headEnd type="none" w="lg" len="lg"/>
            <a:tailEnd type="triangle" w="sm" len="sm"/>
          </a:ln>
        </p:spPr>
      </p:cxnSp>
      <p:cxnSp>
        <p:nvCxnSpPr>
          <p:cNvPr id="1889" name="Google Shape;1889;p106"/>
          <p:cNvCxnSpPr/>
          <p:nvPr/>
        </p:nvCxnSpPr>
        <p:spPr>
          <a:xfrm>
            <a:off x="8992094" y="6205455"/>
            <a:ext cx="147172" cy="0"/>
          </a:xfrm>
          <a:prstGeom prst="straightConnector1">
            <a:avLst/>
          </a:prstGeom>
          <a:noFill/>
          <a:ln w="12700" cap="flat" cmpd="dbl">
            <a:solidFill>
              <a:srgbClr val="3F3F3F"/>
            </a:solidFill>
            <a:prstDash val="solid"/>
            <a:round/>
            <a:headEnd type="none" w="lg" len="lg"/>
            <a:tailEnd type="triangle" w="sm" len="sm"/>
          </a:ln>
        </p:spPr>
      </p:cxnSp>
      <p:cxnSp>
        <p:nvCxnSpPr>
          <p:cNvPr id="1890" name="Google Shape;1890;p106"/>
          <p:cNvCxnSpPr/>
          <p:nvPr/>
        </p:nvCxnSpPr>
        <p:spPr>
          <a:xfrm rot="10800000">
            <a:off x="9978404" y="6105498"/>
            <a:ext cx="147172" cy="0"/>
          </a:xfrm>
          <a:prstGeom prst="straightConnector1">
            <a:avLst/>
          </a:prstGeom>
          <a:noFill/>
          <a:ln w="12700" cap="flat" cmpd="dbl">
            <a:solidFill>
              <a:srgbClr val="3F3F3F"/>
            </a:solidFill>
            <a:prstDash val="solid"/>
            <a:round/>
            <a:headEnd type="none" w="lg" len="lg"/>
            <a:tailEnd type="triangle" w="sm" len="sm"/>
          </a:ln>
        </p:spPr>
      </p:cxnSp>
      <p:pic>
        <p:nvPicPr>
          <p:cNvPr id="1891" name="Google Shape;1891;p106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455311" y="5866312"/>
            <a:ext cx="488198" cy="4418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2" name="Google Shape;1892;p106"/>
          <p:cNvCxnSpPr/>
          <p:nvPr/>
        </p:nvCxnSpPr>
        <p:spPr>
          <a:xfrm rot="10800000">
            <a:off x="8992094" y="6047343"/>
            <a:ext cx="147172" cy="0"/>
          </a:xfrm>
          <a:prstGeom prst="straightConnector1">
            <a:avLst/>
          </a:prstGeom>
          <a:noFill/>
          <a:ln w="19050" cap="flat" cmpd="dbl">
            <a:solidFill>
              <a:srgbClr val="3F3F3F"/>
            </a:solidFill>
            <a:prstDash val="solid"/>
            <a:round/>
            <a:headEnd type="none" w="lg" len="lg"/>
            <a:tailEnd type="triangle" w="sm" len="sm"/>
          </a:ln>
        </p:spPr>
      </p:cxnSp>
      <p:cxnSp>
        <p:nvCxnSpPr>
          <p:cNvPr id="1893" name="Google Shape;1893;p106"/>
          <p:cNvCxnSpPr/>
          <p:nvPr/>
        </p:nvCxnSpPr>
        <p:spPr>
          <a:xfrm rot="10800000">
            <a:off x="10980349" y="6077738"/>
            <a:ext cx="147172" cy="0"/>
          </a:xfrm>
          <a:prstGeom prst="straightConnector1">
            <a:avLst/>
          </a:prstGeom>
          <a:noFill/>
          <a:ln w="12700" cap="flat" cmpd="dbl">
            <a:solidFill>
              <a:srgbClr val="3F3F3F"/>
            </a:solidFill>
            <a:prstDash val="solid"/>
            <a:round/>
            <a:headEnd type="none" w="lg" len="lg"/>
            <a:tailEnd type="triangle" w="sm" len="sm"/>
          </a:ln>
        </p:spPr>
      </p:cxnSp>
      <p:cxnSp>
        <p:nvCxnSpPr>
          <p:cNvPr id="1894" name="Google Shape;1894;p106"/>
          <p:cNvCxnSpPr/>
          <p:nvPr/>
        </p:nvCxnSpPr>
        <p:spPr>
          <a:xfrm>
            <a:off x="9978404" y="6765088"/>
            <a:ext cx="147172" cy="0"/>
          </a:xfrm>
          <a:prstGeom prst="straightConnector1">
            <a:avLst/>
          </a:prstGeom>
          <a:noFill/>
          <a:ln w="12700" cap="flat" cmpd="dbl">
            <a:solidFill>
              <a:srgbClr val="3F3F3F"/>
            </a:solidFill>
            <a:prstDash val="solid"/>
            <a:round/>
            <a:headEnd type="none" w="lg" len="lg"/>
            <a:tailEnd type="triangle" w="sm" len="sm"/>
          </a:ln>
        </p:spPr>
      </p:cxnSp>
      <p:cxnSp>
        <p:nvCxnSpPr>
          <p:cNvPr id="1895" name="Google Shape;1895;p106"/>
          <p:cNvCxnSpPr/>
          <p:nvPr/>
        </p:nvCxnSpPr>
        <p:spPr>
          <a:xfrm>
            <a:off x="10950689" y="6765088"/>
            <a:ext cx="147172" cy="0"/>
          </a:xfrm>
          <a:prstGeom prst="straightConnector1">
            <a:avLst/>
          </a:prstGeom>
          <a:noFill/>
          <a:ln w="12700" cap="flat" cmpd="dbl">
            <a:solidFill>
              <a:srgbClr val="3F3F3F"/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1896" name="Google Shape;1896;p106"/>
          <p:cNvSpPr txBox="1"/>
          <p:nvPr/>
        </p:nvSpPr>
        <p:spPr>
          <a:xfrm flipH="1">
            <a:off x="8229044" y="5473035"/>
            <a:ext cx="1268708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음성</a:t>
            </a:r>
            <a:endParaRPr/>
          </a:p>
        </p:txBody>
      </p:sp>
      <p:sp>
        <p:nvSpPr>
          <p:cNvPr id="1897" name="Google Shape;1897;p106"/>
          <p:cNvSpPr txBox="1"/>
          <p:nvPr/>
        </p:nvSpPr>
        <p:spPr>
          <a:xfrm flipH="1">
            <a:off x="8407168" y="5183720"/>
            <a:ext cx="1268708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비전</a:t>
            </a:r>
            <a:endParaRPr/>
          </a:p>
        </p:txBody>
      </p:sp>
      <p:sp>
        <p:nvSpPr>
          <p:cNvPr id="1898" name="Google Shape;1898;p106"/>
          <p:cNvSpPr txBox="1"/>
          <p:nvPr/>
        </p:nvSpPr>
        <p:spPr>
          <a:xfrm flipH="1">
            <a:off x="8645996" y="4936885"/>
            <a:ext cx="1268708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NLU</a:t>
            </a:r>
            <a:endParaRPr/>
          </a:p>
        </p:txBody>
      </p:sp>
      <p:sp>
        <p:nvSpPr>
          <p:cNvPr id="1899" name="Google Shape;1899;p106"/>
          <p:cNvSpPr txBox="1"/>
          <p:nvPr/>
        </p:nvSpPr>
        <p:spPr>
          <a:xfrm>
            <a:off x="8527888" y="2731989"/>
            <a:ext cx="3233077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Riva</a:t>
            </a:r>
            <a:endParaRPr dirty="0"/>
          </a:p>
        </p:txBody>
      </p:sp>
      <p:sp>
        <p:nvSpPr>
          <p:cNvPr id="1900" name="Google Shape;1900;p106"/>
          <p:cNvSpPr txBox="1"/>
          <p:nvPr/>
        </p:nvSpPr>
        <p:spPr>
          <a:xfrm>
            <a:off x="11648996" y="8396536"/>
            <a:ext cx="6171268" cy="715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얼리</a:t>
            </a:r>
            <a:r>
              <a:rPr lang="en-US" sz="24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액세스를</a:t>
            </a:r>
            <a:r>
              <a:rPr lang="en-US" sz="24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위해</a:t>
            </a:r>
            <a:r>
              <a:rPr lang="en-US" sz="24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등록하기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https://developer.nvidia.com/nvidia-Riva</a:t>
            </a:r>
            <a:endParaRPr sz="21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107"/>
          <p:cNvSpPr txBox="1">
            <a:spLocks noGrp="1"/>
          </p:cNvSpPr>
          <p:nvPr>
            <p:ph type="title"/>
          </p:nvPr>
        </p:nvSpPr>
        <p:spPr>
          <a:xfrm>
            <a:off x="830580" y="868683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25" tIns="68550" rIns="137125" bIns="6855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사전 트레이닝된 모델 및 AI 툴킷</a:t>
            </a:r>
            <a:endParaRPr/>
          </a:p>
        </p:txBody>
      </p:sp>
      <p:sp>
        <p:nvSpPr>
          <p:cNvPr id="1907" name="Google Shape;1907;p107"/>
          <p:cNvSpPr txBox="1">
            <a:spLocks noGrp="1"/>
          </p:cNvSpPr>
          <p:nvPr>
            <p:ph type="body" idx="2"/>
          </p:nvPr>
        </p:nvSpPr>
        <p:spPr>
          <a:xfrm>
            <a:off x="830580" y="1813562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rebuchet MS"/>
              <a:buNone/>
            </a:pP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데이터에 대해 SOTA 모델을 트레이닝해 해당 분야 및 전문 영역 이해 </a:t>
            </a:r>
            <a:endParaRPr/>
          </a:p>
        </p:txBody>
      </p:sp>
      <p:sp>
        <p:nvSpPr>
          <p:cNvPr id="1908" name="Google Shape;1908;p107"/>
          <p:cNvSpPr txBox="1"/>
          <p:nvPr/>
        </p:nvSpPr>
        <p:spPr>
          <a:xfrm>
            <a:off x="368899" y="4179742"/>
            <a:ext cx="7392502" cy="276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NGC의</a:t>
            </a: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100개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이상의</a:t>
            </a: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사전</a:t>
            </a: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트레이닝된</a:t>
            </a: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모델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DGX™에서</a:t>
            </a: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100,000시간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이상</a:t>
            </a: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트레이닝된</a:t>
            </a: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SOTA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모델</a:t>
            </a:r>
            <a:endParaRPr dirty="0"/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Gulim" panose="020B0600000101010101" pitchFamily="34" charset="-127"/>
              </a:rPr>
              <a:t>NeMo </a:t>
            </a:r>
            <a:r>
              <a:rPr lang="ko-KR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</a:rPr>
              <a:t>및</a:t>
            </a:r>
            <a:r>
              <a:rPr lang="en-US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Gulim" panose="020B0600000101010101" pitchFamily="34" charset="-127"/>
              </a:rPr>
              <a:t> </a:t>
            </a:r>
            <a:r>
              <a:rPr lang="en-US" sz="1800" dirty="0">
                <a:solidFill>
                  <a:srgbClr val="201F1E"/>
                </a:solidFill>
                <a:effectLst/>
                <a:latin typeface="Malgun Gothic" panose="020B0503020000020004" pitchFamily="34" charset="-127"/>
                <a:ea typeface="Gulim" panose="020B0600000101010101" pitchFamily="34" charset="-127"/>
              </a:rPr>
              <a:t>TAO</a:t>
            </a:r>
            <a:r>
              <a:rPr lang="en-US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Gulim" panose="020B0600000101010101" pitchFamily="34" charset="-127"/>
              </a:rPr>
              <a:t> </a:t>
            </a:r>
            <a:r>
              <a:rPr lang="ko-KR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</a:rPr>
              <a:t>툴킷을</a:t>
            </a:r>
            <a:r>
              <a:rPr lang="en-US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Gulim" panose="020B0600000101010101" pitchFamily="34" charset="-127"/>
              </a:rPr>
              <a:t> </a:t>
            </a:r>
            <a:r>
              <a:rPr lang="ko-KR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</a:rPr>
              <a:t>사용해</a:t>
            </a:r>
            <a:r>
              <a:rPr lang="en-US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Gulim" panose="020B0600000101010101" pitchFamily="34" charset="-127"/>
              </a:rPr>
              <a:t> </a:t>
            </a:r>
            <a:r>
              <a:rPr lang="ko-KR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</a:rPr>
              <a:t>해당</a:t>
            </a:r>
            <a:r>
              <a:rPr lang="en-US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Gulim" panose="020B0600000101010101" pitchFamily="34" charset="-127"/>
              </a:rPr>
              <a:t> </a:t>
            </a:r>
            <a:r>
              <a:rPr lang="ko-KR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</a:rPr>
              <a:t>분야에</a:t>
            </a:r>
            <a:r>
              <a:rPr lang="en-US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Gulim" panose="020B0600000101010101" pitchFamily="34" charset="-127"/>
              </a:rPr>
              <a:t> </a:t>
            </a:r>
            <a:r>
              <a:rPr lang="ko-KR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</a:rPr>
              <a:t>대해</a:t>
            </a:r>
            <a:r>
              <a:rPr lang="en-US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Gulim" panose="020B0600000101010101" pitchFamily="34" charset="-127"/>
              </a:rPr>
              <a:t> </a:t>
            </a:r>
            <a:r>
              <a:rPr lang="ko-KR" sz="1800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</a:rPr>
              <a:t>재트레이닝</a:t>
            </a:r>
            <a:endParaRPr lang="en-US" sz="1800" dirty="0">
              <a:effectLst/>
              <a:latin typeface="Calibri" panose="020F0502020204030204" pitchFamily="34" charset="0"/>
              <a:ea typeface="Gulim" panose="020B0600000101010101" pitchFamily="34" charset="-127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Helm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차트를</a:t>
            </a: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사용해</a:t>
            </a: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트레이닝된</a:t>
            </a: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모델을</a:t>
            </a: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실시간</a:t>
            </a: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서비스에</a:t>
            </a: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배포</a:t>
            </a:r>
            <a:r>
              <a:rPr lang="en-US" sz="1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endParaRPr dirty="0"/>
          </a:p>
        </p:txBody>
      </p:sp>
      <p:cxnSp>
        <p:nvCxnSpPr>
          <p:cNvPr id="1909" name="Google Shape;1909;p107"/>
          <p:cNvCxnSpPr/>
          <p:nvPr/>
        </p:nvCxnSpPr>
        <p:spPr>
          <a:xfrm>
            <a:off x="7580084" y="3178468"/>
            <a:ext cx="57745" cy="5717708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067ED75C-36F2-4CBC-A38A-54BF40A644ED}"/>
              </a:ext>
            </a:extLst>
          </p:cNvPr>
          <p:cNvGrpSpPr/>
          <p:nvPr/>
        </p:nvGrpSpPr>
        <p:grpSpPr>
          <a:xfrm>
            <a:off x="7975597" y="3293179"/>
            <a:ext cx="10001250" cy="5177903"/>
            <a:chOff x="7975597" y="3293179"/>
            <a:chExt cx="10001250" cy="5177903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CC641A8C-F80F-48C0-AAC2-B17BE8ADC6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5597" y="3293179"/>
              <a:ext cx="10001250" cy="5177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EE358C-199D-4117-8823-C92C2ECD3164}"/>
                </a:ext>
              </a:extLst>
            </p:cNvPr>
            <p:cNvSpPr/>
            <p:nvPr/>
          </p:nvSpPr>
          <p:spPr>
            <a:xfrm>
              <a:off x="17399674" y="6993685"/>
              <a:ext cx="519427" cy="189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Riva</a:t>
              </a:r>
            </a:p>
          </p:txBody>
        </p:sp>
      </p:grp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08"/>
          <p:cNvSpPr txBox="1">
            <a:spLocks noGrp="1"/>
          </p:cNvSpPr>
          <p:nvPr>
            <p:ph type="title"/>
          </p:nvPr>
        </p:nvSpPr>
        <p:spPr>
          <a:xfrm>
            <a:off x="830580" y="868683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25" tIns="68550" rIns="137125" bIns="6855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멀티모달 기술</a:t>
            </a:r>
            <a:endParaRPr/>
          </a:p>
        </p:txBody>
      </p:sp>
      <p:sp>
        <p:nvSpPr>
          <p:cNvPr id="1917" name="Google Shape;1917;p108"/>
          <p:cNvSpPr txBox="1">
            <a:spLocks noGrp="1"/>
          </p:cNvSpPr>
          <p:nvPr>
            <p:ph type="body" idx="2"/>
          </p:nvPr>
        </p:nvSpPr>
        <p:spPr>
          <a:xfrm>
            <a:off x="830580" y="1813562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rebuchet MS"/>
              <a:buNone/>
            </a:pPr>
            <a:r>
              <a:rPr lang="en-US">
                <a:highlight>
                  <a:srgbClr val="FCFCFC"/>
                </a:highlight>
                <a:latin typeface="Trebuchet MS"/>
                <a:ea typeface="Trebuchet MS"/>
                <a:cs typeface="Trebuchet MS"/>
                <a:sym typeface="Trebuchet MS"/>
              </a:rPr>
              <a:t>자연스러운 상호 작용을 위해 음성 및 비전 사용</a:t>
            </a:r>
            <a:endParaRPr>
              <a:solidFill>
                <a:srgbClr val="76B900"/>
              </a:solidFill>
              <a:highlight>
                <a:srgbClr val="FCFCFC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918" name="Google Shape;1918;p108"/>
          <p:cNvCxnSpPr/>
          <p:nvPr/>
        </p:nvCxnSpPr>
        <p:spPr>
          <a:xfrm>
            <a:off x="7580084" y="3178468"/>
            <a:ext cx="57745" cy="5717708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919" name="Google Shape;1919;p108"/>
          <p:cNvSpPr txBox="1"/>
          <p:nvPr/>
        </p:nvSpPr>
        <p:spPr>
          <a:xfrm>
            <a:off x="9920720" y="8666613"/>
            <a:ext cx="5690320" cy="32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여러 사용자와 맥락을 지원하는 멀티모달 애플리케이션</a:t>
            </a:r>
            <a:endParaRPr sz="1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21" name="Google Shape;1921;p108"/>
          <p:cNvSpPr txBox="1"/>
          <p:nvPr/>
        </p:nvSpPr>
        <p:spPr>
          <a:xfrm>
            <a:off x="560494" y="4277715"/>
            <a:ext cx="6879128" cy="291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ASR, NLU, TTS, CV에 대한 서비스를 융합해 새로운 기술 구축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레퍼런스 기술:</a:t>
            </a:r>
            <a:endParaRPr/>
          </a:p>
          <a:p>
            <a:pPr marL="257179" marR="0" lvl="0" indent="-25717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다중 화자 전사</a:t>
            </a:r>
            <a:endParaRPr/>
          </a:p>
          <a:p>
            <a:pPr marL="257179" marR="0" lvl="0" indent="-25717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챗봇</a:t>
            </a:r>
            <a:endParaRPr/>
          </a:p>
          <a:p>
            <a:pPr marL="257179" marR="0" lvl="0" indent="-25717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Look-to-Talk 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Dialog Manager가 다중 사용자 및 다중 맥락 시나리오를 관리함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8208C55-E5EA-4686-9BBB-AB0D6C430EFA}"/>
              </a:ext>
            </a:extLst>
          </p:cNvPr>
          <p:cNvGrpSpPr/>
          <p:nvPr/>
        </p:nvGrpSpPr>
        <p:grpSpPr>
          <a:xfrm>
            <a:off x="8308180" y="3542017"/>
            <a:ext cx="8915400" cy="5037423"/>
            <a:chOff x="8308180" y="3542017"/>
            <a:chExt cx="8915400" cy="5037423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D46CFE00-3E93-45AF-B405-BFA468CB4F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8180" y="3542017"/>
              <a:ext cx="8915400" cy="50374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02EA0F-A066-444D-AC48-020AE087C23B}"/>
                </a:ext>
              </a:extLst>
            </p:cNvPr>
            <p:cNvSpPr/>
            <p:nvPr/>
          </p:nvSpPr>
          <p:spPr>
            <a:xfrm>
              <a:off x="8875986" y="8055429"/>
              <a:ext cx="616357" cy="15840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>
                      <a:lumMod val="50000"/>
                    </a:schemeClr>
                  </a:solidFill>
                </a:rPr>
                <a:t>Riva</a:t>
              </a:r>
            </a:p>
          </p:txBody>
        </p:sp>
      </p:grp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109"/>
          <p:cNvSpPr txBox="1">
            <a:spLocks noGrp="1"/>
          </p:cNvSpPr>
          <p:nvPr>
            <p:ph type="title"/>
          </p:nvPr>
        </p:nvSpPr>
        <p:spPr>
          <a:xfrm>
            <a:off x="830580" y="868683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25" tIns="68550" rIns="137125" bIns="6855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대화형 AI 서비스 구축</a:t>
            </a:r>
            <a:endParaRPr/>
          </a:p>
        </p:txBody>
      </p:sp>
      <p:sp>
        <p:nvSpPr>
          <p:cNvPr id="1928" name="Google Shape;1928;p109"/>
          <p:cNvSpPr txBox="1">
            <a:spLocks noGrp="1"/>
          </p:cNvSpPr>
          <p:nvPr>
            <p:ph type="body" idx="2"/>
          </p:nvPr>
        </p:nvSpPr>
        <p:spPr>
          <a:xfrm>
            <a:off x="830580" y="1813562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rebuchet MS"/>
              <a:buNone/>
            </a:pPr>
            <a:r>
              <a:rPr lang="en-US">
                <a:solidFill>
                  <a:srgbClr val="76B900"/>
                </a:solidFill>
                <a:highlight>
                  <a:srgbClr val="FCFCFC"/>
                </a:highlight>
                <a:latin typeface="Trebuchet MS"/>
                <a:ea typeface="Trebuchet MS"/>
                <a:cs typeface="Trebuchet MS"/>
                <a:sym typeface="Trebuchet MS"/>
              </a:rPr>
              <a:t>실시간 애플리케이션에 최적화된 서비스</a:t>
            </a:r>
            <a:endParaRPr/>
          </a:p>
        </p:txBody>
      </p:sp>
      <p:sp>
        <p:nvSpPr>
          <p:cNvPr id="1929" name="Google Shape;1929;p109"/>
          <p:cNvSpPr txBox="1"/>
          <p:nvPr/>
        </p:nvSpPr>
        <p:spPr>
          <a:xfrm>
            <a:off x="877882" y="2986944"/>
            <a:ext cx="6430282" cy="5592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성능이 튜닝된 서비스를 연결하여 애플리케이션을 손쉽게 구축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작업별 서비스:</a:t>
            </a:r>
            <a:endParaRPr/>
          </a:p>
          <a:p>
            <a:pPr marL="257179" marR="0" lvl="0" indent="-25717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ASR</a:t>
            </a:r>
            <a:endParaRPr/>
          </a:p>
          <a:p>
            <a:pPr marL="257179" marR="0" lvl="0" indent="-25717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의도 분류</a:t>
            </a:r>
            <a:endParaRPr/>
          </a:p>
          <a:p>
            <a:pPr marL="257179" marR="0" lvl="0" indent="-25717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슬롯 채우기</a:t>
            </a:r>
            <a:endParaRPr/>
          </a:p>
          <a:p>
            <a:pPr marL="257179" marR="0" lvl="0" indent="-25717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포즈 추정</a:t>
            </a:r>
            <a:endParaRPr/>
          </a:p>
          <a:p>
            <a:pPr marL="257179" marR="0" lvl="0" indent="-25717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얼굴 랜드마크 검출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스트리밍 및 배치 사용 서비스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ONNX 형식의 모든 모델에서 새로운 서비스 구축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gRPC 및 HTTP 엔드포인트에 대한 액세스 서비스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109"/>
          <p:cNvSpPr/>
          <p:nvPr/>
        </p:nvSpPr>
        <p:spPr>
          <a:xfrm>
            <a:off x="5192523" y="9684354"/>
            <a:ext cx="69172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https://ngc.nvidia.com/catalog/model-scripts/nvidia:jasper_for_trtis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1" name="Google Shape;1931;p109"/>
          <p:cNvCxnSpPr/>
          <p:nvPr/>
        </p:nvCxnSpPr>
        <p:spPr>
          <a:xfrm>
            <a:off x="7580084" y="3178468"/>
            <a:ext cx="57745" cy="5717708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932" name="Google Shape;1932;p109"/>
          <p:cNvSpPr/>
          <p:nvPr/>
        </p:nvSpPr>
        <p:spPr>
          <a:xfrm>
            <a:off x="8110737" y="3271330"/>
            <a:ext cx="5529263" cy="511026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109"/>
          <p:cNvSpPr/>
          <p:nvPr/>
        </p:nvSpPr>
        <p:spPr>
          <a:xfrm rot="5400000">
            <a:off x="13274241" y="4644210"/>
            <a:ext cx="5101002" cy="2355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109"/>
          <p:cNvSpPr txBox="1"/>
          <p:nvPr/>
        </p:nvSpPr>
        <p:spPr>
          <a:xfrm>
            <a:off x="14647116" y="3407710"/>
            <a:ext cx="2355252" cy="99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Riva </a:t>
            </a:r>
            <a:r>
              <a:rPr lang="en-US" sz="1950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클라이언트</a:t>
            </a:r>
            <a:r>
              <a:rPr lang="en-US" sz="195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50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애플리케이션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5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35" name="Google Shape;1935;p109"/>
          <p:cNvGrpSpPr/>
          <p:nvPr/>
        </p:nvGrpSpPr>
        <p:grpSpPr>
          <a:xfrm>
            <a:off x="15333926" y="4556635"/>
            <a:ext cx="981635" cy="893443"/>
            <a:chOff x="6501250" y="2197218"/>
            <a:chExt cx="814226" cy="741076"/>
          </a:xfrm>
        </p:grpSpPr>
        <p:sp>
          <p:nvSpPr>
            <p:cNvPr id="1936" name="Google Shape;1936;p109"/>
            <p:cNvSpPr/>
            <p:nvPr/>
          </p:nvSpPr>
          <p:spPr>
            <a:xfrm>
              <a:off x="6580140" y="2551017"/>
              <a:ext cx="141590" cy="33588"/>
            </a:xfrm>
            <a:custGeom>
              <a:avLst/>
              <a:gdLst/>
              <a:ahLst/>
              <a:cxnLst/>
              <a:rect l="l" t="t" r="r" b="b"/>
              <a:pathLst>
                <a:path w="169254" h="38968" extrusionOk="0">
                  <a:moveTo>
                    <a:pt x="0" y="0"/>
                  </a:moveTo>
                  <a:lnTo>
                    <a:pt x="169255" y="0"/>
                  </a:lnTo>
                  <a:lnTo>
                    <a:pt x="169255" y="38969"/>
                  </a:lnTo>
                  <a:lnTo>
                    <a:pt x="0" y="38969"/>
                  </a:lnTo>
                  <a:close/>
                </a:path>
              </a:pathLst>
            </a:custGeom>
            <a:solidFill>
              <a:srgbClr val="77BA4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7" name="Google Shape;1937;p109"/>
            <p:cNvSpPr/>
            <p:nvPr/>
          </p:nvSpPr>
          <p:spPr>
            <a:xfrm>
              <a:off x="6580140" y="2629390"/>
              <a:ext cx="141590" cy="33588"/>
            </a:xfrm>
            <a:custGeom>
              <a:avLst/>
              <a:gdLst/>
              <a:ahLst/>
              <a:cxnLst/>
              <a:rect l="l" t="t" r="r" b="b"/>
              <a:pathLst>
                <a:path w="169254" h="38968" extrusionOk="0">
                  <a:moveTo>
                    <a:pt x="0" y="0"/>
                  </a:moveTo>
                  <a:lnTo>
                    <a:pt x="169255" y="0"/>
                  </a:lnTo>
                  <a:lnTo>
                    <a:pt x="169255" y="38969"/>
                  </a:lnTo>
                  <a:lnTo>
                    <a:pt x="0" y="38969"/>
                  </a:lnTo>
                  <a:close/>
                </a:path>
              </a:pathLst>
            </a:custGeom>
            <a:solidFill>
              <a:srgbClr val="77BA4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8" name="Google Shape;1938;p109"/>
            <p:cNvSpPr/>
            <p:nvPr/>
          </p:nvSpPr>
          <p:spPr>
            <a:xfrm>
              <a:off x="6580140" y="2707764"/>
              <a:ext cx="141590" cy="33588"/>
            </a:xfrm>
            <a:custGeom>
              <a:avLst/>
              <a:gdLst/>
              <a:ahLst/>
              <a:cxnLst/>
              <a:rect l="l" t="t" r="r" b="b"/>
              <a:pathLst>
                <a:path w="169254" h="38968" extrusionOk="0">
                  <a:moveTo>
                    <a:pt x="0" y="0"/>
                  </a:moveTo>
                  <a:lnTo>
                    <a:pt x="169255" y="0"/>
                  </a:lnTo>
                  <a:lnTo>
                    <a:pt x="169255" y="38969"/>
                  </a:lnTo>
                  <a:lnTo>
                    <a:pt x="0" y="38969"/>
                  </a:lnTo>
                  <a:close/>
                </a:path>
              </a:pathLst>
            </a:custGeom>
            <a:solidFill>
              <a:srgbClr val="77BA4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109"/>
            <p:cNvSpPr/>
            <p:nvPr/>
          </p:nvSpPr>
          <p:spPr>
            <a:xfrm>
              <a:off x="6501250" y="2197218"/>
              <a:ext cx="814226" cy="741076"/>
            </a:xfrm>
            <a:custGeom>
              <a:avLst/>
              <a:gdLst/>
              <a:ahLst/>
              <a:cxnLst/>
              <a:rect l="l" t="t" r="r" b="b"/>
              <a:pathLst>
                <a:path w="973310" h="859782" extrusionOk="0">
                  <a:moveTo>
                    <a:pt x="913689" y="132494"/>
                  </a:moveTo>
                  <a:lnTo>
                    <a:pt x="345264" y="132494"/>
                  </a:lnTo>
                  <a:lnTo>
                    <a:pt x="345264" y="58973"/>
                  </a:lnTo>
                  <a:cubicBezTo>
                    <a:pt x="345264" y="26499"/>
                    <a:pt x="318765" y="0"/>
                    <a:pt x="286291" y="0"/>
                  </a:cubicBezTo>
                  <a:lnTo>
                    <a:pt x="58973" y="0"/>
                  </a:lnTo>
                  <a:cubicBezTo>
                    <a:pt x="26499" y="0"/>
                    <a:pt x="0" y="26499"/>
                    <a:pt x="0" y="58973"/>
                  </a:cubicBezTo>
                  <a:lnTo>
                    <a:pt x="0" y="800809"/>
                  </a:lnTo>
                  <a:cubicBezTo>
                    <a:pt x="0" y="833283"/>
                    <a:pt x="26499" y="859782"/>
                    <a:pt x="58973" y="859782"/>
                  </a:cubicBezTo>
                  <a:lnTo>
                    <a:pt x="286291" y="859782"/>
                  </a:lnTo>
                  <a:cubicBezTo>
                    <a:pt x="318765" y="859782"/>
                    <a:pt x="345264" y="833283"/>
                    <a:pt x="345264" y="800809"/>
                  </a:cubicBezTo>
                  <a:lnTo>
                    <a:pt x="345264" y="683643"/>
                  </a:lnTo>
                  <a:lnTo>
                    <a:pt x="568165" y="683643"/>
                  </a:lnTo>
                  <a:lnTo>
                    <a:pt x="568165" y="798341"/>
                  </a:lnTo>
                  <a:lnTo>
                    <a:pt x="503997" y="798341"/>
                  </a:lnTo>
                  <a:lnTo>
                    <a:pt x="503997" y="837310"/>
                  </a:lnTo>
                  <a:lnTo>
                    <a:pt x="710791" y="837310"/>
                  </a:lnTo>
                  <a:lnTo>
                    <a:pt x="710791" y="798341"/>
                  </a:lnTo>
                  <a:lnTo>
                    <a:pt x="659482" y="798341"/>
                  </a:lnTo>
                  <a:lnTo>
                    <a:pt x="659482" y="683643"/>
                  </a:lnTo>
                  <a:lnTo>
                    <a:pt x="913689" y="683643"/>
                  </a:lnTo>
                  <a:cubicBezTo>
                    <a:pt x="946552" y="683643"/>
                    <a:pt x="973311" y="656884"/>
                    <a:pt x="973311" y="624021"/>
                  </a:cubicBezTo>
                  <a:lnTo>
                    <a:pt x="973311" y="191986"/>
                  </a:lnTo>
                  <a:cubicBezTo>
                    <a:pt x="973311" y="159123"/>
                    <a:pt x="946552" y="132494"/>
                    <a:pt x="913689" y="132494"/>
                  </a:cubicBezTo>
                  <a:close/>
                  <a:moveTo>
                    <a:pt x="306295" y="800809"/>
                  </a:moveTo>
                  <a:cubicBezTo>
                    <a:pt x="306295" y="811850"/>
                    <a:pt x="297332" y="820813"/>
                    <a:pt x="286291" y="820813"/>
                  </a:cubicBezTo>
                  <a:lnTo>
                    <a:pt x="58973" y="820813"/>
                  </a:lnTo>
                  <a:cubicBezTo>
                    <a:pt x="47932" y="820813"/>
                    <a:pt x="38969" y="811850"/>
                    <a:pt x="38969" y="800809"/>
                  </a:cubicBezTo>
                  <a:lnTo>
                    <a:pt x="38969" y="58973"/>
                  </a:lnTo>
                  <a:cubicBezTo>
                    <a:pt x="38969" y="47932"/>
                    <a:pt x="47932" y="38969"/>
                    <a:pt x="58973" y="38969"/>
                  </a:cubicBezTo>
                  <a:lnTo>
                    <a:pt x="286291" y="38969"/>
                  </a:lnTo>
                  <a:cubicBezTo>
                    <a:pt x="297332" y="38969"/>
                    <a:pt x="306295" y="47932"/>
                    <a:pt x="306295" y="58973"/>
                  </a:cubicBezTo>
                  <a:lnTo>
                    <a:pt x="306295" y="132494"/>
                  </a:lnTo>
                  <a:lnTo>
                    <a:pt x="306295" y="683643"/>
                  </a:lnTo>
                  <a:lnTo>
                    <a:pt x="306295" y="800809"/>
                  </a:lnTo>
                  <a:close/>
                  <a:moveTo>
                    <a:pt x="934342" y="624021"/>
                  </a:moveTo>
                  <a:cubicBezTo>
                    <a:pt x="934342" y="635322"/>
                    <a:pt x="925120" y="644674"/>
                    <a:pt x="913689" y="644674"/>
                  </a:cubicBezTo>
                  <a:lnTo>
                    <a:pt x="345264" y="644674"/>
                  </a:lnTo>
                  <a:lnTo>
                    <a:pt x="345264" y="171463"/>
                  </a:lnTo>
                  <a:lnTo>
                    <a:pt x="913689" y="171463"/>
                  </a:lnTo>
                  <a:cubicBezTo>
                    <a:pt x="924990" y="171463"/>
                    <a:pt x="934342" y="180685"/>
                    <a:pt x="934342" y="192116"/>
                  </a:cubicBezTo>
                  <a:lnTo>
                    <a:pt x="934342" y="624021"/>
                  </a:lnTo>
                  <a:close/>
                </a:path>
              </a:pathLst>
            </a:custGeom>
            <a:solidFill>
              <a:srgbClr val="76B9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0" name="Google Shape;1940;p109"/>
          <p:cNvSpPr/>
          <p:nvPr/>
        </p:nvSpPr>
        <p:spPr>
          <a:xfrm>
            <a:off x="15549498" y="6006723"/>
            <a:ext cx="550488" cy="867250"/>
          </a:xfrm>
          <a:custGeom>
            <a:avLst/>
            <a:gdLst/>
            <a:ahLst/>
            <a:cxnLst/>
            <a:rect l="l" t="t" r="r" b="b"/>
            <a:pathLst>
              <a:path w="545822" h="834582" extrusionOk="0">
                <a:moveTo>
                  <a:pt x="464248" y="0"/>
                </a:moveTo>
                <a:lnTo>
                  <a:pt x="81575" y="0"/>
                </a:lnTo>
                <a:cubicBezTo>
                  <a:pt x="36631" y="0"/>
                  <a:pt x="0" y="36631"/>
                  <a:pt x="0" y="81575"/>
                </a:cubicBezTo>
                <a:lnTo>
                  <a:pt x="0" y="753008"/>
                </a:lnTo>
                <a:cubicBezTo>
                  <a:pt x="0" y="797952"/>
                  <a:pt x="36631" y="834582"/>
                  <a:pt x="81575" y="834582"/>
                </a:cubicBezTo>
                <a:lnTo>
                  <a:pt x="464248" y="834582"/>
                </a:lnTo>
                <a:cubicBezTo>
                  <a:pt x="509192" y="834582"/>
                  <a:pt x="545823" y="797952"/>
                  <a:pt x="545823" y="753008"/>
                </a:cubicBezTo>
                <a:lnTo>
                  <a:pt x="545823" y="81445"/>
                </a:lnTo>
                <a:cubicBezTo>
                  <a:pt x="545693" y="36501"/>
                  <a:pt x="509192" y="0"/>
                  <a:pt x="464248" y="0"/>
                </a:cubicBezTo>
                <a:close/>
                <a:moveTo>
                  <a:pt x="272911" y="799900"/>
                </a:moveTo>
                <a:cubicBezTo>
                  <a:pt x="251349" y="799900"/>
                  <a:pt x="233943" y="782494"/>
                  <a:pt x="233943" y="760931"/>
                </a:cubicBezTo>
                <a:cubicBezTo>
                  <a:pt x="233943" y="739368"/>
                  <a:pt x="251349" y="721962"/>
                  <a:pt x="272911" y="721962"/>
                </a:cubicBezTo>
                <a:cubicBezTo>
                  <a:pt x="294474" y="721962"/>
                  <a:pt x="311880" y="739368"/>
                  <a:pt x="311880" y="760931"/>
                </a:cubicBezTo>
                <a:cubicBezTo>
                  <a:pt x="311880" y="782494"/>
                  <a:pt x="294344" y="799900"/>
                  <a:pt x="272911" y="799900"/>
                </a:cubicBezTo>
                <a:close/>
                <a:moveTo>
                  <a:pt x="500230" y="681045"/>
                </a:moveTo>
                <a:lnTo>
                  <a:pt x="45464" y="681045"/>
                </a:lnTo>
                <a:lnTo>
                  <a:pt x="45464" y="81445"/>
                </a:lnTo>
                <a:cubicBezTo>
                  <a:pt x="45464" y="61571"/>
                  <a:pt x="61701" y="45334"/>
                  <a:pt x="81575" y="45334"/>
                </a:cubicBezTo>
                <a:lnTo>
                  <a:pt x="464248" y="45334"/>
                </a:lnTo>
                <a:cubicBezTo>
                  <a:pt x="484122" y="45334"/>
                  <a:pt x="500359" y="61571"/>
                  <a:pt x="500359" y="81445"/>
                </a:cubicBezTo>
                <a:lnTo>
                  <a:pt x="500359" y="681045"/>
                </a:lnTo>
                <a:close/>
              </a:path>
            </a:pathLst>
          </a:cu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109"/>
          <p:cNvSpPr/>
          <p:nvPr/>
        </p:nvSpPr>
        <p:spPr>
          <a:xfrm>
            <a:off x="15317995" y="7430612"/>
            <a:ext cx="1010453" cy="589462"/>
          </a:xfrm>
          <a:custGeom>
            <a:avLst/>
            <a:gdLst/>
            <a:ahLst/>
            <a:cxnLst/>
            <a:rect l="l" t="t" r="r" b="b"/>
            <a:pathLst>
              <a:path w="1001888" h="567256" extrusionOk="0">
                <a:moveTo>
                  <a:pt x="1001888" y="537250"/>
                </a:moveTo>
                <a:cubicBezTo>
                  <a:pt x="1001888" y="526469"/>
                  <a:pt x="993185" y="517766"/>
                  <a:pt x="982404" y="517766"/>
                </a:cubicBezTo>
                <a:lnTo>
                  <a:pt x="909272" y="517766"/>
                </a:lnTo>
                <a:cubicBezTo>
                  <a:pt x="922392" y="507894"/>
                  <a:pt x="930965" y="492436"/>
                  <a:pt x="930965" y="474770"/>
                </a:cubicBezTo>
                <a:lnTo>
                  <a:pt x="930965" y="54037"/>
                </a:lnTo>
                <a:cubicBezTo>
                  <a:pt x="930965" y="24291"/>
                  <a:pt x="906674" y="0"/>
                  <a:pt x="876928" y="0"/>
                </a:cubicBezTo>
                <a:lnTo>
                  <a:pt x="125220" y="0"/>
                </a:lnTo>
                <a:cubicBezTo>
                  <a:pt x="95474" y="0"/>
                  <a:pt x="71183" y="24291"/>
                  <a:pt x="71183" y="54037"/>
                </a:cubicBezTo>
                <a:lnTo>
                  <a:pt x="71183" y="474770"/>
                </a:lnTo>
                <a:cubicBezTo>
                  <a:pt x="71183" y="492436"/>
                  <a:pt x="79756" y="507894"/>
                  <a:pt x="92876" y="517766"/>
                </a:cubicBezTo>
                <a:lnTo>
                  <a:pt x="19744" y="517766"/>
                </a:lnTo>
                <a:cubicBezTo>
                  <a:pt x="8963" y="517766"/>
                  <a:pt x="260" y="526469"/>
                  <a:pt x="260" y="537250"/>
                </a:cubicBezTo>
                <a:lnTo>
                  <a:pt x="0" y="537250"/>
                </a:lnTo>
                <a:lnTo>
                  <a:pt x="0" y="567256"/>
                </a:lnTo>
                <a:lnTo>
                  <a:pt x="1001628" y="567256"/>
                </a:lnTo>
                <a:lnTo>
                  <a:pt x="1001628" y="541147"/>
                </a:lnTo>
                <a:cubicBezTo>
                  <a:pt x="1001758" y="539978"/>
                  <a:pt x="1001888" y="538679"/>
                  <a:pt x="1001888" y="537250"/>
                </a:cubicBezTo>
                <a:close/>
                <a:moveTo>
                  <a:pt x="110022" y="54037"/>
                </a:moveTo>
                <a:cubicBezTo>
                  <a:pt x="110022" y="45723"/>
                  <a:pt x="116776" y="38969"/>
                  <a:pt x="125090" y="38969"/>
                </a:cubicBezTo>
                <a:lnTo>
                  <a:pt x="876798" y="38969"/>
                </a:lnTo>
                <a:cubicBezTo>
                  <a:pt x="885111" y="38969"/>
                  <a:pt x="891866" y="45723"/>
                  <a:pt x="891866" y="54037"/>
                </a:cubicBezTo>
                <a:lnTo>
                  <a:pt x="891866" y="474770"/>
                </a:lnTo>
                <a:cubicBezTo>
                  <a:pt x="891866" y="483083"/>
                  <a:pt x="885111" y="489838"/>
                  <a:pt x="876798" y="489838"/>
                </a:cubicBezTo>
                <a:lnTo>
                  <a:pt x="125090" y="489838"/>
                </a:lnTo>
                <a:cubicBezTo>
                  <a:pt x="116776" y="489838"/>
                  <a:pt x="110022" y="483083"/>
                  <a:pt x="110022" y="474770"/>
                </a:cubicBezTo>
                <a:lnTo>
                  <a:pt x="110022" y="54037"/>
                </a:lnTo>
                <a:close/>
              </a:path>
            </a:pathLst>
          </a:cu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2" name="Google Shape;1942;p109"/>
          <p:cNvCxnSpPr/>
          <p:nvPr/>
        </p:nvCxnSpPr>
        <p:spPr>
          <a:xfrm rot="10800000">
            <a:off x="13757144" y="5143938"/>
            <a:ext cx="718523" cy="0"/>
          </a:xfrm>
          <a:prstGeom prst="straightConnector1">
            <a:avLst/>
          </a:prstGeom>
          <a:noFill/>
          <a:ln w="12700" cap="flat" cmpd="sng">
            <a:solidFill>
              <a:srgbClr val="8C8C8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43" name="Google Shape;1943;p109"/>
          <p:cNvCxnSpPr/>
          <p:nvPr/>
        </p:nvCxnSpPr>
        <p:spPr>
          <a:xfrm rot="10800000" flipH="1">
            <a:off x="13759286" y="6957900"/>
            <a:ext cx="718522" cy="9257"/>
          </a:xfrm>
          <a:prstGeom prst="straightConnector1">
            <a:avLst/>
          </a:prstGeom>
          <a:noFill/>
          <a:ln w="12700" cap="flat" cmpd="sng">
            <a:solidFill>
              <a:srgbClr val="8C8C8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44" name="Google Shape;1944;p109"/>
          <p:cNvSpPr/>
          <p:nvPr/>
        </p:nvSpPr>
        <p:spPr>
          <a:xfrm>
            <a:off x="8110737" y="2729720"/>
            <a:ext cx="5529263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Riva</a:t>
            </a:r>
            <a:endParaRPr dirty="0"/>
          </a:p>
        </p:txBody>
      </p:sp>
      <p:sp>
        <p:nvSpPr>
          <p:cNvPr id="1945" name="Google Shape;1945;p109"/>
          <p:cNvSpPr/>
          <p:nvPr/>
        </p:nvSpPr>
        <p:spPr>
          <a:xfrm>
            <a:off x="8307544" y="4712993"/>
            <a:ext cx="5147195" cy="6850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109"/>
          <p:cNvSpPr/>
          <p:nvPr/>
        </p:nvSpPr>
        <p:spPr>
          <a:xfrm>
            <a:off x="8199448" y="3939035"/>
            <a:ext cx="5349630" cy="4339610"/>
          </a:xfrm>
          <a:prstGeom prst="rect">
            <a:avLst/>
          </a:prstGeom>
          <a:noFill/>
          <a:ln w="12700" cap="rnd" cmpd="sng">
            <a:solidFill>
              <a:srgbClr val="FFFFFF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109"/>
          <p:cNvSpPr/>
          <p:nvPr/>
        </p:nvSpPr>
        <p:spPr>
          <a:xfrm>
            <a:off x="8110737" y="4040546"/>
            <a:ext cx="5517923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Riva </a:t>
            </a:r>
            <a:r>
              <a:rPr lang="en-US" sz="195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서비스</a:t>
            </a:r>
            <a:endParaRPr dirty="0"/>
          </a:p>
        </p:txBody>
      </p:sp>
      <p:sp>
        <p:nvSpPr>
          <p:cNvPr id="1948" name="Google Shape;1948;p109"/>
          <p:cNvSpPr txBox="1"/>
          <p:nvPr/>
        </p:nvSpPr>
        <p:spPr>
          <a:xfrm>
            <a:off x="8110737" y="3316283"/>
            <a:ext cx="55292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Dialog Manager</a:t>
            </a:r>
            <a:endParaRPr/>
          </a:p>
        </p:txBody>
      </p:sp>
      <p:pic>
        <p:nvPicPr>
          <p:cNvPr id="1949" name="Google Shape;1949;p10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07959" y="4849058"/>
            <a:ext cx="573653" cy="452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0" name="Google Shape;1950;p10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08729" y="4883929"/>
            <a:ext cx="806975" cy="35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1" name="Google Shape;1951;p109" descr="A close up of a logo  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94033" y="4790416"/>
            <a:ext cx="667518" cy="53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2" name="Google Shape;1952;p10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835693" y="4883929"/>
            <a:ext cx="434868" cy="393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53" name="Google Shape;1953;p109"/>
          <p:cNvSpPr/>
          <p:nvPr/>
        </p:nvSpPr>
        <p:spPr>
          <a:xfrm>
            <a:off x="8567118" y="4865059"/>
            <a:ext cx="503663" cy="33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ASR</a:t>
            </a:r>
            <a:endParaRPr/>
          </a:p>
        </p:txBody>
      </p:sp>
      <p:sp>
        <p:nvSpPr>
          <p:cNvPr id="1954" name="Google Shape;1954;p109"/>
          <p:cNvSpPr/>
          <p:nvPr/>
        </p:nvSpPr>
        <p:spPr>
          <a:xfrm>
            <a:off x="8307544" y="5523629"/>
            <a:ext cx="5147195" cy="6850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5" name="Google Shape;1955;p10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03" y="5756766"/>
            <a:ext cx="661350" cy="2868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6" name="Google Shape;1956;p109"/>
          <p:cNvCxnSpPr/>
          <p:nvPr/>
        </p:nvCxnSpPr>
        <p:spPr>
          <a:xfrm>
            <a:off x="10243829" y="5920485"/>
            <a:ext cx="29304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57" name="Google Shape;1957;p109"/>
          <p:cNvCxnSpPr/>
          <p:nvPr/>
        </p:nvCxnSpPr>
        <p:spPr>
          <a:xfrm>
            <a:off x="11315684" y="5908832"/>
            <a:ext cx="29304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58" name="Google Shape;1958;p109"/>
          <p:cNvSpPr/>
          <p:nvPr/>
        </p:nvSpPr>
        <p:spPr>
          <a:xfrm>
            <a:off x="8477989" y="5653169"/>
            <a:ext cx="683199" cy="33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의도</a:t>
            </a:r>
            <a:endParaRPr/>
          </a:p>
        </p:txBody>
      </p:sp>
      <p:sp>
        <p:nvSpPr>
          <p:cNvPr id="1959" name="Google Shape;1959;p109"/>
          <p:cNvSpPr/>
          <p:nvPr/>
        </p:nvSpPr>
        <p:spPr>
          <a:xfrm>
            <a:off x="8296138" y="7504003"/>
            <a:ext cx="5147195" cy="6850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109"/>
          <p:cNvSpPr/>
          <p:nvPr/>
        </p:nvSpPr>
        <p:spPr>
          <a:xfrm>
            <a:off x="8582345" y="7656986"/>
            <a:ext cx="473206" cy="33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TTS</a:t>
            </a:r>
            <a:endParaRPr/>
          </a:p>
        </p:txBody>
      </p:sp>
      <p:sp>
        <p:nvSpPr>
          <p:cNvPr id="1961" name="Google Shape;1961;p109"/>
          <p:cNvSpPr/>
          <p:nvPr/>
        </p:nvSpPr>
        <p:spPr>
          <a:xfrm>
            <a:off x="9454882" y="5699479"/>
            <a:ext cx="757552" cy="452753"/>
          </a:xfrm>
          <a:prstGeom prst="roundRect">
            <a:avLst>
              <a:gd name="adj" fmla="val 10356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2" name="Google Shape;1962;p109"/>
          <p:cNvCxnSpPr/>
          <p:nvPr/>
        </p:nvCxnSpPr>
        <p:spPr>
          <a:xfrm>
            <a:off x="9493863" y="5826557"/>
            <a:ext cx="190528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63" name="Google Shape;1963;p109"/>
          <p:cNvCxnSpPr/>
          <p:nvPr/>
        </p:nvCxnSpPr>
        <p:spPr>
          <a:xfrm>
            <a:off x="9637263" y="5926883"/>
            <a:ext cx="190528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64" name="Google Shape;1964;p109"/>
          <p:cNvCxnSpPr/>
          <p:nvPr/>
        </p:nvCxnSpPr>
        <p:spPr>
          <a:xfrm>
            <a:off x="9771993" y="6027802"/>
            <a:ext cx="190528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65" name="Google Shape;1965;p109"/>
          <p:cNvCxnSpPr/>
          <p:nvPr/>
        </p:nvCxnSpPr>
        <p:spPr>
          <a:xfrm>
            <a:off x="9956276" y="5826557"/>
            <a:ext cx="200248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66" name="Google Shape;1966;p109"/>
          <p:cNvCxnSpPr/>
          <p:nvPr/>
        </p:nvCxnSpPr>
        <p:spPr>
          <a:xfrm>
            <a:off x="9720974" y="5826557"/>
            <a:ext cx="11770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67" name="Google Shape;1967;p109"/>
          <p:cNvCxnSpPr/>
          <p:nvPr/>
        </p:nvCxnSpPr>
        <p:spPr>
          <a:xfrm>
            <a:off x="9522438" y="6035377"/>
            <a:ext cx="11770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68" name="Google Shape;1968;p109"/>
          <p:cNvCxnSpPr/>
          <p:nvPr/>
        </p:nvCxnSpPr>
        <p:spPr>
          <a:xfrm rot="10800000" flipH="1">
            <a:off x="9861192" y="5922568"/>
            <a:ext cx="106920" cy="282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69" name="Google Shape;1969;p109"/>
          <p:cNvCxnSpPr/>
          <p:nvPr/>
        </p:nvCxnSpPr>
        <p:spPr>
          <a:xfrm>
            <a:off x="9516994" y="5926883"/>
            <a:ext cx="36412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70" name="Google Shape;1970;p109"/>
          <p:cNvCxnSpPr/>
          <p:nvPr/>
        </p:nvCxnSpPr>
        <p:spPr>
          <a:xfrm>
            <a:off x="9884904" y="5830433"/>
            <a:ext cx="36412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71" name="Google Shape;1971;p109"/>
          <p:cNvCxnSpPr/>
          <p:nvPr/>
        </p:nvCxnSpPr>
        <p:spPr>
          <a:xfrm>
            <a:off x="10013491" y="6030472"/>
            <a:ext cx="36412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72" name="Google Shape;1972;p109"/>
          <p:cNvCxnSpPr/>
          <p:nvPr/>
        </p:nvCxnSpPr>
        <p:spPr>
          <a:xfrm>
            <a:off x="9692016" y="6030467"/>
            <a:ext cx="36412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73" name="Google Shape;1973;p109"/>
          <p:cNvCxnSpPr/>
          <p:nvPr/>
        </p:nvCxnSpPr>
        <p:spPr>
          <a:xfrm>
            <a:off x="10030074" y="5925393"/>
            <a:ext cx="11770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74" name="Google Shape;1974;p109"/>
          <p:cNvCxnSpPr/>
          <p:nvPr/>
        </p:nvCxnSpPr>
        <p:spPr>
          <a:xfrm>
            <a:off x="10099216" y="6034042"/>
            <a:ext cx="36412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75" name="Google Shape;1975;p109"/>
          <p:cNvSpPr/>
          <p:nvPr/>
        </p:nvSpPr>
        <p:spPr>
          <a:xfrm>
            <a:off x="9403244" y="5793981"/>
            <a:ext cx="442105" cy="162068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6" name="Google Shape;1976;p109"/>
          <p:cNvSpPr/>
          <p:nvPr/>
        </p:nvSpPr>
        <p:spPr>
          <a:xfrm>
            <a:off x="9979600" y="5980483"/>
            <a:ext cx="105923" cy="82718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7" name="Google Shape;1977;p10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651060" y="5756766"/>
            <a:ext cx="661350" cy="2868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8" name="Google Shape;1978;p109"/>
          <p:cNvCxnSpPr/>
          <p:nvPr/>
        </p:nvCxnSpPr>
        <p:spPr>
          <a:xfrm>
            <a:off x="12365133" y="5900195"/>
            <a:ext cx="29304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1979" name="Google Shape;1979;p109"/>
          <p:cNvGraphicFramePr/>
          <p:nvPr/>
        </p:nvGraphicFramePr>
        <p:xfrm>
          <a:off x="12709282" y="5626452"/>
          <a:ext cx="633300" cy="538500"/>
        </p:xfrm>
        <a:graphic>
          <a:graphicData uri="http://schemas.openxmlformats.org/drawingml/2006/table">
            <a:tbl>
              <a:tblPr>
                <a:noFill/>
                <a:tableStyleId>{990E7882-7590-479E-8E46-6FDCD1065B28}</a:tableStyleId>
              </a:tblPr>
              <a:tblGrid>
                <a:gridCol w="31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>
                        <a:solidFill>
                          <a:srgbClr val="FEFEFE"/>
                        </a:solidFill>
                      </a:endParaRPr>
                    </a:p>
                  </a:txBody>
                  <a:tcPr marL="137150" marR="137150" marT="68575" marB="685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>
                        <a:solidFill>
                          <a:srgbClr val="FEFEFE"/>
                        </a:solidFill>
                      </a:endParaRPr>
                    </a:p>
                  </a:txBody>
                  <a:tcPr marL="137150" marR="137150" marT="68575" marB="685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>
                        <a:solidFill>
                          <a:srgbClr val="FEFEFE"/>
                        </a:solidFill>
                      </a:endParaRPr>
                    </a:p>
                  </a:txBody>
                  <a:tcPr marL="137150" marR="137150" marT="68575" marB="685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>
                        <a:solidFill>
                          <a:srgbClr val="FEFEFE"/>
                        </a:solidFill>
                      </a:endParaRPr>
                    </a:p>
                  </a:txBody>
                  <a:tcPr marL="137150" marR="137150" marT="68575" marB="685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>
                        <a:solidFill>
                          <a:srgbClr val="FEFEFE"/>
                        </a:solidFill>
                      </a:endParaRPr>
                    </a:p>
                  </a:txBody>
                  <a:tcPr marL="137150" marR="137150" marT="68575" marB="685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>
                        <a:solidFill>
                          <a:srgbClr val="FEFEFE"/>
                        </a:solidFill>
                      </a:endParaRPr>
                    </a:p>
                  </a:txBody>
                  <a:tcPr marL="137150" marR="137150" marT="68575" marB="685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980" name="Google Shape;1980;p109"/>
          <p:cNvCxnSpPr/>
          <p:nvPr/>
        </p:nvCxnSpPr>
        <p:spPr>
          <a:xfrm>
            <a:off x="12732991" y="5741723"/>
            <a:ext cx="190528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81" name="Google Shape;1981;p109"/>
          <p:cNvCxnSpPr/>
          <p:nvPr/>
        </p:nvCxnSpPr>
        <p:spPr>
          <a:xfrm>
            <a:off x="12730592" y="6088213"/>
            <a:ext cx="36412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82" name="Google Shape;1982;p109"/>
          <p:cNvSpPr/>
          <p:nvPr/>
        </p:nvSpPr>
        <p:spPr>
          <a:xfrm>
            <a:off x="9939145" y="5783414"/>
            <a:ext cx="237153" cy="82718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3" name="Google Shape;1983;p109"/>
          <p:cNvCxnSpPr/>
          <p:nvPr/>
        </p:nvCxnSpPr>
        <p:spPr>
          <a:xfrm>
            <a:off x="12715746" y="5956422"/>
            <a:ext cx="190528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84" name="Google Shape;1984;p109"/>
          <p:cNvCxnSpPr/>
          <p:nvPr/>
        </p:nvCxnSpPr>
        <p:spPr>
          <a:xfrm>
            <a:off x="13063364" y="5748563"/>
            <a:ext cx="190528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85" name="Google Shape;1985;p109"/>
          <p:cNvCxnSpPr/>
          <p:nvPr/>
        </p:nvCxnSpPr>
        <p:spPr>
          <a:xfrm>
            <a:off x="13063364" y="5925393"/>
            <a:ext cx="190528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86" name="Google Shape;1986;p109"/>
          <p:cNvCxnSpPr/>
          <p:nvPr/>
        </p:nvCxnSpPr>
        <p:spPr>
          <a:xfrm>
            <a:off x="13063364" y="6088213"/>
            <a:ext cx="190528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87" name="Google Shape;1987;p109"/>
          <p:cNvSpPr txBox="1"/>
          <p:nvPr/>
        </p:nvSpPr>
        <p:spPr>
          <a:xfrm>
            <a:off x="10624127" y="6494065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pic>
        <p:nvPicPr>
          <p:cNvPr id="1988" name="Google Shape;1988;p10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07928" y="7653824"/>
            <a:ext cx="754380" cy="42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9" name="Google Shape;1989;p10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673765" y="7728812"/>
            <a:ext cx="685800" cy="2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0" name="Google Shape;1990;p10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85787" y="7616187"/>
            <a:ext cx="630937" cy="4979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1" name="Google Shape;1991;p109"/>
          <p:cNvCxnSpPr/>
          <p:nvPr/>
        </p:nvCxnSpPr>
        <p:spPr>
          <a:xfrm>
            <a:off x="10176299" y="7874707"/>
            <a:ext cx="29304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92" name="Google Shape;1992;p109"/>
          <p:cNvCxnSpPr/>
          <p:nvPr/>
        </p:nvCxnSpPr>
        <p:spPr>
          <a:xfrm>
            <a:off x="11315683" y="7876353"/>
            <a:ext cx="29304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93" name="Google Shape;1993;p109"/>
          <p:cNvCxnSpPr/>
          <p:nvPr/>
        </p:nvCxnSpPr>
        <p:spPr>
          <a:xfrm>
            <a:off x="12312411" y="7874708"/>
            <a:ext cx="29304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94" name="Google Shape;1994;p109"/>
          <p:cNvCxnSpPr/>
          <p:nvPr/>
        </p:nvCxnSpPr>
        <p:spPr>
          <a:xfrm>
            <a:off x="10243829" y="5055493"/>
            <a:ext cx="29304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95" name="Google Shape;1995;p109"/>
          <p:cNvCxnSpPr/>
          <p:nvPr/>
        </p:nvCxnSpPr>
        <p:spPr>
          <a:xfrm>
            <a:off x="11248211" y="5055493"/>
            <a:ext cx="29304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96" name="Google Shape;1996;p109"/>
          <p:cNvCxnSpPr/>
          <p:nvPr/>
        </p:nvCxnSpPr>
        <p:spPr>
          <a:xfrm>
            <a:off x="12473959" y="5160290"/>
            <a:ext cx="29304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97" name="Google Shape;1997;p109"/>
          <p:cNvCxnSpPr/>
          <p:nvPr/>
        </p:nvCxnSpPr>
        <p:spPr>
          <a:xfrm rot="10800000">
            <a:off x="12473959" y="4994202"/>
            <a:ext cx="29304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98" name="Google Shape;1998;p109" descr="A close up of a logo  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657743" y="7659377"/>
            <a:ext cx="597338" cy="430660"/>
          </a:xfrm>
          <a:prstGeom prst="rect">
            <a:avLst/>
          </a:prstGeom>
          <a:noFill/>
          <a:ln>
            <a:noFill/>
          </a:ln>
        </p:spPr>
      </p:pic>
      <p:sp>
        <p:nvSpPr>
          <p:cNvPr id="1999" name="Google Shape;1999;p109"/>
          <p:cNvSpPr txBox="1"/>
          <p:nvPr/>
        </p:nvSpPr>
        <p:spPr>
          <a:xfrm>
            <a:off x="8110737" y="3313921"/>
            <a:ext cx="55292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Dialog Manager</a:t>
            </a:r>
            <a:endParaRPr/>
          </a:p>
        </p:txBody>
      </p:sp>
      <p:sp>
        <p:nvSpPr>
          <p:cNvPr id="2000" name="Google Shape;2000;p109"/>
          <p:cNvSpPr txBox="1"/>
          <p:nvPr/>
        </p:nvSpPr>
        <p:spPr>
          <a:xfrm>
            <a:off x="10030073" y="8668554"/>
            <a:ext cx="569032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Riva AI </a:t>
            </a:r>
            <a:r>
              <a:rPr lang="en-US" sz="16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서비스</a:t>
            </a:r>
            <a:endParaRPr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110"/>
          <p:cNvSpPr txBox="1">
            <a:spLocks noGrp="1"/>
          </p:cNvSpPr>
          <p:nvPr>
            <p:ph type="title"/>
          </p:nvPr>
        </p:nvSpPr>
        <p:spPr>
          <a:xfrm>
            <a:off x="830580" y="868683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25" tIns="68550" rIns="137125" bIns="6855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모델을 실시간 서비스로 배포</a:t>
            </a:r>
            <a:endParaRPr/>
          </a:p>
        </p:txBody>
      </p:sp>
      <p:sp>
        <p:nvSpPr>
          <p:cNvPr id="2007" name="Google Shape;2007;p110"/>
          <p:cNvSpPr txBox="1">
            <a:spLocks noGrp="1"/>
          </p:cNvSpPr>
          <p:nvPr>
            <p:ph type="body" idx="2"/>
          </p:nvPr>
        </p:nvSpPr>
        <p:spPr>
          <a:xfrm>
            <a:off x="830580" y="1813562"/>
            <a:ext cx="16626841" cy="87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rebuchet MS"/>
              <a:buNone/>
            </a:pPr>
            <a:r>
              <a:rPr lang="en-US">
                <a:solidFill>
                  <a:srgbClr val="76B900"/>
                </a:solidFill>
                <a:highlight>
                  <a:srgbClr val="FCFCFC"/>
                </a:highlight>
                <a:latin typeface="Trebuchet MS"/>
                <a:ea typeface="Trebuchet MS"/>
                <a:cs typeface="Trebuchet MS"/>
                <a:sym typeface="Trebuchet MS"/>
              </a:rPr>
              <a:t>한 번의 클릭으로 SOTA 모델에서 고성능 서비스 생성</a:t>
            </a:r>
            <a:endParaRPr/>
          </a:p>
        </p:txBody>
      </p:sp>
      <p:sp>
        <p:nvSpPr>
          <p:cNvPr id="2008" name="Google Shape;2008;p110"/>
          <p:cNvSpPr/>
          <p:nvPr/>
        </p:nvSpPr>
        <p:spPr>
          <a:xfrm>
            <a:off x="5922157" y="9793284"/>
            <a:ext cx="56092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https://ngc.nvidia.com/helm-charts/ea-Riva:Riva-api</a:t>
            </a: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p110"/>
          <p:cNvSpPr txBox="1"/>
          <p:nvPr/>
        </p:nvSpPr>
        <p:spPr>
          <a:xfrm>
            <a:off x="624504" y="3468909"/>
            <a:ext cx="6975365" cy="323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클라우드</a:t>
            </a:r>
            <a:r>
              <a:rPr lang="en-US" sz="24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데이터센터</a:t>
            </a:r>
            <a:r>
              <a:rPr lang="en-US" sz="24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24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엣지의</a:t>
            </a:r>
            <a:r>
              <a:rPr lang="en-US" sz="24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서비스에</a:t>
            </a:r>
            <a:r>
              <a:rPr lang="en-US" sz="24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모델</a:t>
            </a:r>
            <a:r>
              <a:rPr lang="en-US" sz="24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배포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단일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명령으로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Kubernetes </a:t>
            </a: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클러스터에서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Helm </a:t>
            </a: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차트를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통해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전체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Riva </a:t>
            </a: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애플리케이션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설정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실행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설정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사용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사례에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맞게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Helm </a:t>
            </a: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차트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맞춤화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010" name="Google Shape;2010;p110"/>
          <p:cNvCxnSpPr/>
          <p:nvPr/>
        </p:nvCxnSpPr>
        <p:spPr>
          <a:xfrm>
            <a:off x="7580084" y="3178468"/>
            <a:ext cx="57745" cy="5717708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1" name="Google Shape;2011;p110"/>
          <p:cNvSpPr txBox="1"/>
          <p:nvPr/>
        </p:nvSpPr>
        <p:spPr>
          <a:xfrm>
            <a:off x="10578581" y="2848094"/>
            <a:ext cx="4912982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012" name="Google Shape;2012;p110"/>
          <p:cNvGrpSpPr/>
          <p:nvPr/>
        </p:nvGrpSpPr>
        <p:grpSpPr>
          <a:xfrm>
            <a:off x="7787979" y="3422503"/>
            <a:ext cx="9875518" cy="4200298"/>
            <a:chOff x="393124" y="1189891"/>
            <a:chExt cx="11414850" cy="4855019"/>
          </a:xfrm>
        </p:grpSpPr>
        <p:sp>
          <p:nvSpPr>
            <p:cNvPr id="2013" name="Google Shape;2013;p110"/>
            <p:cNvSpPr/>
            <p:nvPr/>
          </p:nvSpPr>
          <p:spPr>
            <a:xfrm>
              <a:off x="4862277" y="1189891"/>
              <a:ext cx="6945697" cy="4855019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</p:spPr>
          <p:txBody>
            <a:bodyPr spcFirstLastPara="1" wrap="square" lIns="91425" tIns="13715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Riva </a:t>
              </a:r>
              <a:r>
                <a:rPr lang="en-US" sz="16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서비스</a:t>
              </a:r>
              <a:endParaRPr dirty="0"/>
            </a:p>
          </p:txBody>
        </p:sp>
        <p:sp>
          <p:nvSpPr>
            <p:cNvPr id="2014" name="Google Shape;2014;p110"/>
            <p:cNvSpPr txBox="1"/>
            <p:nvPr/>
          </p:nvSpPr>
          <p:spPr>
            <a:xfrm>
              <a:off x="1475729" y="2992759"/>
              <a:ext cx="3210514" cy="426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원클릭 배포</a:t>
              </a:r>
              <a:endParaRPr/>
            </a:p>
          </p:txBody>
        </p:sp>
        <p:sp>
          <p:nvSpPr>
            <p:cNvPr id="2015" name="Google Shape;2015;p110"/>
            <p:cNvSpPr/>
            <p:nvPr/>
          </p:nvSpPr>
          <p:spPr>
            <a:xfrm>
              <a:off x="5502063" y="1696334"/>
              <a:ext cx="6094900" cy="355337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110"/>
            <p:cNvSpPr/>
            <p:nvPr/>
          </p:nvSpPr>
          <p:spPr>
            <a:xfrm>
              <a:off x="5282955" y="2073457"/>
              <a:ext cx="6094900" cy="344478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110"/>
            <p:cNvSpPr/>
            <p:nvPr/>
          </p:nvSpPr>
          <p:spPr>
            <a:xfrm>
              <a:off x="5069130" y="2470215"/>
              <a:ext cx="6094900" cy="335781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8" name="Google Shape;2018;p110"/>
            <p:cNvSpPr txBox="1"/>
            <p:nvPr/>
          </p:nvSpPr>
          <p:spPr>
            <a:xfrm flipH="1">
              <a:off x="8052423" y="5203942"/>
              <a:ext cx="1628073" cy="490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음성 </a:t>
              </a:r>
              <a:b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합성</a:t>
              </a:r>
              <a:endParaRPr/>
            </a:p>
          </p:txBody>
        </p:sp>
        <p:sp>
          <p:nvSpPr>
            <p:cNvPr id="2019" name="Google Shape;2019;p110"/>
            <p:cNvSpPr txBox="1"/>
            <p:nvPr/>
          </p:nvSpPr>
          <p:spPr>
            <a:xfrm flipH="1">
              <a:off x="9870092" y="5211671"/>
              <a:ext cx="1301473" cy="490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음성 </a:t>
              </a:r>
              <a:b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인코더</a:t>
              </a:r>
              <a:endParaRPr/>
            </a:p>
          </p:txBody>
        </p:sp>
        <p:sp>
          <p:nvSpPr>
            <p:cNvPr id="2020" name="Google Shape;2020;p110"/>
            <p:cNvSpPr txBox="1"/>
            <p:nvPr/>
          </p:nvSpPr>
          <p:spPr>
            <a:xfrm flipH="1">
              <a:off x="6404639" y="3665085"/>
              <a:ext cx="1890140" cy="2988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디코더</a:t>
              </a:r>
              <a:endParaRPr/>
            </a:p>
          </p:txBody>
        </p:sp>
        <p:sp>
          <p:nvSpPr>
            <p:cNvPr id="2021" name="Google Shape;2021;p110"/>
            <p:cNvSpPr txBox="1"/>
            <p:nvPr/>
          </p:nvSpPr>
          <p:spPr>
            <a:xfrm flipH="1">
              <a:off x="9751979" y="3653781"/>
              <a:ext cx="1540257" cy="490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특징 </a:t>
              </a:r>
              <a:b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추출</a:t>
              </a:r>
              <a:endParaRPr/>
            </a:p>
          </p:txBody>
        </p:sp>
        <p:sp>
          <p:nvSpPr>
            <p:cNvPr id="2022" name="Google Shape;2022;p110"/>
            <p:cNvSpPr txBox="1"/>
            <p:nvPr/>
          </p:nvSpPr>
          <p:spPr>
            <a:xfrm flipH="1">
              <a:off x="8536661" y="3673489"/>
              <a:ext cx="996207" cy="490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음향 </a:t>
              </a:r>
              <a:b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모델</a:t>
              </a:r>
              <a:endParaRPr/>
            </a:p>
          </p:txBody>
        </p:sp>
        <p:pic>
          <p:nvPicPr>
            <p:cNvPr id="2023" name="Google Shape;2023;p1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49016" y="3019581"/>
              <a:ext cx="708730" cy="559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4" name="Google Shape;2024;p1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892481" y="3111201"/>
              <a:ext cx="934739" cy="405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5" name="Google Shape;2025;p110" descr="A close up of a logo  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212512" y="3038364"/>
              <a:ext cx="616634" cy="4939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6" name="Google Shape;2026;p11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393505" y="4547094"/>
              <a:ext cx="937324" cy="5252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7" name="Google Shape;2027;p11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950492" y="4628820"/>
              <a:ext cx="1018318" cy="4252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8" name="Google Shape;2028;p110"/>
            <p:cNvSpPr txBox="1"/>
            <p:nvPr/>
          </p:nvSpPr>
          <p:spPr>
            <a:xfrm flipH="1">
              <a:off x="6288811" y="5228266"/>
              <a:ext cx="2056447" cy="490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NLU 및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추천 시스템</a:t>
              </a:r>
              <a:endParaRPr/>
            </a:p>
          </p:txBody>
        </p:sp>
        <p:pic>
          <p:nvPicPr>
            <p:cNvPr id="2029" name="Google Shape;2029;p11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819012" y="4641673"/>
              <a:ext cx="946616" cy="41059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30" name="Google Shape;2030;p110"/>
            <p:cNvCxnSpPr/>
            <p:nvPr/>
          </p:nvCxnSpPr>
          <p:spPr>
            <a:xfrm>
              <a:off x="7317033" y="4098221"/>
              <a:ext cx="0" cy="332186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800000"/>
              <a:headEnd type="none" w="lg" len="lg"/>
              <a:tailEnd type="triangle" w="lg" len="lg"/>
            </a:ln>
          </p:spPr>
        </p:cxnSp>
        <p:cxnSp>
          <p:nvCxnSpPr>
            <p:cNvPr id="2031" name="Google Shape;2031;p110"/>
            <p:cNvCxnSpPr/>
            <p:nvPr/>
          </p:nvCxnSpPr>
          <p:spPr>
            <a:xfrm>
              <a:off x="6198833" y="3438929"/>
              <a:ext cx="387717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800000"/>
              <a:headEnd type="none" w="lg" len="lg"/>
              <a:tailEnd type="triangle" w="lg" len="lg"/>
            </a:ln>
          </p:spPr>
        </p:cxnSp>
        <p:cxnSp>
          <p:nvCxnSpPr>
            <p:cNvPr id="2032" name="Google Shape;2032;p110"/>
            <p:cNvCxnSpPr/>
            <p:nvPr/>
          </p:nvCxnSpPr>
          <p:spPr>
            <a:xfrm rot="10800000">
              <a:off x="9655877" y="3324556"/>
              <a:ext cx="31999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800000"/>
              <a:headEnd type="none" w="lg" len="lg"/>
              <a:tailEnd type="triangle" w="lg" len="lg"/>
            </a:ln>
          </p:spPr>
        </p:cxnSp>
        <p:pic>
          <p:nvPicPr>
            <p:cNvPr id="2033" name="Google Shape;2033;p11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392239" y="3092684"/>
              <a:ext cx="537267" cy="48629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34" name="Google Shape;2034;p110"/>
            <p:cNvCxnSpPr/>
            <p:nvPr/>
          </p:nvCxnSpPr>
          <p:spPr>
            <a:xfrm rot="10800000">
              <a:off x="6184625" y="3217126"/>
              <a:ext cx="401713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800000"/>
              <a:headEnd type="none" w="lg" len="lg"/>
              <a:tailEnd type="triangle" w="lg" len="lg"/>
            </a:ln>
          </p:spPr>
        </p:cxnSp>
        <p:cxnSp>
          <p:nvCxnSpPr>
            <p:cNvPr id="2035" name="Google Shape;2035;p110"/>
            <p:cNvCxnSpPr/>
            <p:nvPr/>
          </p:nvCxnSpPr>
          <p:spPr>
            <a:xfrm rot="10800000">
              <a:off x="8037228" y="3324556"/>
              <a:ext cx="387458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800000"/>
              <a:headEnd type="none" w="lg" len="lg"/>
              <a:tailEnd type="triangle" w="lg" len="lg"/>
            </a:ln>
          </p:spPr>
        </p:cxnSp>
        <p:cxnSp>
          <p:nvCxnSpPr>
            <p:cNvPr id="2036" name="Google Shape;2036;p110"/>
            <p:cNvCxnSpPr/>
            <p:nvPr/>
          </p:nvCxnSpPr>
          <p:spPr>
            <a:xfrm>
              <a:off x="7851789" y="4841452"/>
              <a:ext cx="387934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800000"/>
              <a:headEnd type="none" w="lg" len="lg"/>
              <a:tailEnd type="triangle" w="lg" len="lg"/>
            </a:ln>
          </p:spPr>
        </p:cxnSp>
        <p:cxnSp>
          <p:nvCxnSpPr>
            <p:cNvPr id="2037" name="Google Shape;2037;p110"/>
            <p:cNvCxnSpPr/>
            <p:nvPr/>
          </p:nvCxnSpPr>
          <p:spPr>
            <a:xfrm>
              <a:off x="9428886" y="4841452"/>
              <a:ext cx="38069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800000"/>
              <a:headEnd type="none" w="lg" len="lg"/>
              <a:tailEnd type="triangle" w="lg" len="lg"/>
            </a:ln>
          </p:spPr>
        </p:cxnSp>
        <p:sp>
          <p:nvSpPr>
            <p:cNvPr id="2038" name="Google Shape;2038;p110"/>
            <p:cNvSpPr txBox="1"/>
            <p:nvPr/>
          </p:nvSpPr>
          <p:spPr>
            <a:xfrm flipH="1">
              <a:off x="5190762" y="2563693"/>
              <a:ext cx="2390346" cy="362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음성</a:t>
              </a:r>
              <a:endParaRPr/>
            </a:p>
          </p:txBody>
        </p:sp>
        <p:sp>
          <p:nvSpPr>
            <p:cNvPr id="2039" name="Google Shape;2039;p110"/>
            <p:cNvSpPr txBox="1"/>
            <p:nvPr/>
          </p:nvSpPr>
          <p:spPr>
            <a:xfrm flipH="1">
              <a:off x="5417652" y="2114868"/>
              <a:ext cx="2390346" cy="362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비전</a:t>
              </a:r>
              <a:endParaRPr/>
            </a:p>
          </p:txBody>
        </p:sp>
        <p:sp>
          <p:nvSpPr>
            <p:cNvPr id="2040" name="Google Shape;2040;p110"/>
            <p:cNvSpPr txBox="1"/>
            <p:nvPr/>
          </p:nvSpPr>
          <p:spPr>
            <a:xfrm flipH="1">
              <a:off x="5646879" y="1720981"/>
              <a:ext cx="2390346" cy="362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NLU</a:t>
              </a:r>
              <a:endParaRPr/>
            </a:p>
          </p:txBody>
        </p:sp>
        <p:sp>
          <p:nvSpPr>
            <p:cNvPr id="2041" name="Google Shape;2041;p110"/>
            <p:cNvSpPr txBox="1"/>
            <p:nvPr/>
          </p:nvSpPr>
          <p:spPr>
            <a:xfrm flipH="1">
              <a:off x="5204996" y="3673489"/>
              <a:ext cx="911751" cy="490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언어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모델</a:t>
              </a:r>
              <a:endParaRPr/>
            </a:p>
          </p:txBody>
        </p:sp>
        <p:pic>
          <p:nvPicPr>
            <p:cNvPr id="2042" name="Google Shape;2042;p11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93124" y="2993293"/>
              <a:ext cx="1070366" cy="123645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43" name="Google Shape;2043;p110"/>
            <p:cNvCxnSpPr/>
            <p:nvPr/>
          </p:nvCxnSpPr>
          <p:spPr>
            <a:xfrm>
              <a:off x="1752166" y="3611522"/>
              <a:ext cx="2851525" cy="9773"/>
            </a:xfrm>
            <a:prstGeom prst="straightConnector1">
              <a:avLst/>
            </a:prstGeom>
            <a:noFill/>
            <a:ln w="12700" cap="flat" cmpd="sng">
              <a:solidFill>
                <a:srgbClr val="8C8C8C"/>
              </a:solidFill>
              <a:prstDash val="solid"/>
              <a:miter lim="800000"/>
              <a:headEnd type="none" w="lg" len="lg"/>
              <a:tailEnd type="triangle" w="lg" len="lg"/>
            </a:ln>
          </p:spPr>
        </p:cxnSp>
        <p:sp>
          <p:nvSpPr>
            <p:cNvPr id="2044" name="Google Shape;2044;p110"/>
            <p:cNvSpPr txBox="1"/>
            <p:nvPr/>
          </p:nvSpPr>
          <p:spPr>
            <a:xfrm>
              <a:off x="2058880" y="3669198"/>
              <a:ext cx="2162668" cy="1102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TensorRT</a:t>
              </a:r>
              <a:endParaRPr sz="14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Triton Inference Server</a:t>
              </a:r>
              <a:endParaRPr sz="14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Riva API Server</a:t>
              </a:r>
              <a:endParaRPr sz="14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5" name="Google Shape;2045;p110"/>
          <p:cNvSpPr/>
          <p:nvPr/>
        </p:nvSpPr>
        <p:spPr>
          <a:xfrm>
            <a:off x="8209115" y="8023130"/>
            <a:ext cx="9144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Trebuchet MS"/>
                <a:ea typeface="Trebuchet MS"/>
                <a:cs typeface="Trebuchet MS"/>
                <a:sym typeface="Trebuchet MS"/>
              </a:rPr>
              <a:t>모델을 프로덕션에 배포하는 Helm 명령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Google Shape;2051;p111" descr="A group of people sitting at a table  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843" y="3241637"/>
            <a:ext cx="5157720" cy="4077223"/>
          </a:xfrm>
          <a:prstGeom prst="rect">
            <a:avLst/>
          </a:prstGeom>
          <a:noFill/>
          <a:ln>
            <a:noFill/>
          </a:ln>
        </p:spPr>
      </p:pic>
      <p:sp>
        <p:nvSpPr>
          <p:cNvPr id="2053" name="Google Shape;2053;p111"/>
          <p:cNvSpPr/>
          <p:nvPr/>
        </p:nvSpPr>
        <p:spPr>
          <a:xfrm>
            <a:off x="6693389" y="6822483"/>
            <a:ext cx="5155043" cy="87136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Look To Talk</a:t>
            </a:r>
            <a:endParaRPr/>
          </a:p>
        </p:txBody>
      </p:sp>
      <p:sp>
        <p:nvSpPr>
          <p:cNvPr id="2054" name="Google Shape;2054;p111"/>
          <p:cNvSpPr/>
          <p:nvPr/>
        </p:nvSpPr>
        <p:spPr>
          <a:xfrm>
            <a:off x="12253617" y="6799224"/>
            <a:ext cx="5157217" cy="8777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가상 어시스턴트</a:t>
            </a:r>
            <a:endParaRPr/>
          </a:p>
        </p:txBody>
      </p:sp>
      <p:sp>
        <p:nvSpPr>
          <p:cNvPr id="2055" name="Google Shape;2055;p111"/>
          <p:cNvSpPr/>
          <p:nvPr/>
        </p:nvSpPr>
        <p:spPr>
          <a:xfrm>
            <a:off x="738478" y="7781203"/>
            <a:ext cx="5209298" cy="359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2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다중 사용자 다중 맥락 대화 전사</a:t>
            </a:r>
            <a:endParaRPr/>
          </a:p>
        </p:txBody>
      </p:sp>
      <p:sp>
        <p:nvSpPr>
          <p:cNvPr id="2056" name="Google Shape;2056;p111"/>
          <p:cNvSpPr txBox="1">
            <a:spLocks noGrp="1"/>
          </p:cNvSpPr>
          <p:nvPr>
            <p:ph type="title"/>
          </p:nvPr>
        </p:nvSpPr>
        <p:spPr>
          <a:xfrm>
            <a:off x="830580" y="868683"/>
            <a:ext cx="1662684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Riva </a:t>
            </a:r>
            <a:r>
              <a:rPr lang="en-US" dirty="0" err="1"/>
              <a:t>샘플</a:t>
            </a:r>
            <a:endParaRPr dirty="0"/>
          </a:p>
        </p:txBody>
      </p:sp>
      <p:sp>
        <p:nvSpPr>
          <p:cNvPr id="2057" name="Google Shape;2057;p111"/>
          <p:cNvSpPr txBox="1"/>
          <p:nvPr/>
        </p:nvSpPr>
        <p:spPr>
          <a:xfrm>
            <a:off x="12335913" y="7753961"/>
            <a:ext cx="5260327" cy="46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75" rIns="137150" bIns="685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rebuchet MS"/>
              <a:buNone/>
            </a:pPr>
            <a:r>
              <a:rPr lang="en-US" sz="1800" b="0">
                <a:solidFill>
                  <a:schemeClr val="dk2"/>
                </a:solidFill>
                <a:highlight>
                  <a:srgbClr val="FCFCFC"/>
                </a:highlight>
                <a:latin typeface="Trebuchet MS"/>
                <a:ea typeface="Trebuchet MS"/>
                <a:cs typeface="Trebuchet MS"/>
                <a:sym typeface="Trebuchet MS"/>
              </a:rPr>
              <a:t>엔드 투 엔드 대화형 AI 시스템</a:t>
            </a:r>
            <a:endParaRPr/>
          </a:p>
        </p:txBody>
      </p:sp>
      <p:sp>
        <p:nvSpPr>
          <p:cNvPr id="2058" name="Google Shape;2058;p111"/>
          <p:cNvSpPr/>
          <p:nvPr/>
        </p:nvSpPr>
        <p:spPr>
          <a:xfrm>
            <a:off x="790055" y="3226676"/>
            <a:ext cx="5157720" cy="3595808"/>
          </a:xfrm>
          <a:prstGeom prst="rect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9" name="Google Shape;2059;p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86484" y="3264898"/>
            <a:ext cx="5172075" cy="3557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60" name="Google Shape;2060;p111"/>
          <p:cNvSpPr/>
          <p:nvPr/>
        </p:nvSpPr>
        <p:spPr>
          <a:xfrm>
            <a:off x="764268" y="6837445"/>
            <a:ext cx="5209298" cy="87136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시각적 화자 구분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1" name="Google Shape;2061;p111"/>
          <p:cNvSpPr/>
          <p:nvPr/>
        </p:nvSpPr>
        <p:spPr>
          <a:xfrm>
            <a:off x="6660695" y="3191188"/>
            <a:ext cx="5157720" cy="3595808"/>
          </a:xfrm>
          <a:prstGeom prst="rect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2" name="Google Shape;2062;p111"/>
          <p:cNvSpPr/>
          <p:nvPr/>
        </p:nvSpPr>
        <p:spPr>
          <a:xfrm>
            <a:off x="7060933" y="7781203"/>
            <a:ext cx="4419958" cy="359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2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AI 어시스턴트를 트리거하기 전에 시선 대기 </a:t>
            </a:r>
            <a:endParaRPr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22DD3A0-E12F-4561-A05A-743ED8A9289D}"/>
              </a:ext>
            </a:extLst>
          </p:cNvPr>
          <p:cNvGrpSpPr/>
          <p:nvPr/>
        </p:nvGrpSpPr>
        <p:grpSpPr>
          <a:xfrm>
            <a:off x="12335913" y="3191188"/>
            <a:ext cx="4992623" cy="3557588"/>
            <a:chOff x="12335914" y="3241636"/>
            <a:chExt cx="4992623" cy="355758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64AD201-43EF-4DD1-99E3-406658A4BF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335914" y="3241636"/>
              <a:ext cx="4992623" cy="3557588"/>
            </a:xfrm>
            <a:prstGeom prst="rect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A0296D6-AA01-4D4A-A47F-E01F1E45551A}"/>
                </a:ext>
              </a:extLst>
            </p:cNvPr>
            <p:cNvSpPr/>
            <p:nvPr/>
          </p:nvSpPr>
          <p:spPr>
            <a:xfrm>
              <a:off x="14949714" y="3264898"/>
              <a:ext cx="711200" cy="233045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3;p89">
            <a:extLst>
              <a:ext uri="{FF2B5EF4-FFF2-40B4-BE49-F238E27FC236}">
                <a16:creationId xmlns:a16="http://schemas.microsoft.com/office/drawing/2014/main" id="{14FC01BA-FC44-4AE2-BE55-1BE2092B56AA}"/>
              </a:ext>
            </a:extLst>
          </p:cNvPr>
          <p:cNvSpPr/>
          <p:nvPr/>
        </p:nvSpPr>
        <p:spPr>
          <a:xfrm>
            <a:off x="6880123" y="1203106"/>
            <a:ext cx="10958051" cy="7347159"/>
          </a:xfrm>
          <a:prstGeom prst="rect">
            <a:avLst/>
          </a:prstGeom>
          <a:solidFill>
            <a:srgbClr val="26262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112"/>
          <p:cNvSpPr txBox="1"/>
          <p:nvPr/>
        </p:nvSpPr>
        <p:spPr>
          <a:xfrm>
            <a:off x="7890840" y="1386578"/>
            <a:ext cx="8693721" cy="698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3부: 프로덕션 배포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강의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선택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트레이닝 후 최적화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제품 양자화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지식 증류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코드 효율성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 서빙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애플리케이션 구축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랩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rgbClr val="C785EA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C785EA"/>
                </a:solidFill>
                <a:latin typeface="Arial"/>
                <a:ea typeface="Arial"/>
                <a:cs typeface="Arial"/>
                <a:sym typeface="Arial"/>
              </a:rPr>
              <a:t>모델 내보내기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rgbClr val="C785EA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C785EA"/>
                </a:solidFill>
                <a:latin typeface="Arial"/>
                <a:ea typeface="Arial"/>
                <a:cs typeface="Arial"/>
                <a:sym typeface="Arial"/>
              </a:rPr>
              <a:t>모델 호스팅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rgbClr val="C785EA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C785EA"/>
                </a:solidFill>
                <a:latin typeface="Arial"/>
                <a:ea typeface="Arial"/>
                <a:cs typeface="Arial"/>
                <a:sym typeface="Arial"/>
              </a:rPr>
              <a:t>서버 성능</a:t>
            </a:r>
            <a:endParaRPr/>
          </a:p>
          <a:p>
            <a:pPr marL="1333470" marR="0" lvl="1" indent="-571500" algn="l" rtl="0">
              <a:spcBef>
                <a:spcPts val="0"/>
              </a:spcBef>
              <a:spcAft>
                <a:spcPts val="0"/>
              </a:spcAft>
              <a:buClr>
                <a:srgbClr val="C785EA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C785EA"/>
                </a:solidFill>
                <a:latin typeface="Arial"/>
                <a:ea typeface="Arial"/>
                <a:cs typeface="Arial"/>
                <a:sym typeface="Arial"/>
              </a:rPr>
              <a:t>모델 사용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itle &amp; Bullet">
  <a:themeElements>
    <a:clrScheme name="Custom 1">
      <a:dk1>
        <a:srgbClr val="CDCDCD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6432</Words>
  <Application>Microsoft Office PowerPoint</Application>
  <PresentationFormat>Custom</PresentationFormat>
  <Paragraphs>1088</Paragraphs>
  <Slides>113</Slides>
  <Notes>113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21" baseType="lpstr">
      <vt:lpstr>Courier New</vt:lpstr>
      <vt:lpstr>Arial</vt:lpstr>
      <vt:lpstr>Calibri</vt:lpstr>
      <vt:lpstr>Malgun Gothic</vt:lpstr>
      <vt:lpstr>Helvetica Neue</vt:lpstr>
      <vt:lpstr>Trebuchet MS</vt:lpstr>
      <vt:lpstr>Roboto</vt:lpstr>
      <vt:lpstr>Title &amp; Bullet</vt:lpstr>
      <vt:lpstr>프로덕션 배포</vt:lpstr>
      <vt:lpstr>PowerPoint Presentation</vt:lpstr>
      <vt:lpstr>PowerPoint Presentation</vt:lpstr>
      <vt:lpstr>트레이닝된 모델</vt:lpstr>
      <vt:lpstr>트레이닝된 모델</vt:lpstr>
      <vt:lpstr>비즈니스 요구 사항 충족 </vt:lpstr>
      <vt:lpstr>NLP 모델의 규모가 큼</vt:lpstr>
      <vt:lpstr>단일 프로세스로 구성되지 않음</vt:lpstr>
      <vt:lpstr>단일 프로세스로 구성되지 않음</vt:lpstr>
      <vt:lpstr>단일 프로세스로 구성되지 않음</vt:lpstr>
      <vt:lpstr>단일 프로세스로 구성되지 않음</vt:lpstr>
      <vt:lpstr>시간이 지남에 따라 발전해야 함</vt:lpstr>
      <vt:lpstr>모델이 애플리케이션의 전부가 아님</vt:lpstr>
      <vt:lpstr>모델이 애플리케이션의 전부가 아님</vt:lpstr>
      <vt:lpstr>PowerPoint Presentation</vt:lpstr>
      <vt:lpstr>모델 선택</vt:lpstr>
      <vt:lpstr>모델 선택</vt:lpstr>
      <vt:lpstr>모델 선택</vt:lpstr>
      <vt:lpstr>직접적인 결과</vt:lpstr>
      <vt:lpstr>프루닝 및 양자화의 중요성 증가</vt:lpstr>
      <vt:lpstr>프루닝 및 양자화의 중요성 증가</vt:lpstr>
      <vt:lpstr>PowerPoint Presentation</vt:lpstr>
      <vt:lpstr>양자화</vt:lpstr>
      <vt:lpstr>양자화</vt:lpstr>
      <vt:lpstr>양자화</vt:lpstr>
      <vt:lpstr>양자화</vt:lpstr>
      <vt:lpstr>양자화</vt:lpstr>
      <vt:lpstr>정확도에 미치는 영향</vt:lpstr>
      <vt:lpstr>모델 디자인에 미치는 영향</vt:lpstr>
      <vt:lpstr>모델 디자인에 미치는 영향</vt:lpstr>
      <vt:lpstr>정확도 손실</vt:lpstr>
      <vt:lpstr>자세히 알아보기</vt:lpstr>
      <vt:lpstr>양자화 도구</vt:lpstr>
      <vt:lpstr>NVIDIA TENSORRT</vt:lpstr>
      <vt:lpstr>INT8 양자화 예</vt:lpstr>
      <vt:lpstr>프루닝</vt:lpstr>
      <vt:lpstr>프루닝</vt:lpstr>
      <vt:lpstr>안정적으로 작동하기 어려움</vt:lpstr>
      <vt:lpstr>구조적 희소성</vt:lpstr>
      <vt:lpstr>A100 GPU의 희소성</vt:lpstr>
      <vt:lpstr>프루닝</vt:lpstr>
      <vt:lpstr>신뢰할 수 있는 접근 방식</vt:lpstr>
      <vt:lpstr>프루닝</vt:lpstr>
      <vt:lpstr>프루닝</vt:lpstr>
      <vt:lpstr>프루닝</vt:lpstr>
      <vt:lpstr>NLP에 미치는 영향</vt:lpstr>
      <vt:lpstr>네트워크 성능</vt:lpstr>
      <vt:lpstr>트레이닝 기술들</vt:lpstr>
      <vt:lpstr>2:4 희소 네트워크 트레이닝을 위한 제작법</vt:lpstr>
      <vt:lpstr>LEARNING RATE SCHEDULING 예제</vt:lpstr>
      <vt:lpstr>BERT SQUAD 예</vt:lpstr>
      <vt:lpstr>APEX: 자동 희소성</vt:lpstr>
      <vt:lpstr>구조적 희소성 활용</vt:lpstr>
      <vt:lpstr>PowerPoint Presentation</vt:lpstr>
      <vt:lpstr>양자화</vt:lpstr>
      <vt:lpstr>극도의 모델 압축</vt:lpstr>
      <vt:lpstr>PowerPoint Presentation</vt:lpstr>
      <vt:lpstr>PowerPoint Presentation</vt:lpstr>
      <vt:lpstr>지식 증류(KNOWLEDGE DISTILLATION)</vt:lpstr>
      <vt:lpstr>지식 증류</vt:lpstr>
      <vt:lpstr>PowerPoint Presentation</vt:lpstr>
      <vt:lpstr>모든 모델의 코드 품질이 동일하지는 않음</vt:lpstr>
      <vt:lpstr>연산량은 중요함</vt:lpstr>
      <vt:lpstr>NGC: GPU 최적화 소프트웨어 허브</vt:lpstr>
      <vt:lpstr>사전 트레이닝된 모델 및 모델 스크립트</vt:lpstr>
      <vt:lpstr>이는 트레이닝뿐 아니라 추론에도 적용됨</vt:lpstr>
      <vt:lpstr>코드 품질이 핵심</vt:lpstr>
      <vt:lpstr>TENSORRT를 사용한 추론 최적화</vt:lpstr>
      <vt:lpstr>NVIDIA TENSORRT</vt:lpstr>
      <vt:lpstr>TENSORRT</vt:lpstr>
      <vt:lpstr>TENSORRT ONNX 구문 분석기</vt:lpstr>
      <vt:lpstr>TENSORRT</vt:lpstr>
      <vt:lpstr>광범위하게 채택됨</vt:lpstr>
      <vt:lpstr>NLP에 미치는 영향</vt:lpstr>
      <vt:lpstr>TENSORRT</vt:lpstr>
      <vt:lpstr>맞춤형 플러그인</vt:lpstr>
      <vt:lpstr>맞춤형 플러그인</vt:lpstr>
      <vt:lpstr>결과</vt:lpstr>
      <vt:lpstr>결과</vt:lpstr>
      <vt:lpstr>BEYOND BERT</vt:lpstr>
      <vt:lpstr>FASTER TRANSFORMER</vt:lpstr>
      <vt:lpstr>TENSORRT 사용 고려</vt:lpstr>
      <vt:lpstr>PowerPoint Presentation</vt:lpstr>
      <vt:lpstr>비효율성으로 인한 혁신 제한</vt:lpstr>
      <vt:lpstr>NVIDIA TRITON INFERENCE SERVER</vt:lpstr>
      <vt:lpstr>특징</vt:lpstr>
      <vt:lpstr>동적 배치 스케줄러</vt:lpstr>
      <vt:lpstr>동적 배치 스케줄러</vt:lpstr>
      <vt:lpstr>동적 배치</vt:lpstr>
      <vt:lpstr>동시 모델 실행 - RESNET50</vt:lpstr>
      <vt:lpstr>동시 모델 실행 - RESNET50</vt:lpstr>
      <vt:lpstr>동시 모델 실행 RESNET50 및 DEEP RECOMMENDER</vt:lpstr>
      <vt:lpstr>동시 모델 실행 RESNET50 및 DEEP RECOMMENDER</vt:lpstr>
      <vt:lpstr>Triton Inference Server Autoscaling 지표</vt:lpstr>
      <vt:lpstr>Triton Inference Server Autoscaling 지표</vt:lpstr>
      <vt:lpstr>스트리밍 추론 요청</vt:lpstr>
      <vt:lpstr>모델 앙상블</vt:lpstr>
      <vt:lpstr>perf_client TOOL</vt:lpstr>
      <vt:lpstr>모든 CPU 워크로드 지원</vt:lpstr>
      <vt:lpstr>TRT INFERENCE SERVER와 KUBEFLOW의 협업</vt:lpstr>
      <vt:lpstr>TRITON INFERENCE SERVER HELM 차트</vt:lpstr>
      <vt:lpstr>PowerPoint Presentation</vt:lpstr>
      <vt:lpstr>애플리케이션! = 단일 모델</vt:lpstr>
      <vt:lpstr>애플리케이션</vt:lpstr>
      <vt:lpstr>Riva</vt:lpstr>
      <vt:lpstr>NVIDIA Riva</vt:lpstr>
      <vt:lpstr>사전 트레이닝된 모델 및 AI 툴킷</vt:lpstr>
      <vt:lpstr>멀티모달 기술</vt:lpstr>
      <vt:lpstr>대화형 AI 서비스 구축</vt:lpstr>
      <vt:lpstr>모델을 실시간 서비스로 배포</vt:lpstr>
      <vt:lpstr>Riva 샘플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프로덕션 배포</dc:title>
  <dc:creator>Dana Sheahen</dc:creator>
  <cp:lastModifiedBy>Dana Sheahen</cp:lastModifiedBy>
  <cp:revision>5</cp:revision>
  <dcterms:created xsi:type="dcterms:W3CDTF">2020-08-13T21:01:19Z</dcterms:created>
  <dcterms:modified xsi:type="dcterms:W3CDTF">2021-08-19T18:37:26Z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0x010100691AD9AFCB3CFA43A4683D77F696D1D9</vt:lpwstr>
  </property>
  <property fmtid="{D5CDD505-2E9C-101B-9397-08002B2CF9AE}" pid="3" name="MSIP_Label_6b558183-044c-4105-8d9c-cea02a2a3d86_Enabled">
    <vt:lpwstr>True</vt:lpwstr>
  </property>
  <property fmtid="{D5CDD505-2E9C-101B-9397-08002B2CF9AE}" pid="4" name="MSIP_Label_6b558183-044c-4105-8d9c-cea02a2a3d86_SiteId">
    <vt:lpwstr>43083d15-7273-40c1-b7db-39efd9ccc17a</vt:lpwstr>
  </property>
  <property fmtid="{D5CDD505-2E9C-101B-9397-08002B2CF9AE}" pid="5" name="MSIP_Label_6b558183-044c-4105-8d9c-cea02a2a3d86_Ref">
    <vt:lpwstr>https://api.informationprotection.azure.com/api/43083d15-7273-40c1-b7db-39efd9ccc17a</vt:lpwstr>
  </property>
  <property fmtid="{D5CDD505-2E9C-101B-9397-08002B2CF9AE}" pid="6" name="MSIP_Label_6b558183-044c-4105-8d9c-cea02a2a3d86_Owner">
    <vt:lpwstr>lspillman@nvidia.com</vt:lpwstr>
  </property>
  <property fmtid="{D5CDD505-2E9C-101B-9397-08002B2CF9AE}" pid="7" name="MSIP_Label_6b558183-044c-4105-8d9c-cea02a2a3d86_SetDate">
    <vt:lpwstr>2018-05-11T15:28:31.9824217-07:00</vt:lpwstr>
  </property>
  <property fmtid="{D5CDD505-2E9C-101B-9397-08002B2CF9AE}" pid="8" name="MSIP_Label_6b558183-044c-4105-8d9c-cea02a2a3d86_Name">
    <vt:lpwstr>Unrestricted</vt:lpwstr>
  </property>
  <property fmtid="{D5CDD505-2E9C-101B-9397-08002B2CF9AE}" pid="9" name="MSIP_Label_6b558183-044c-4105-8d9c-cea02a2a3d86_Application">
    <vt:lpwstr>Microsoft Azure Information Protection</vt:lpwstr>
  </property>
  <property fmtid="{D5CDD505-2E9C-101B-9397-08002B2CF9AE}" pid="10" name="MSIP_Label_6b558183-044c-4105-8d9c-cea02a2a3d86_Extended_MSFT_Method">
    <vt:lpwstr>Automatic</vt:lpwstr>
  </property>
  <property fmtid="{D5CDD505-2E9C-101B-9397-08002B2CF9AE}" pid="11" name="Sensitivity">
    <vt:lpwstr>Unrestricted</vt:lpwstr>
  </property>
</Properties>
</file>